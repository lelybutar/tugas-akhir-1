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Poppins Bold" charset="1" panose="00000800000000000000"/>
      <p:regular r:id="rId21"/>
    </p:embeddedFont>
    <p:embeddedFont>
      <p:font typeface="League Spartan" charset="1" panose="00000800000000000000"/>
      <p:regular r:id="rId22"/>
    </p:embeddedFont>
    <p:embeddedFont>
      <p:font typeface="Canva Sans Bold" charset="1" panose="020B0803030501040103"/>
      <p:regular r:id="rId23"/>
    </p:embeddedFont>
    <p:embeddedFont>
      <p:font typeface="Poppins" charset="1" panose="000005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https://cis.del.ac.id/hrdx/dosen/view?q=otXFwNpYHd9UxhIuuJrhau4z_k2Usw5SvqU2KbhdnYA" TargetMode="External" Type="http://schemas.openxmlformats.org/officeDocument/2006/relationships/hyperlink"/><Relationship Id="rId6" Target="https://cis.del.ac.id/hrdx/dosen/view?q=JYUsJtCvdo0nu6C-V75sMgJA6I0mSO2u3GLY-w_sfPI" TargetMode="External" Type="http://schemas.openxmlformats.org/officeDocument/2006/relationships/hyperlink"/></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png" Type="http://schemas.openxmlformats.org/officeDocument/2006/relationships/image"/><Relationship Id="rId12" Target="../media/image19.svg" Type="http://schemas.openxmlformats.org/officeDocument/2006/relationships/image"/><Relationship Id="rId2" Target="../media/image4.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png" Type="http://schemas.openxmlformats.org/officeDocument/2006/relationships/image"/><Relationship Id="rId8" Target="../media/image15.png" Type="http://schemas.openxmlformats.org/officeDocument/2006/relationships/image"/><Relationship Id="rId9"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 Id="rId7" Target="../media/image2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2319992" y="-1680508"/>
            <a:ext cx="13648016" cy="1364801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640768" y="-164456"/>
            <a:ext cx="11725929" cy="11711272"/>
          </a:xfrm>
          <a:custGeom>
            <a:avLst/>
            <a:gdLst/>
            <a:ahLst/>
            <a:cxnLst/>
            <a:rect r="r" b="b" t="t" l="l"/>
            <a:pathLst>
              <a:path h="11711272" w="11725929">
                <a:moveTo>
                  <a:pt x="0" y="0"/>
                </a:moveTo>
                <a:lnTo>
                  <a:pt x="11725929" y="0"/>
                </a:lnTo>
                <a:lnTo>
                  <a:pt x="11725929" y="11711272"/>
                </a:lnTo>
                <a:lnTo>
                  <a:pt x="0" y="11711272"/>
                </a:lnTo>
                <a:lnTo>
                  <a:pt x="0" y="0"/>
                </a:lnTo>
                <a:close/>
              </a:path>
            </a:pathLst>
          </a:custGeom>
          <a:blipFill>
            <a:blip r:embed="rId2"/>
            <a:stretch>
              <a:fillRect l="0" t="0" r="0" b="0"/>
            </a:stretch>
          </a:blipFill>
        </p:spPr>
      </p:sp>
      <p:grpSp>
        <p:nvGrpSpPr>
          <p:cNvPr name="Group 12" id="12"/>
          <p:cNvGrpSpPr/>
          <p:nvPr/>
        </p:nvGrpSpPr>
        <p:grpSpPr>
          <a:xfrm rot="0">
            <a:off x="3367381" y="-633119"/>
            <a:ext cx="11553237" cy="11553237"/>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1476280" y="4348446"/>
            <a:ext cx="1658466" cy="1656393"/>
          </a:xfrm>
          <a:custGeom>
            <a:avLst/>
            <a:gdLst/>
            <a:ahLst/>
            <a:cxnLst/>
            <a:rect r="r" b="b" t="t" l="l"/>
            <a:pathLst>
              <a:path h="1656393" w="1658466">
                <a:moveTo>
                  <a:pt x="0" y="0"/>
                </a:moveTo>
                <a:lnTo>
                  <a:pt x="1658465" y="0"/>
                </a:lnTo>
                <a:lnTo>
                  <a:pt x="1658465" y="1656393"/>
                </a:lnTo>
                <a:lnTo>
                  <a:pt x="0" y="1656393"/>
                </a:lnTo>
                <a:lnTo>
                  <a:pt x="0" y="0"/>
                </a:lnTo>
                <a:close/>
              </a:path>
            </a:pathLst>
          </a:custGeom>
          <a:blipFill>
            <a:blip r:embed="rId2"/>
            <a:stretch>
              <a:fillRect l="0" t="0" r="0" b="0"/>
            </a:stretch>
          </a:blipFill>
        </p:spPr>
      </p:sp>
      <p:grpSp>
        <p:nvGrpSpPr>
          <p:cNvPr name="Group 16" id="16"/>
          <p:cNvGrpSpPr/>
          <p:nvPr/>
        </p:nvGrpSpPr>
        <p:grpSpPr>
          <a:xfrm rot="0">
            <a:off x="1437613" y="4282161"/>
            <a:ext cx="1634041" cy="163404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9" id="19"/>
          <p:cNvSpPr/>
          <p:nvPr/>
        </p:nvSpPr>
        <p:spPr>
          <a:xfrm flipH="true" flipV="false" rot="0">
            <a:off x="2086248" y="4847440"/>
            <a:ext cx="336771" cy="503483"/>
          </a:xfrm>
          <a:custGeom>
            <a:avLst/>
            <a:gdLst/>
            <a:ahLst/>
            <a:cxnLst/>
            <a:rect r="r" b="b" t="t" l="l"/>
            <a:pathLst>
              <a:path h="503483" w="336771">
                <a:moveTo>
                  <a:pt x="336771" y="0"/>
                </a:moveTo>
                <a:lnTo>
                  <a:pt x="0" y="0"/>
                </a:lnTo>
                <a:lnTo>
                  <a:pt x="0" y="503483"/>
                </a:lnTo>
                <a:lnTo>
                  <a:pt x="336771" y="503483"/>
                </a:lnTo>
                <a:lnTo>
                  <a:pt x="33677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0" id="20"/>
          <p:cNvSpPr/>
          <p:nvPr/>
        </p:nvSpPr>
        <p:spPr>
          <a:xfrm flipH="false" flipV="false" rot="0">
            <a:off x="15191921" y="4348446"/>
            <a:ext cx="1658466" cy="1656393"/>
          </a:xfrm>
          <a:custGeom>
            <a:avLst/>
            <a:gdLst/>
            <a:ahLst/>
            <a:cxnLst/>
            <a:rect r="r" b="b" t="t" l="l"/>
            <a:pathLst>
              <a:path h="1656393" w="1658466">
                <a:moveTo>
                  <a:pt x="0" y="0"/>
                </a:moveTo>
                <a:lnTo>
                  <a:pt x="1658466" y="0"/>
                </a:lnTo>
                <a:lnTo>
                  <a:pt x="1658466" y="1656393"/>
                </a:lnTo>
                <a:lnTo>
                  <a:pt x="0" y="1656393"/>
                </a:lnTo>
                <a:lnTo>
                  <a:pt x="0" y="0"/>
                </a:lnTo>
                <a:close/>
              </a:path>
            </a:pathLst>
          </a:custGeom>
          <a:blipFill>
            <a:blip r:embed="rId2"/>
            <a:stretch>
              <a:fillRect l="0" t="0" r="0" b="0"/>
            </a:stretch>
          </a:blipFill>
        </p:spPr>
      </p:sp>
      <p:grpSp>
        <p:nvGrpSpPr>
          <p:cNvPr name="Group 21" id="21"/>
          <p:cNvGrpSpPr/>
          <p:nvPr/>
        </p:nvGrpSpPr>
        <p:grpSpPr>
          <a:xfrm rot="0">
            <a:off x="15153255" y="4282161"/>
            <a:ext cx="1634041" cy="1634041"/>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4" id="24"/>
          <p:cNvSpPr/>
          <p:nvPr/>
        </p:nvSpPr>
        <p:spPr>
          <a:xfrm flipH="false" flipV="false" rot="0">
            <a:off x="15801890" y="4847440"/>
            <a:ext cx="336771" cy="503483"/>
          </a:xfrm>
          <a:custGeom>
            <a:avLst/>
            <a:gdLst/>
            <a:ahLst/>
            <a:cxnLst/>
            <a:rect r="r" b="b" t="t" l="l"/>
            <a:pathLst>
              <a:path h="503483" w="336771">
                <a:moveTo>
                  <a:pt x="0" y="0"/>
                </a:moveTo>
                <a:lnTo>
                  <a:pt x="336770" y="0"/>
                </a:lnTo>
                <a:lnTo>
                  <a:pt x="336770" y="503483"/>
                </a:lnTo>
                <a:lnTo>
                  <a:pt x="0" y="5034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25" id="25"/>
          <p:cNvGrpSpPr/>
          <p:nvPr/>
        </p:nvGrpSpPr>
        <p:grpSpPr>
          <a:xfrm rot="0">
            <a:off x="8142194" y="7495078"/>
            <a:ext cx="2003612" cy="775869"/>
            <a:chOff x="0" y="0"/>
            <a:chExt cx="2098984" cy="812800"/>
          </a:xfrm>
        </p:grpSpPr>
        <p:sp>
          <p:nvSpPr>
            <p:cNvPr name="Freeform 26" id="26"/>
            <p:cNvSpPr/>
            <p:nvPr/>
          </p:nvSpPr>
          <p:spPr>
            <a:xfrm flipH="false" flipV="false" rot="0">
              <a:off x="0" y="0"/>
              <a:ext cx="2098984" cy="812800"/>
            </a:xfrm>
            <a:custGeom>
              <a:avLst/>
              <a:gdLst/>
              <a:ahLst/>
              <a:cxnLst/>
              <a:rect r="r" b="b" t="t" l="l"/>
              <a:pathLst>
                <a:path h="812800" w="2098984">
                  <a:moveTo>
                    <a:pt x="386398" y="0"/>
                  </a:moveTo>
                  <a:lnTo>
                    <a:pt x="1712586" y="0"/>
                  </a:lnTo>
                  <a:cubicBezTo>
                    <a:pt x="1925987" y="0"/>
                    <a:pt x="2098984" y="172996"/>
                    <a:pt x="2098984" y="386398"/>
                  </a:cubicBezTo>
                  <a:lnTo>
                    <a:pt x="2098984" y="426402"/>
                  </a:lnTo>
                  <a:cubicBezTo>
                    <a:pt x="2098984" y="639804"/>
                    <a:pt x="1925987" y="812800"/>
                    <a:pt x="1712586" y="812800"/>
                  </a:cubicBezTo>
                  <a:lnTo>
                    <a:pt x="386398" y="812800"/>
                  </a:lnTo>
                  <a:cubicBezTo>
                    <a:pt x="172996" y="812800"/>
                    <a:pt x="0" y="639804"/>
                    <a:pt x="0" y="426402"/>
                  </a:cubicBezTo>
                  <a:lnTo>
                    <a:pt x="0" y="386398"/>
                  </a:lnTo>
                  <a:cubicBezTo>
                    <a:pt x="0" y="172996"/>
                    <a:pt x="172996" y="0"/>
                    <a:pt x="386398" y="0"/>
                  </a:cubicBezTo>
                  <a:close/>
                </a:path>
              </a:pathLst>
            </a:custGeom>
            <a:solidFill>
              <a:srgbClr val="3A6AD6"/>
            </a:solidFill>
          </p:spPr>
        </p:sp>
        <p:sp>
          <p:nvSpPr>
            <p:cNvPr name="TextBox 27" id="27"/>
            <p:cNvSpPr txBox="true"/>
            <p:nvPr/>
          </p:nvSpPr>
          <p:spPr>
            <a:xfrm>
              <a:off x="0" y="-38100"/>
              <a:ext cx="2098984" cy="850900"/>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17336231" y="9487118"/>
            <a:ext cx="951769" cy="799882"/>
            <a:chOff x="0" y="0"/>
            <a:chExt cx="967140" cy="812800"/>
          </a:xfrm>
        </p:grpSpPr>
        <p:sp>
          <p:nvSpPr>
            <p:cNvPr name="Freeform 29" id="29"/>
            <p:cNvSpPr/>
            <p:nvPr/>
          </p:nvSpPr>
          <p:spPr>
            <a:xfrm flipH="false" flipV="false" rot="0">
              <a:off x="0" y="0"/>
              <a:ext cx="967140" cy="812800"/>
            </a:xfrm>
            <a:custGeom>
              <a:avLst/>
              <a:gdLst/>
              <a:ahLst/>
              <a:cxnLst/>
              <a:rect r="r" b="b" t="t" l="l"/>
              <a:pathLst>
                <a:path h="812800" w="96714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name="TextBox 30" id="30"/>
            <p:cNvSpPr txBox="true"/>
            <p:nvPr/>
          </p:nvSpPr>
          <p:spPr>
            <a:xfrm>
              <a:off x="0" y="-38100"/>
              <a:ext cx="967140" cy="850900"/>
            </a:xfrm>
            <a:prstGeom prst="rect">
              <a:avLst/>
            </a:prstGeom>
          </p:spPr>
          <p:txBody>
            <a:bodyPr anchor="ctr" rtlCol="false" tIns="50800" lIns="50800" bIns="50800" rIns="50800"/>
            <a:lstStyle/>
            <a:p>
              <a:pPr algn="ctr">
                <a:lnSpc>
                  <a:spcPts val="2659"/>
                </a:lnSpc>
              </a:pPr>
            </a:p>
          </p:txBody>
        </p:sp>
      </p:grpSp>
      <p:sp>
        <p:nvSpPr>
          <p:cNvPr name="Freeform 31" id="31"/>
          <p:cNvSpPr/>
          <p:nvPr/>
        </p:nvSpPr>
        <p:spPr>
          <a:xfrm flipH="false" flipV="false" rot="0">
            <a:off x="7970297" y="774439"/>
            <a:ext cx="2017868" cy="1929031"/>
          </a:xfrm>
          <a:custGeom>
            <a:avLst/>
            <a:gdLst/>
            <a:ahLst/>
            <a:cxnLst/>
            <a:rect r="r" b="b" t="t" l="l"/>
            <a:pathLst>
              <a:path h="1929031" w="2017868">
                <a:moveTo>
                  <a:pt x="0" y="0"/>
                </a:moveTo>
                <a:lnTo>
                  <a:pt x="2017868" y="0"/>
                </a:lnTo>
                <a:lnTo>
                  <a:pt x="2017868" y="1929030"/>
                </a:lnTo>
                <a:lnTo>
                  <a:pt x="0" y="1929030"/>
                </a:lnTo>
                <a:lnTo>
                  <a:pt x="0" y="0"/>
                </a:lnTo>
                <a:close/>
              </a:path>
            </a:pathLst>
          </a:custGeom>
          <a:blipFill>
            <a:blip r:embed="rId5"/>
            <a:stretch>
              <a:fillRect l="0" t="0" r="0" b="0"/>
            </a:stretch>
          </a:blipFill>
        </p:spPr>
      </p:sp>
      <p:sp>
        <p:nvSpPr>
          <p:cNvPr name="TextBox 32" id="32"/>
          <p:cNvSpPr txBox="true"/>
          <p:nvPr/>
        </p:nvSpPr>
        <p:spPr>
          <a:xfrm rot="0">
            <a:off x="1011679" y="508149"/>
            <a:ext cx="1922385" cy="207645"/>
          </a:xfrm>
          <a:prstGeom prst="rect">
            <a:avLst/>
          </a:prstGeom>
        </p:spPr>
        <p:txBody>
          <a:bodyPr anchor="t" rtlCol="false" tIns="0" lIns="0" bIns="0" rIns="0">
            <a:spAutoFit/>
          </a:bodyPr>
          <a:lstStyle/>
          <a:p>
            <a:pPr algn="l">
              <a:lnSpc>
                <a:spcPts val="1680"/>
              </a:lnSpc>
              <a:spcBef>
                <a:spcPct val="0"/>
              </a:spcBef>
            </a:pPr>
            <a:r>
              <a:rPr lang="en-US" b="true" sz="1200">
                <a:solidFill>
                  <a:srgbClr val="1F2020"/>
                </a:solidFill>
                <a:latin typeface="Poppins Bold"/>
                <a:ea typeface="Poppins Bold"/>
                <a:cs typeface="Poppins Bold"/>
                <a:sym typeface="Poppins Bold"/>
              </a:rPr>
              <a:t>Institut Teknologi Del</a:t>
            </a:r>
          </a:p>
        </p:txBody>
      </p:sp>
      <p:sp>
        <p:nvSpPr>
          <p:cNvPr name="TextBox 33" id="33"/>
          <p:cNvSpPr txBox="true"/>
          <p:nvPr/>
        </p:nvSpPr>
        <p:spPr>
          <a:xfrm rot="0">
            <a:off x="2805207" y="3902778"/>
            <a:ext cx="12348047" cy="2854309"/>
          </a:xfrm>
          <a:prstGeom prst="rect">
            <a:avLst/>
          </a:prstGeom>
        </p:spPr>
        <p:txBody>
          <a:bodyPr anchor="t" rtlCol="false" tIns="0" lIns="0" bIns="0" rIns="0">
            <a:spAutoFit/>
          </a:bodyPr>
          <a:lstStyle/>
          <a:p>
            <a:pPr algn="ctr">
              <a:lnSpc>
                <a:spcPts val="7523"/>
              </a:lnSpc>
              <a:spcBef>
                <a:spcPct val="0"/>
              </a:spcBef>
            </a:pPr>
            <a:r>
              <a:rPr lang="en-US" b="true" sz="5374">
                <a:solidFill>
                  <a:srgbClr val="3A6AD6"/>
                </a:solidFill>
                <a:latin typeface="Poppins Bold"/>
                <a:ea typeface="Poppins Bold"/>
                <a:cs typeface="Poppins Bold"/>
                <a:sym typeface="Poppins Bold"/>
              </a:rPr>
              <a:t>SELF SUFFICIENT IoT WEATHER MONITORING FOR WEATHER DATA AS A SERVICE</a:t>
            </a:r>
          </a:p>
        </p:txBody>
      </p:sp>
      <p:sp>
        <p:nvSpPr>
          <p:cNvPr name="TextBox 34" id="34"/>
          <p:cNvSpPr txBox="true"/>
          <p:nvPr/>
        </p:nvSpPr>
        <p:spPr>
          <a:xfrm rot="0">
            <a:off x="8142194" y="7735341"/>
            <a:ext cx="2003612" cy="257943"/>
          </a:xfrm>
          <a:prstGeom prst="rect">
            <a:avLst/>
          </a:prstGeom>
        </p:spPr>
        <p:txBody>
          <a:bodyPr anchor="t" rtlCol="false" tIns="0" lIns="0" bIns="0" rIns="0">
            <a:spAutoFit/>
          </a:bodyPr>
          <a:lstStyle/>
          <a:p>
            <a:pPr algn="ctr">
              <a:lnSpc>
                <a:spcPts val="2057"/>
              </a:lnSpc>
              <a:spcBef>
                <a:spcPct val="0"/>
              </a:spcBef>
            </a:pPr>
            <a:r>
              <a:rPr lang="en-US" b="true" sz="1469">
                <a:solidFill>
                  <a:srgbClr val="FFFFFF"/>
                </a:solidFill>
                <a:latin typeface="Poppins Bold"/>
                <a:ea typeface="Poppins Bold"/>
                <a:cs typeface="Poppins Bold"/>
                <a:sym typeface="Poppins Bold"/>
              </a:rPr>
              <a:t>Next</a:t>
            </a:r>
          </a:p>
        </p:txBody>
      </p:sp>
      <p:sp>
        <p:nvSpPr>
          <p:cNvPr name="TextBox 35" id="35"/>
          <p:cNvSpPr txBox="true"/>
          <p:nvPr/>
        </p:nvSpPr>
        <p:spPr>
          <a:xfrm rot="0">
            <a:off x="6684936" y="2818997"/>
            <a:ext cx="4665923" cy="507716"/>
          </a:xfrm>
          <a:prstGeom prst="rect">
            <a:avLst/>
          </a:prstGeom>
        </p:spPr>
        <p:txBody>
          <a:bodyPr anchor="t" rtlCol="false" tIns="0" lIns="0" bIns="0" rIns="0">
            <a:spAutoFit/>
          </a:bodyPr>
          <a:lstStyle/>
          <a:p>
            <a:pPr algn="ctr">
              <a:lnSpc>
                <a:spcPts val="4040"/>
              </a:lnSpc>
              <a:spcBef>
                <a:spcPct val="0"/>
              </a:spcBef>
            </a:pPr>
            <a:r>
              <a:rPr lang="en-US" b="true" sz="2886">
                <a:solidFill>
                  <a:srgbClr val="1F2020"/>
                </a:solidFill>
                <a:latin typeface="Poppins Bold"/>
                <a:ea typeface="Poppins Bold"/>
                <a:cs typeface="Poppins Bold"/>
                <a:sym typeface="Poppins Bold"/>
              </a:rPr>
              <a:t>Institut Teknologi Del</a:t>
            </a:r>
          </a:p>
        </p:txBody>
      </p:sp>
      <p:sp>
        <p:nvSpPr>
          <p:cNvPr name="TextBox 36" id="36"/>
          <p:cNvSpPr txBox="true"/>
          <p:nvPr/>
        </p:nvSpPr>
        <p:spPr>
          <a:xfrm rot="0">
            <a:off x="17690482" y="9739037"/>
            <a:ext cx="442747" cy="257943"/>
          </a:xfrm>
          <a:prstGeom prst="rect">
            <a:avLst/>
          </a:prstGeom>
        </p:spPr>
        <p:txBody>
          <a:bodyPr anchor="t" rtlCol="false" tIns="0" lIns="0" bIns="0" rIns="0">
            <a:spAutoFit/>
          </a:bodyPr>
          <a:lstStyle/>
          <a:p>
            <a:pPr algn="ctr">
              <a:lnSpc>
                <a:spcPts val="2057"/>
              </a:lnSpc>
              <a:spcBef>
                <a:spcPct val="0"/>
              </a:spcBef>
            </a:pPr>
            <a:r>
              <a:rPr lang="en-US" b="true" sz="1469">
                <a:solidFill>
                  <a:srgbClr val="FFFFFF"/>
                </a:solidFill>
                <a:latin typeface="Poppins Bold"/>
                <a:ea typeface="Poppins Bold"/>
                <a:cs typeface="Poppins Bold"/>
                <a:sym typeface="Poppins Bold"/>
              </a:rPr>
              <a:t>01</a:t>
            </a:r>
          </a:p>
        </p:txBody>
      </p:sp>
      <p:sp>
        <p:nvSpPr>
          <p:cNvPr name="Freeform 37" id="37"/>
          <p:cNvSpPr/>
          <p:nvPr/>
        </p:nvSpPr>
        <p:spPr>
          <a:xfrm flipH="false" flipV="false" rot="0">
            <a:off x="212689" y="314984"/>
            <a:ext cx="651219" cy="622549"/>
          </a:xfrm>
          <a:custGeom>
            <a:avLst/>
            <a:gdLst/>
            <a:ahLst/>
            <a:cxnLst/>
            <a:rect r="r" b="b" t="t" l="l"/>
            <a:pathLst>
              <a:path h="622549" w="651219">
                <a:moveTo>
                  <a:pt x="0" y="0"/>
                </a:moveTo>
                <a:lnTo>
                  <a:pt x="651219" y="0"/>
                </a:lnTo>
                <a:lnTo>
                  <a:pt x="651219" y="622549"/>
                </a:lnTo>
                <a:lnTo>
                  <a:pt x="0" y="622549"/>
                </a:lnTo>
                <a:lnTo>
                  <a:pt x="0" y="0"/>
                </a:lnTo>
                <a:close/>
              </a:path>
            </a:pathLst>
          </a:custGeom>
          <a:blipFill>
            <a:blip r:embed="rId5"/>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491799" y="9487118"/>
            <a:ext cx="951769" cy="799882"/>
            <a:chOff x="0" y="0"/>
            <a:chExt cx="1269026" cy="1066510"/>
          </a:xfrm>
        </p:grpSpPr>
        <p:grpSp>
          <p:nvGrpSpPr>
            <p:cNvPr name="Group 9" id="9"/>
            <p:cNvGrpSpPr/>
            <p:nvPr/>
          </p:nvGrpSpPr>
          <p:grpSpPr>
            <a:xfrm rot="0">
              <a:off x="0" y="0"/>
              <a:ext cx="1269026" cy="1066510"/>
              <a:chOff x="0" y="0"/>
              <a:chExt cx="967140" cy="812800"/>
            </a:xfrm>
          </p:grpSpPr>
          <p:sp>
            <p:nvSpPr>
              <p:cNvPr name="Freeform 10" id="10"/>
              <p:cNvSpPr/>
              <p:nvPr/>
            </p:nvSpPr>
            <p:spPr>
              <a:xfrm flipH="false" flipV="false" rot="0">
                <a:off x="0" y="0"/>
                <a:ext cx="967140" cy="812800"/>
              </a:xfrm>
              <a:custGeom>
                <a:avLst/>
                <a:gdLst/>
                <a:ahLst/>
                <a:cxnLst/>
                <a:rect r="r" b="b" t="t" l="l"/>
                <a:pathLst>
                  <a:path h="812800" w="96714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name="TextBox 11" id="11"/>
              <p:cNvSpPr txBox="true"/>
              <p:nvPr/>
            </p:nvSpPr>
            <p:spPr>
              <a:xfrm>
                <a:off x="0" y="-38100"/>
                <a:ext cx="967140" cy="850900"/>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43441" y="349060"/>
              <a:ext cx="590330" cy="331224"/>
            </a:xfrm>
            <a:prstGeom prst="rect">
              <a:avLst/>
            </a:prstGeom>
          </p:spPr>
          <p:txBody>
            <a:bodyPr anchor="t" rtlCol="false" tIns="0" lIns="0" bIns="0" rIns="0">
              <a:spAutoFit/>
            </a:bodyPr>
            <a:lstStyle/>
            <a:p>
              <a:pPr algn="ctr">
                <a:lnSpc>
                  <a:spcPts val="2057"/>
                </a:lnSpc>
                <a:spcBef>
                  <a:spcPct val="0"/>
                </a:spcBef>
              </a:pPr>
              <a:r>
                <a:rPr lang="en-US" b="true" sz="1469">
                  <a:solidFill>
                    <a:srgbClr val="FFFFFF"/>
                  </a:solidFill>
                  <a:latin typeface="Poppins Bold"/>
                  <a:ea typeface="Poppins Bold"/>
                  <a:cs typeface="Poppins Bold"/>
                  <a:sym typeface="Poppins Bold"/>
                </a:rPr>
                <a:t>02</a:t>
              </a:r>
            </a:p>
          </p:txBody>
        </p:sp>
      </p:grpSp>
      <p:grpSp>
        <p:nvGrpSpPr>
          <p:cNvPr name="Group 13" id="13"/>
          <p:cNvGrpSpPr/>
          <p:nvPr/>
        </p:nvGrpSpPr>
        <p:grpSpPr>
          <a:xfrm rot="0">
            <a:off x="212689" y="314984"/>
            <a:ext cx="2721375" cy="622549"/>
            <a:chOff x="0" y="0"/>
            <a:chExt cx="3628500" cy="830065"/>
          </a:xfrm>
        </p:grpSpPr>
        <p:sp>
          <p:nvSpPr>
            <p:cNvPr name="TextBox 14" id="14"/>
            <p:cNvSpPr txBox="true"/>
            <p:nvPr/>
          </p:nvSpPr>
          <p:spPr>
            <a:xfrm rot="0">
              <a:off x="1065319" y="267078"/>
              <a:ext cx="2563180" cy="267335"/>
            </a:xfrm>
            <a:prstGeom prst="rect">
              <a:avLst/>
            </a:prstGeom>
          </p:spPr>
          <p:txBody>
            <a:bodyPr anchor="t" rtlCol="false" tIns="0" lIns="0" bIns="0" rIns="0">
              <a:spAutoFit/>
            </a:bodyPr>
            <a:lstStyle/>
            <a:p>
              <a:pPr algn="l">
                <a:lnSpc>
                  <a:spcPts val="1680"/>
                </a:lnSpc>
                <a:spcBef>
                  <a:spcPct val="0"/>
                </a:spcBef>
              </a:pPr>
              <a:r>
                <a:rPr lang="en-US" b="true" sz="1200">
                  <a:solidFill>
                    <a:srgbClr val="1F2020"/>
                  </a:solidFill>
                  <a:latin typeface="Poppins Bold"/>
                  <a:ea typeface="Poppins Bold"/>
                  <a:cs typeface="Poppins Bold"/>
                  <a:sym typeface="Poppins Bold"/>
                </a:rPr>
                <a:t>Institut Teknologi Del</a:t>
              </a:r>
            </a:p>
          </p:txBody>
        </p:sp>
        <p:sp>
          <p:nvSpPr>
            <p:cNvPr name="Freeform 15" id="15"/>
            <p:cNvSpPr/>
            <p:nvPr/>
          </p:nvSpPr>
          <p:spPr>
            <a:xfrm flipH="false" flipV="false" rot="0">
              <a:off x="0" y="0"/>
              <a:ext cx="868292" cy="830065"/>
            </a:xfrm>
            <a:custGeom>
              <a:avLst/>
              <a:gdLst/>
              <a:ahLst/>
              <a:cxnLst/>
              <a:rect r="r" b="b" t="t" l="l"/>
              <a:pathLst>
                <a:path h="830065" w="868292">
                  <a:moveTo>
                    <a:pt x="0" y="0"/>
                  </a:moveTo>
                  <a:lnTo>
                    <a:pt x="868292" y="0"/>
                  </a:lnTo>
                  <a:lnTo>
                    <a:pt x="868292" y="830065"/>
                  </a:lnTo>
                  <a:lnTo>
                    <a:pt x="0" y="830065"/>
                  </a:lnTo>
                  <a:lnTo>
                    <a:pt x="0" y="0"/>
                  </a:lnTo>
                  <a:close/>
                </a:path>
              </a:pathLst>
            </a:custGeom>
            <a:blipFill>
              <a:blip r:embed="rId2"/>
              <a:stretch>
                <a:fillRect l="0" t="0" r="0" b="0"/>
              </a:stretch>
            </a:blipFill>
          </p:spPr>
        </p:sp>
      </p:grpSp>
      <p:sp>
        <p:nvSpPr>
          <p:cNvPr name="TextBox 16" id="16"/>
          <p:cNvSpPr txBox="true"/>
          <p:nvPr/>
        </p:nvSpPr>
        <p:spPr>
          <a:xfrm rot="0">
            <a:off x="4534788" y="1952267"/>
            <a:ext cx="9218423" cy="2509899"/>
          </a:xfrm>
          <a:prstGeom prst="rect">
            <a:avLst/>
          </a:prstGeom>
        </p:spPr>
        <p:txBody>
          <a:bodyPr anchor="t" rtlCol="false" tIns="0" lIns="0" bIns="0" rIns="0">
            <a:spAutoFit/>
          </a:bodyPr>
          <a:lstStyle/>
          <a:p>
            <a:pPr algn="just">
              <a:lnSpc>
                <a:spcPts val="6571"/>
              </a:lnSpc>
            </a:pPr>
            <a:r>
              <a:rPr lang="en-US" sz="4693" b="true">
                <a:solidFill>
                  <a:srgbClr val="3B3B3B"/>
                </a:solidFill>
                <a:latin typeface="Poppins Bold"/>
                <a:ea typeface="Poppins Bold"/>
                <a:cs typeface="Poppins Bold"/>
                <a:sym typeface="Poppins Bold"/>
              </a:rPr>
              <a:t>13323012 </a:t>
            </a:r>
            <a:r>
              <a:rPr lang="en-US" sz="4693" b="true">
                <a:solidFill>
                  <a:srgbClr val="3B3B3B"/>
                </a:solidFill>
                <a:latin typeface="Poppins Bold"/>
                <a:ea typeface="Poppins Bold"/>
                <a:cs typeface="Poppins Bold"/>
                <a:sym typeface="Poppins Bold"/>
              </a:rPr>
              <a:t>Jeyshen </a:t>
            </a:r>
            <a:r>
              <a:rPr lang="en-US" sz="4693" b="true">
                <a:solidFill>
                  <a:srgbClr val="3B3B3B"/>
                </a:solidFill>
                <a:latin typeface="Poppins Bold"/>
                <a:ea typeface="Poppins Bold"/>
                <a:cs typeface="Poppins Bold"/>
                <a:sym typeface="Poppins Bold"/>
              </a:rPr>
              <a:t>Siallagan</a:t>
            </a:r>
          </a:p>
          <a:p>
            <a:pPr algn="just">
              <a:lnSpc>
                <a:spcPts val="6571"/>
              </a:lnSpc>
            </a:pPr>
            <a:r>
              <a:rPr lang="en-US" sz="4693" b="true">
                <a:solidFill>
                  <a:srgbClr val="3B3B3B"/>
                </a:solidFill>
                <a:latin typeface="Poppins Bold"/>
                <a:ea typeface="Poppins Bold"/>
                <a:cs typeface="Poppins Bold"/>
                <a:sym typeface="Poppins Bold"/>
              </a:rPr>
              <a:t>13323018 Bastian Sitanggang</a:t>
            </a:r>
          </a:p>
          <a:p>
            <a:pPr algn="just">
              <a:lnSpc>
                <a:spcPts val="6571"/>
              </a:lnSpc>
              <a:spcBef>
                <a:spcPct val="0"/>
              </a:spcBef>
            </a:pPr>
            <a:r>
              <a:rPr lang="en-US" b="true" sz="4693">
                <a:solidFill>
                  <a:srgbClr val="3B3B3B"/>
                </a:solidFill>
                <a:latin typeface="Poppins Bold"/>
                <a:ea typeface="Poppins Bold"/>
                <a:cs typeface="Poppins Bold"/>
                <a:sym typeface="Poppins Bold"/>
              </a:rPr>
              <a:t>13323050 Lely N.F. Butarbutar</a:t>
            </a:r>
          </a:p>
        </p:txBody>
      </p:sp>
      <p:sp>
        <p:nvSpPr>
          <p:cNvPr name="AutoShape 17" id="17"/>
          <p:cNvSpPr/>
          <p:nvPr/>
        </p:nvSpPr>
        <p:spPr>
          <a:xfrm>
            <a:off x="-258678" y="7141637"/>
            <a:ext cx="18546678" cy="0"/>
          </a:xfrm>
          <a:prstGeom prst="line">
            <a:avLst/>
          </a:prstGeom>
          <a:ln cap="flat" w="38100">
            <a:solidFill>
              <a:srgbClr val="202020"/>
            </a:solidFill>
            <a:prstDash val="solid"/>
            <a:headEnd type="none" len="sm" w="sm"/>
            <a:tailEnd type="none" len="sm" w="sm"/>
          </a:ln>
        </p:spPr>
      </p:sp>
      <p:sp>
        <p:nvSpPr>
          <p:cNvPr name="Freeform 18" id="18"/>
          <p:cNvSpPr/>
          <p:nvPr/>
        </p:nvSpPr>
        <p:spPr>
          <a:xfrm flipH="false" flipV="false" rot="0">
            <a:off x="15607142" y="0"/>
            <a:ext cx="3769315" cy="2241029"/>
          </a:xfrm>
          <a:custGeom>
            <a:avLst/>
            <a:gdLst/>
            <a:ahLst/>
            <a:cxnLst/>
            <a:rect r="r" b="b" t="t" l="l"/>
            <a:pathLst>
              <a:path h="2241029" w="3769315">
                <a:moveTo>
                  <a:pt x="0" y="0"/>
                </a:moveTo>
                <a:lnTo>
                  <a:pt x="3769314" y="0"/>
                </a:lnTo>
                <a:lnTo>
                  <a:pt x="3769314" y="2241029"/>
                </a:lnTo>
                <a:lnTo>
                  <a:pt x="0" y="22410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9" id="19"/>
          <p:cNvSpPr/>
          <p:nvPr/>
        </p:nvSpPr>
        <p:spPr>
          <a:xfrm flipH="false" flipV="false" rot="0">
            <a:off x="-2361472" y="8045971"/>
            <a:ext cx="3769315" cy="2241029"/>
          </a:xfrm>
          <a:custGeom>
            <a:avLst/>
            <a:gdLst/>
            <a:ahLst/>
            <a:cxnLst/>
            <a:rect r="r" b="b" t="t" l="l"/>
            <a:pathLst>
              <a:path h="2241029" w="3769315">
                <a:moveTo>
                  <a:pt x="0" y="0"/>
                </a:moveTo>
                <a:lnTo>
                  <a:pt x="3769314" y="0"/>
                </a:lnTo>
                <a:lnTo>
                  <a:pt x="3769314" y="2241029"/>
                </a:lnTo>
                <a:lnTo>
                  <a:pt x="0" y="22410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0" id="20"/>
          <p:cNvSpPr txBox="true"/>
          <p:nvPr/>
        </p:nvSpPr>
        <p:spPr>
          <a:xfrm rot="0">
            <a:off x="4534788" y="6022548"/>
            <a:ext cx="9218423" cy="86042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League Spartan"/>
                <a:ea typeface="League Spartan"/>
                <a:cs typeface="League Spartan"/>
                <a:sym typeface="League Spartan"/>
              </a:rPr>
              <a:t>Supervisor:</a:t>
            </a:r>
          </a:p>
          <a:p>
            <a:pPr algn="ctr">
              <a:lnSpc>
                <a:spcPts val="3499"/>
              </a:lnSpc>
              <a:spcBef>
                <a:spcPct val="0"/>
              </a:spcBef>
            </a:pPr>
            <a:r>
              <a:rPr lang="en-US" sz="2499">
                <a:solidFill>
                  <a:srgbClr val="000000"/>
                </a:solidFill>
                <a:latin typeface="League Spartan"/>
                <a:ea typeface="League Spartan"/>
                <a:cs typeface="League Spartan"/>
                <a:sym typeface="League Spartan"/>
              </a:rPr>
              <a:t>Gerry Italiano Wowiling, S.Tr.Kom., M.T.</a:t>
            </a:r>
          </a:p>
        </p:txBody>
      </p:sp>
      <p:sp>
        <p:nvSpPr>
          <p:cNvPr name="TextBox 21" id="21"/>
          <p:cNvSpPr txBox="true"/>
          <p:nvPr/>
        </p:nvSpPr>
        <p:spPr>
          <a:xfrm rot="0">
            <a:off x="9956043" y="8306060"/>
            <a:ext cx="9218423" cy="86042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League Spartan"/>
                <a:ea typeface="League Spartan"/>
                <a:cs typeface="League Spartan"/>
                <a:sym typeface="League Spartan"/>
              </a:rPr>
              <a:t>Exam</a:t>
            </a:r>
            <a:r>
              <a:rPr lang="en-US" sz="2499">
                <a:solidFill>
                  <a:srgbClr val="000000"/>
                </a:solidFill>
                <a:latin typeface="League Spartan"/>
                <a:ea typeface="League Spartan"/>
                <a:cs typeface="League Spartan"/>
                <a:sym typeface="League Spartan"/>
              </a:rPr>
              <a:t>iner 2 :</a:t>
            </a:r>
          </a:p>
          <a:p>
            <a:pPr algn="ctr">
              <a:lnSpc>
                <a:spcPts val="3499"/>
              </a:lnSpc>
              <a:spcBef>
                <a:spcPct val="0"/>
              </a:spcBef>
            </a:pPr>
            <a:r>
              <a:rPr lang="en-US" sz="2499" u="sng">
                <a:solidFill>
                  <a:srgbClr val="000000"/>
                </a:solidFill>
                <a:latin typeface="League Spartan"/>
                <a:ea typeface="League Spartan"/>
                <a:cs typeface="League Spartan"/>
                <a:sym typeface="League Spartan"/>
                <a:hlinkClick r:id="rId5" tooltip="https://cis.del.ac.id/hrdx/dosen/view?q=otXFwNpYHd9UxhIuuJrhau4z_k2Usw5SvqU2KbhdnYA"/>
              </a:rPr>
              <a:t>Pandapotan Siagian, ST, M.Eng</a:t>
            </a:r>
          </a:p>
        </p:txBody>
      </p:sp>
      <p:sp>
        <p:nvSpPr>
          <p:cNvPr name="TextBox 22" id="22"/>
          <p:cNvSpPr txBox="true"/>
          <p:nvPr/>
        </p:nvSpPr>
        <p:spPr>
          <a:xfrm rot="0">
            <a:off x="212689" y="8306060"/>
            <a:ext cx="9218423" cy="86042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League Spartan"/>
                <a:ea typeface="League Spartan"/>
                <a:cs typeface="League Spartan"/>
                <a:sym typeface="League Spartan"/>
              </a:rPr>
              <a:t>Examiner 1 </a:t>
            </a:r>
            <a:r>
              <a:rPr lang="en-US" sz="2499">
                <a:solidFill>
                  <a:srgbClr val="000000"/>
                </a:solidFill>
                <a:latin typeface="League Spartan"/>
                <a:ea typeface="League Spartan"/>
                <a:cs typeface="League Spartan"/>
                <a:sym typeface="League Spartan"/>
              </a:rPr>
              <a:t>:</a:t>
            </a:r>
          </a:p>
          <a:p>
            <a:pPr algn="ctr">
              <a:lnSpc>
                <a:spcPts val="3499"/>
              </a:lnSpc>
              <a:spcBef>
                <a:spcPct val="0"/>
              </a:spcBef>
            </a:pPr>
            <a:r>
              <a:rPr lang="en-US" sz="2499" u="sng">
                <a:solidFill>
                  <a:srgbClr val="000000"/>
                </a:solidFill>
                <a:latin typeface="League Spartan"/>
                <a:ea typeface="League Spartan"/>
                <a:cs typeface="League Spartan"/>
                <a:sym typeface="League Spartan"/>
                <a:hlinkClick r:id="rId6" tooltip="https://cis.del.ac.id/hrdx/dosen/view?q=JYUsJtCvdo0nu6C-V75sMgJA6I0mSO2u3GLY-w_sfPI"/>
              </a:rPr>
              <a:t>Istas Pratomo Manalu, S.Si., M.Sc.</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336231" y="9487118"/>
            <a:ext cx="951769" cy="799882"/>
            <a:chOff x="0" y="0"/>
            <a:chExt cx="1269026" cy="1066510"/>
          </a:xfrm>
        </p:grpSpPr>
        <p:grpSp>
          <p:nvGrpSpPr>
            <p:cNvPr name="Group 9" id="9"/>
            <p:cNvGrpSpPr/>
            <p:nvPr/>
          </p:nvGrpSpPr>
          <p:grpSpPr>
            <a:xfrm rot="0">
              <a:off x="0" y="0"/>
              <a:ext cx="1269026" cy="1066510"/>
              <a:chOff x="0" y="0"/>
              <a:chExt cx="967140" cy="812800"/>
            </a:xfrm>
          </p:grpSpPr>
          <p:sp>
            <p:nvSpPr>
              <p:cNvPr name="Freeform 10" id="10"/>
              <p:cNvSpPr/>
              <p:nvPr/>
            </p:nvSpPr>
            <p:spPr>
              <a:xfrm flipH="false" flipV="false" rot="0">
                <a:off x="0" y="0"/>
                <a:ext cx="967140" cy="812800"/>
              </a:xfrm>
              <a:custGeom>
                <a:avLst/>
                <a:gdLst/>
                <a:ahLst/>
                <a:cxnLst/>
                <a:rect r="r" b="b" t="t" l="l"/>
                <a:pathLst>
                  <a:path h="812800" w="96714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name="TextBox 11" id="11"/>
              <p:cNvSpPr txBox="true"/>
              <p:nvPr/>
            </p:nvSpPr>
            <p:spPr>
              <a:xfrm>
                <a:off x="0" y="-38100"/>
                <a:ext cx="967140" cy="850900"/>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43441" y="349060"/>
              <a:ext cx="590330" cy="331224"/>
            </a:xfrm>
            <a:prstGeom prst="rect">
              <a:avLst/>
            </a:prstGeom>
          </p:spPr>
          <p:txBody>
            <a:bodyPr anchor="t" rtlCol="false" tIns="0" lIns="0" bIns="0" rIns="0">
              <a:spAutoFit/>
            </a:bodyPr>
            <a:lstStyle/>
            <a:p>
              <a:pPr algn="ctr">
                <a:lnSpc>
                  <a:spcPts val="2057"/>
                </a:lnSpc>
                <a:spcBef>
                  <a:spcPct val="0"/>
                </a:spcBef>
              </a:pPr>
              <a:r>
                <a:rPr lang="en-US" b="true" sz="1469">
                  <a:solidFill>
                    <a:srgbClr val="FFFFFF"/>
                  </a:solidFill>
                  <a:latin typeface="Poppins Bold"/>
                  <a:ea typeface="Poppins Bold"/>
                  <a:cs typeface="Poppins Bold"/>
                  <a:sym typeface="Poppins Bold"/>
                </a:rPr>
                <a:t>03</a:t>
              </a:r>
            </a:p>
          </p:txBody>
        </p:sp>
      </p:grpSp>
      <p:grpSp>
        <p:nvGrpSpPr>
          <p:cNvPr name="Group 13" id="13"/>
          <p:cNvGrpSpPr/>
          <p:nvPr/>
        </p:nvGrpSpPr>
        <p:grpSpPr>
          <a:xfrm rot="0">
            <a:off x="1635881" y="-2364619"/>
            <a:ext cx="15016239" cy="15016239"/>
            <a:chOff x="0" y="0"/>
            <a:chExt cx="20021652" cy="20021652"/>
          </a:xfrm>
        </p:grpSpPr>
        <p:grpSp>
          <p:nvGrpSpPr>
            <p:cNvPr name="Group 14" id="14"/>
            <p:cNvGrpSpPr/>
            <p:nvPr/>
          </p:nvGrpSpPr>
          <p:grpSpPr>
            <a:xfrm rot="0">
              <a:off x="0" y="0"/>
              <a:ext cx="20021652" cy="20021652"/>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17" id="17"/>
            <p:cNvSpPr/>
            <p:nvPr/>
          </p:nvSpPr>
          <p:spPr>
            <a:xfrm flipH="false" flipV="false" rot="0">
              <a:off x="1937579" y="2224049"/>
              <a:ext cx="17201949" cy="17180446"/>
            </a:xfrm>
            <a:custGeom>
              <a:avLst/>
              <a:gdLst/>
              <a:ahLst/>
              <a:cxnLst/>
              <a:rect r="r" b="b" t="t" l="l"/>
              <a:pathLst>
                <a:path h="17180446" w="17201949">
                  <a:moveTo>
                    <a:pt x="0" y="0"/>
                  </a:moveTo>
                  <a:lnTo>
                    <a:pt x="17201949" y="0"/>
                  </a:lnTo>
                  <a:lnTo>
                    <a:pt x="17201949" y="17180447"/>
                  </a:lnTo>
                  <a:lnTo>
                    <a:pt x="0" y="17180447"/>
                  </a:lnTo>
                  <a:lnTo>
                    <a:pt x="0" y="0"/>
                  </a:lnTo>
                  <a:close/>
                </a:path>
              </a:pathLst>
            </a:custGeom>
            <a:blipFill>
              <a:blip r:embed="rId2"/>
              <a:stretch>
                <a:fillRect l="0" t="0" r="0" b="0"/>
              </a:stretch>
            </a:blipFill>
          </p:spPr>
        </p:sp>
        <p:grpSp>
          <p:nvGrpSpPr>
            <p:cNvPr name="Group 18" id="18"/>
            <p:cNvGrpSpPr/>
            <p:nvPr/>
          </p:nvGrpSpPr>
          <p:grpSpPr>
            <a:xfrm rot="0">
              <a:off x="1536521" y="1536521"/>
              <a:ext cx="16948609" cy="16948609"/>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sp>
        <p:nvSpPr>
          <p:cNvPr name="TextBox 21" id="21"/>
          <p:cNvSpPr txBox="true"/>
          <p:nvPr/>
        </p:nvSpPr>
        <p:spPr>
          <a:xfrm rot="0">
            <a:off x="2934064" y="1128368"/>
            <a:ext cx="12348047" cy="968383"/>
          </a:xfrm>
          <a:prstGeom prst="rect">
            <a:avLst/>
          </a:prstGeom>
        </p:spPr>
        <p:txBody>
          <a:bodyPr anchor="t" rtlCol="false" tIns="0" lIns="0" bIns="0" rIns="0">
            <a:spAutoFit/>
          </a:bodyPr>
          <a:lstStyle/>
          <a:p>
            <a:pPr algn="ctr">
              <a:lnSpc>
                <a:spcPts val="7523"/>
              </a:lnSpc>
              <a:spcBef>
                <a:spcPct val="0"/>
              </a:spcBef>
            </a:pPr>
            <a:r>
              <a:rPr lang="en-US" b="true" sz="5374">
                <a:solidFill>
                  <a:srgbClr val="3A6AD6"/>
                </a:solidFill>
                <a:latin typeface="Poppins Bold"/>
                <a:ea typeface="Poppins Bold"/>
                <a:cs typeface="Poppins Bold"/>
                <a:sym typeface="Poppins Bold"/>
              </a:rPr>
              <a:t>Background</a:t>
            </a:r>
          </a:p>
        </p:txBody>
      </p:sp>
      <p:grpSp>
        <p:nvGrpSpPr>
          <p:cNvPr name="Group 22" id="22"/>
          <p:cNvGrpSpPr/>
          <p:nvPr/>
        </p:nvGrpSpPr>
        <p:grpSpPr>
          <a:xfrm rot="0">
            <a:off x="212689" y="314984"/>
            <a:ext cx="2721375" cy="622549"/>
            <a:chOff x="0" y="0"/>
            <a:chExt cx="3628500" cy="830065"/>
          </a:xfrm>
        </p:grpSpPr>
        <p:sp>
          <p:nvSpPr>
            <p:cNvPr name="TextBox 23" id="23"/>
            <p:cNvSpPr txBox="true"/>
            <p:nvPr/>
          </p:nvSpPr>
          <p:spPr>
            <a:xfrm rot="0">
              <a:off x="1065319" y="267078"/>
              <a:ext cx="2563180" cy="267335"/>
            </a:xfrm>
            <a:prstGeom prst="rect">
              <a:avLst/>
            </a:prstGeom>
          </p:spPr>
          <p:txBody>
            <a:bodyPr anchor="t" rtlCol="false" tIns="0" lIns="0" bIns="0" rIns="0">
              <a:spAutoFit/>
            </a:bodyPr>
            <a:lstStyle/>
            <a:p>
              <a:pPr algn="l">
                <a:lnSpc>
                  <a:spcPts val="1680"/>
                </a:lnSpc>
                <a:spcBef>
                  <a:spcPct val="0"/>
                </a:spcBef>
              </a:pPr>
              <a:r>
                <a:rPr lang="en-US" b="true" sz="1200">
                  <a:solidFill>
                    <a:srgbClr val="1F2020"/>
                  </a:solidFill>
                  <a:latin typeface="Poppins Bold"/>
                  <a:ea typeface="Poppins Bold"/>
                  <a:cs typeface="Poppins Bold"/>
                  <a:sym typeface="Poppins Bold"/>
                </a:rPr>
                <a:t>Institut Teknologi Del</a:t>
              </a:r>
            </a:p>
          </p:txBody>
        </p:sp>
        <p:sp>
          <p:nvSpPr>
            <p:cNvPr name="Freeform 24" id="24"/>
            <p:cNvSpPr/>
            <p:nvPr/>
          </p:nvSpPr>
          <p:spPr>
            <a:xfrm flipH="false" flipV="false" rot="0">
              <a:off x="0" y="0"/>
              <a:ext cx="868292" cy="830065"/>
            </a:xfrm>
            <a:custGeom>
              <a:avLst/>
              <a:gdLst/>
              <a:ahLst/>
              <a:cxnLst/>
              <a:rect r="r" b="b" t="t" l="l"/>
              <a:pathLst>
                <a:path h="830065" w="868292">
                  <a:moveTo>
                    <a:pt x="0" y="0"/>
                  </a:moveTo>
                  <a:lnTo>
                    <a:pt x="868292" y="0"/>
                  </a:lnTo>
                  <a:lnTo>
                    <a:pt x="868292" y="830065"/>
                  </a:lnTo>
                  <a:lnTo>
                    <a:pt x="0" y="830065"/>
                  </a:lnTo>
                  <a:lnTo>
                    <a:pt x="0" y="0"/>
                  </a:lnTo>
                  <a:close/>
                </a:path>
              </a:pathLst>
            </a:custGeom>
            <a:blipFill>
              <a:blip r:embed="rId3"/>
              <a:stretch>
                <a:fillRect l="0" t="0" r="0" b="0"/>
              </a:stretch>
            </a:blipFill>
          </p:spPr>
        </p:sp>
      </p:grpSp>
      <p:sp>
        <p:nvSpPr>
          <p:cNvPr name="TextBox 25" id="25"/>
          <p:cNvSpPr txBox="true"/>
          <p:nvPr/>
        </p:nvSpPr>
        <p:spPr>
          <a:xfrm rot="0">
            <a:off x="3247143" y="2767445"/>
            <a:ext cx="11793714" cy="5434341"/>
          </a:xfrm>
          <a:prstGeom prst="rect">
            <a:avLst/>
          </a:prstGeom>
        </p:spPr>
        <p:txBody>
          <a:bodyPr anchor="t" rtlCol="false" tIns="0" lIns="0" bIns="0" rIns="0">
            <a:spAutoFit/>
          </a:bodyPr>
          <a:lstStyle/>
          <a:p>
            <a:pPr algn="just" marL="604430" indent="-302215" lvl="1">
              <a:lnSpc>
                <a:spcPts val="3919"/>
              </a:lnSpc>
              <a:buFont typeface="Arial"/>
              <a:buChar char="•"/>
            </a:pPr>
            <a:r>
              <a:rPr lang="en-US" b="true" sz="2799">
                <a:solidFill>
                  <a:srgbClr val="000000"/>
                </a:solidFill>
                <a:latin typeface="Canva Sans Bold"/>
                <a:ea typeface="Canva Sans Bold"/>
                <a:cs typeface="Canva Sans Bold"/>
                <a:sym typeface="Canva Sans Bold"/>
              </a:rPr>
              <a:t>Climate change → unpredictable weather, impacting agriculture, livestock, the environment, and the economy.</a:t>
            </a:r>
          </a:p>
          <a:p>
            <a:pPr algn="just" marL="604430" indent="-302215" lvl="1">
              <a:lnSpc>
                <a:spcPts val="3919"/>
              </a:lnSpc>
              <a:buFont typeface="Arial"/>
              <a:buChar char="•"/>
            </a:pPr>
            <a:r>
              <a:rPr lang="en-US" b="true" sz="2799">
                <a:solidFill>
                  <a:srgbClr val="000000"/>
                </a:solidFill>
                <a:latin typeface="Canva Sans Bold"/>
                <a:ea typeface="Canva Sans Bold"/>
                <a:cs typeface="Canva Sans Bold"/>
                <a:sym typeface="Canva Sans Bold"/>
              </a:rPr>
              <a:t>Accurate weather data in remote areas is limited due to electricity and communication constraints → communities struggle to anticipate extreme weather.</a:t>
            </a:r>
          </a:p>
          <a:p>
            <a:pPr algn="just" marL="604430" indent="-302215" lvl="1">
              <a:lnSpc>
                <a:spcPts val="3919"/>
              </a:lnSpc>
              <a:buFont typeface="Arial"/>
              <a:buChar char="•"/>
            </a:pPr>
            <a:r>
              <a:rPr lang="en-US" b="true" sz="2799">
                <a:solidFill>
                  <a:srgbClr val="000000"/>
                </a:solidFill>
                <a:latin typeface="Canva Sans Bold"/>
                <a:ea typeface="Canva Sans Bold"/>
                <a:cs typeface="Canva Sans Bold"/>
                <a:sym typeface="Canva Sans Bold"/>
              </a:rPr>
              <a:t>Previous research was partial (sensors/communications/energy), lacking full integration.</a:t>
            </a:r>
          </a:p>
          <a:p>
            <a:pPr algn="just" marL="604430" indent="-302215" lvl="1">
              <a:lnSpc>
                <a:spcPts val="3919"/>
              </a:lnSpc>
              <a:buFont typeface="Arial"/>
              <a:buChar char="•"/>
            </a:pPr>
            <a:r>
              <a:rPr lang="en-US" b="true" sz="2799">
                <a:solidFill>
                  <a:srgbClr val="000000"/>
                </a:solidFill>
                <a:latin typeface="Canva Sans Bold"/>
                <a:ea typeface="Canva Sans Bold"/>
                <a:cs typeface="Canva Sans Bold"/>
                <a:sym typeface="Canva Sans Bold"/>
              </a:rPr>
              <a:t>Solution: Self-Sufficient IoT Weather Monitoring with ESP32+ multi-sensors, LoRa communication, solar energy, and a web dashboard.</a:t>
            </a:r>
          </a:p>
          <a:p>
            <a:pPr algn="just" marL="604430" indent="-302215" lvl="1">
              <a:lnSpc>
                <a:spcPts val="3919"/>
              </a:lnSpc>
              <a:buFont typeface="Arial"/>
              <a:buChar char="•"/>
            </a:pPr>
            <a:r>
              <a:rPr lang="en-US" b="true" sz="2799">
                <a:solidFill>
                  <a:srgbClr val="000000"/>
                </a:solidFill>
                <a:latin typeface="Canva Sans Bold"/>
                <a:ea typeface="Canva Sans Bold"/>
                <a:cs typeface="Canva Sans Bold"/>
                <a:sym typeface="Canva Sans Bold"/>
              </a:rPr>
              <a:t>Open data → supports food security and disaster mitigation.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0192109" y="1028700"/>
            <a:ext cx="7576891" cy="2587745"/>
            <a:chOff x="0" y="0"/>
            <a:chExt cx="1550879" cy="529674"/>
          </a:xfrm>
        </p:grpSpPr>
        <p:sp>
          <p:nvSpPr>
            <p:cNvPr name="Freeform 9" id="9"/>
            <p:cNvSpPr/>
            <p:nvPr/>
          </p:nvSpPr>
          <p:spPr>
            <a:xfrm flipH="false" flipV="false" rot="0">
              <a:off x="0" y="0"/>
              <a:ext cx="1550879" cy="529674"/>
            </a:xfrm>
            <a:custGeom>
              <a:avLst/>
              <a:gdLst/>
              <a:ahLst/>
              <a:cxnLst/>
              <a:rect r="r" b="b" t="t" l="l"/>
              <a:pathLst>
                <a:path h="529674" w="1550879">
                  <a:moveTo>
                    <a:pt x="102178" y="0"/>
                  </a:moveTo>
                  <a:lnTo>
                    <a:pt x="1448701" y="0"/>
                  </a:lnTo>
                  <a:cubicBezTo>
                    <a:pt x="1475800" y="0"/>
                    <a:pt x="1501790" y="10765"/>
                    <a:pt x="1520952" y="29927"/>
                  </a:cubicBezTo>
                  <a:cubicBezTo>
                    <a:pt x="1540114" y="49089"/>
                    <a:pt x="1550879" y="75079"/>
                    <a:pt x="1550879" y="102178"/>
                  </a:cubicBezTo>
                  <a:lnTo>
                    <a:pt x="1550879" y="427496"/>
                  </a:lnTo>
                  <a:cubicBezTo>
                    <a:pt x="1550879" y="454595"/>
                    <a:pt x="1540114" y="480584"/>
                    <a:pt x="1520952" y="499746"/>
                  </a:cubicBezTo>
                  <a:cubicBezTo>
                    <a:pt x="1501790" y="518908"/>
                    <a:pt x="1475800" y="529674"/>
                    <a:pt x="1448701" y="529674"/>
                  </a:cubicBezTo>
                  <a:lnTo>
                    <a:pt x="102178" y="529674"/>
                  </a:lnTo>
                  <a:cubicBezTo>
                    <a:pt x="75079" y="529674"/>
                    <a:pt x="49089" y="518908"/>
                    <a:pt x="29927" y="499746"/>
                  </a:cubicBezTo>
                  <a:cubicBezTo>
                    <a:pt x="10765" y="480584"/>
                    <a:pt x="0" y="454595"/>
                    <a:pt x="0" y="427496"/>
                  </a:cubicBezTo>
                  <a:lnTo>
                    <a:pt x="0" y="102178"/>
                  </a:lnTo>
                  <a:cubicBezTo>
                    <a:pt x="0" y="75079"/>
                    <a:pt x="10765" y="49089"/>
                    <a:pt x="29927" y="29927"/>
                  </a:cubicBezTo>
                  <a:cubicBezTo>
                    <a:pt x="49089" y="10765"/>
                    <a:pt x="75079" y="0"/>
                    <a:pt x="102178" y="0"/>
                  </a:cubicBezTo>
                  <a:close/>
                </a:path>
              </a:pathLst>
            </a:custGeom>
            <a:solidFill>
              <a:srgbClr val="8AB8D3"/>
            </a:solidFill>
          </p:spPr>
        </p:sp>
        <p:sp>
          <p:nvSpPr>
            <p:cNvPr name="TextBox 10" id="10"/>
            <p:cNvSpPr txBox="true"/>
            <p:nvPr/>
          </p:nvSpPr>
          <p:spPr>
            <a:xfrm>
              <a:off x="0" y="-38100"/>
              <a:ext cx="1550879" cy="567774"/>
            </a:xfrm>
            <a:prstGeom prst="rect">
              <a:avLst/>
            </a:prstGeom>
          </p:spPr>
          <p:txBody>
            <a:bodyPr anchor="ctr" rtlCol="false" tIns="47086" lIns="47086" bIns="47086" rIns="47086"/>
            <a:lstStyle/>
            <a:p>
              <a:pPr algn="just">
                <a:lnSpc>
                  <a:spcPts val="2659"/>
                </a:lnSpc>
              </a:pPr>
            </a:p>
          </p:txBody>
        </p:sp>
      </p:grpSp>
      <p:grpSp>
        <p:nvGrpSpPr>
          <p:cNvPr name="Group 11" id="11"/>
          <p:cNvGrpSpPr/>
          <p:nvPr/>
        </p:nvGrpSpPr>
        <p:grpSpPr>
          <a:xfrm rot="0">
            <a:off x="10305123" y="4059384"/>
            <a:ext cx="7576891" cy="2386574"/>
            <a:chOff x="0" y="0"/>
            <a:chExt cx="1550879" cy="488497"/>
          </a:xfrm>
        </p:grpSpPr>
        <p:sp>
          <p:nvSpPr>
            <p:cNvPr name="Freeform 12" id="12"/>
            <p:cNvSpPr/>
            <p:nvPr/>
          </p:nvSpPr>
          <p:spPr>
            <a:xfrm flipH="false" flipV="false" rot="0">
              <a:off x="0" y="0"/>
              <a:ext cx="1550879" cy="488497"/>
            </a:xfrm>
            <a:custGeom>
              <a:avLst/>
              <a:gdLst/>
              <a:ahLst/>
              <a:cxnLst/>
              <a:rect r="r" b="b" t="t" l="l"/>
              <a:pathLst>
                <a:path h="488497" w="1550879">
                  <a:moveTo>
                    <a:pt x="102178" y="0"/>
                  </a:moveTo>
                  <a:lnTo>
                    <a:pt x="1448701" y="0"/>
                  </a:lnTo>
                  <a:cubicBezTo>
                    <a:pt x="1475800" y="0"/>
                    <a:pt x="1501790" y="10765"/>
                    <a:pt x="1520952" y="29927"/>
                  </a:cubicBezTo>
                  <a:cubicBezTo>
                    <a:pt x="1540114" y="49089"/>
                    <a:pt x="1550879" y="75079"/>
                    <a:pt x="1550879" y="102178"/>
                  </a:cubicBezTo>
                  <a:lnTo>
                    <a:pt x="1550879" y="386319"/>
                  </a:lnTo>
                  <a:cubicBezTo>
                    <a:pt x="1550879" y="442750"/>
                    <a:pt x="1505132" y="488497"/>
                    <a:pt x="1448701" y="488497"/>
                  </a:cubicBezTo>
                  <a:lnTo>
                    <a:pt x="102178" y="488497"/>
                  </a:lnTo>
                  <a:cubicBezTo>
                    <a:pt x="75079" y="488497"/>
                    <a:pt x="49089" y="477732"/>
                    <a:pt x="29927" y="458570"/>
                  </a:cubicBezTo>
                  <a:cubicBezTo>
                    <a:pt x="10765" y="439408"/>
                    <a:pt x="0" y="413418"/>
                    <a:pt x="0" y="386319"/>
                  </a:cubicBezTo>
                  <a:lnTo>
                    <a:pt x="0" y="102178"/>
                  </a:lnTo>
                  <a:cubicBezTo>
                    <a:pt x="0" y="75079"/>
                    <a:pt x="10765" y="49089"/>
                    <a:pt x="29927" y="29927"/>
                  </a:cubicBezTo>
                  <a:cubicBezTo>
                    <a:pt x="49089" y="10765"/>
                    <a:pt x="75079" y="0"/>
                    <a:pt x="102178" y="0"/>
                  </a:cubicBezTo>
                  <a:close/>
                </a:path>
              </a:pathLst>
            </a:custGeom>
            <a:solidFill>
              <a:srgbClr val="8AB8D3"/>
            </a:solidFill>
          </p:spPr>
        </p:sp>
        <p:sp>
          <p:nvSpPr>
            <p:cNvPr name="TextBox 13" id="13"/>
            <p:cNvSpPr txBox="true"/>
            <p:nvPr/>
          </p:nvSpPr>
          <p:spPr>
            <a:xfrm>
              <a:off x="0" y="-38100"/>
              <a:ext cx="1550879" cy="526597"/>
            </a:xfrm>
            <a:prstGeom prst="rect">
              <a:avLst/>
            </a:prstGeom>
          </p:spPr>
          <p:txBody>
            <a:bodyPr anchor="ctr" rtlCol="false" tIns="47086" lIns="47086" bIns="47086" rIns="47086"/>
            <a:lstStyle/>
            <a:p>
              <a:pPr algn="just">
                <a:lnSpc>
                  <a:spcPts val="2659"/>
                </a:lnSpc>
              </a:pPr>
            </a:p>
          </p:txBody>
        </p:sp>
      </p:grpSp>
      <p:grpSp>
        <p:nvGrpSpPr>
          <p:cNvPr name="Group 14" id="14"/>
          <p:cNvGrpSpPr/>
          <p:nvPr/>
        </p:nvGrpSpPr>
        <p:grpSpPr>
          <a:xfrm rot="0">
            <a:off x="9567713" y="2213401"/>
            <a:ext cx="218342" cy="218342"/>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name="TextBox 16" id="16"/>
            <p:cNvSpPr txBox="true"/>
            <p:nvPr/>
          </p:nvSpPr>
          <p:spPr>
            <a:xfrm>
              <a:off x="76200" y="38100"/>
              <a:ext cx="660400" cy="698500"/>
            </a:xfrm>
            <a:prstGeom prst="rect">
              <a:avLst/>
            </a:prstGeom>
          </p:spPr>
          <p:txBody>
            <a:bodyPr anchor="ctr" rtlCol="false" tIns="47086" lIns="47086" bIns="47086" rIns="47086"/>
            <a:lstStyle/>
            <a:p>
              <a:pPr algn="ctr">
                <a:lnSpc>
                  <a:spcPts val="2659"/>
                </a:lnSpc>
                <a:spcBef>
                  <a:spcPct val="0"/>
                </a:spcBef>
              </a:pPr>
            </a:p>
          </p:txBody>
        </p:sp>
      </p:grpSp>
      <p:grpSp>
        <p:nvGrpSpPr>
          <p:cNvPr name="Group 17" id="17"/>
          <p:cNvGrpSpPr/>
          <p:nvPr/>
        </p:nvGrpSpPr>
        <p:grpSpPr>
          <a:xfrm rot="0">
            <a:off x="9676884" y="5034329"/>
            <a:ext cx="218342" cy="218342"/>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name="TextBox 19" id="19"/>
            <p:cNvSpPr txBox="true"/>
            <p:nvPr/>
          </p:nvSpPr>
          <p:spPr>
            <a:xfrm>
              <a:off x="76200" y="38100"/>
              <a:ext cx="660400" cy="698500"/>
            </a:xfrm>
            <a:prstGeom prst="rect">
              <a:avLst/>
            </a:prstGeom>
          </p:spPr>
          <p:txBody>
            <a:bodyPr anchor="ctr" rtlCol="false" tIns="47086" lIns="47086" bIns="47086" rIns="47086"/>
            <a:lstStyle/>
            <a:p>
              <a:pPr algn="ctr">
                <a:lnSpc>
                  <a:spcPts val="2659"/>
                </a:lnSpc>
                <a:spcBef>
                  <a:spcPct val="0"/>
                </a:spcBef>
              </a:pPr>
            </a:p>
          </p:txBody>
        </p:sp>
      </p:grpSp>
      <p:grpSp>
        <p:nvGrpSpPr>
          <p:cNvPr name="Group 20" id="20"/>
          <p:cNvGrpSpPr/>
          <p:nvPr/>
        </p:nvGrpSpPr>
        <p:grpSpPr>
          <a:xfrm rot="0">
            <a:off x="10305123" y="6788858"/>
            <a:ext cx="7782691" cy="2668863"/>
            <a:chOff x="0" y="0"/>
            <a:chExt cx="1593003" cy="546277"/>
          </a:xfrm>
        </p:grpSpPr>
        <p:sp>
          <p:nvSpPr>
            <p:cNvPr name="Freeform 21" id="21"/>
            <p:cNvSpPr/>
            <p:nvPr/>
          </p:nvSpPr>
          <p:spPr>
            <a:xfrm flipH="false" flipV="false" rot="0">
              <a:off x="0" y="0"/>
              <a:ext cx="1593003" cy="546277"/>
            </a:xfrm>
            <a:custGeom>
              <a:avLst/>
              <a:gdLst/>
              <a:ahLst/>
              <a:cxnLst/>
              <a:rect r="r" b="b" t="t" l="l"/>
              <a:pathLst>
                <a:path h="546277" w="1593003">
                  <a:moveTo>
                    <a:pt x="99476" y="0"/>
                  </a:moveTo>
                  <a:lnTo>
                    <a:pt x="1493527" y="0"/>
                  </a:lnTo>
                  <a:cubicBezTo>
                    <a:pt x="1519910" y="0"/>
                    <a:pt x="1545212" y="10480"/>
                    <a:pt x="1563867" y="29136"/>
                  </a:cubicBezTo>
                  <a:cubicBezTo>
                    <a:pt x="1582523" y="47791"/>
                    <a:pt x="1593003" y="73093"/>
                    <a:pt x="1593003" y="99476"/>
                  </a:cubicBezTo>
                  <a:lnTo>
                    <a:pt x="1593003" y="446801"/>
                  </a:lnTo>
                  <a:cubicBezTo>
                    <a:pt x="1593003" y="473184"/>
                    <a:pt x="1582523" y="498486"/>
                    <a:pt x="1563867" y="517141"/>
                  </a:cubicBezTo>
                  <a:cubicBezTo>
                    <a:pt x="1545212" y="535797"/>
                    <a:pt x="1519910" y="546277"/>
                    <a:pt x="1493527" y="546277"/>
                  </a:cubicBezTo>
                  <a:lnTo>
                    <a:pt x="99476" y="546277"/>
                  </a:lnTo>
                  <a:cubicBezTo>
                    <a:pt x="44537" y="546277"/>
                    <a:pt x="0" y="501740"/>
                    <a:pt x="0" y="446801"/>
                  </a:cubicBezTo>
                  <a:lnTo>
                    <a:pt x="0" y="99476"/>
                  </a:lnTo>
                  <a:cubicBezTo>
                    <a:pt x="0" y="73093"/>
                    <a:pt x="10480" y="47791"/>
                    <a:pt x="29136" y="29136"/>
                  </a:cubicBezTo>
                  <a:cubicBezTo>
                    <a:pt x="47791" y="10480"/>
                    <a:pt x="73093" y="0"/>
                    <a:pt x="99476" y="0"/>
                  </a:cubicBezTo>
                  <a:close/>
                </a:path>
              </a:pathLst>
            </a:custGeom>
            <a:solidFill>
              <a:srgbClr val="8AB8D3"/>
            </a:solidFill>
          </p:spPr>
        </p:sp>
        <p:sp>
          <p:nvSpPr>
            <p:cNvPr name="TextBox 22" id="22"/>
            <p:cNvSpPr txBox="true"/>
            <p:nvPr/>
          </p:nvSpPr>
          <p:spPr>
            <a:xfrm>
              <a:off x="0" y="-38100"/>
              <a:ext cx="1593003" cy="584377"/>
            </a:xfrm>
            <a:prstGeom prst="rect">
              <a:avLst/>
            </a:prstGeom>
          </p:spPr>
          <p:txBody>
            <a:bodyPr anchor="ctr" rtlCol="false" tIns="47086" lIns="47086" bIns="47086" rIns="47086"/>
            <a:lstStyle/>
            <a:p>
              <a:pPr algn="just">
                <a:lnSpc>
                  <a:spcPts val="2659"/>
                </a:lnSpc>
              </a:pPr>
            </a:p>
          </p:txBody>
        </p:sp>
      </p:grpSp>
      <p:sp>
        <p:nvSpPr>
          <p:cNvPr name="TextBox 23" id="23"/>
          <p:cNvSpPr txBox="true"/>
          <p:nvPr/>
        </p:nvSpPr>
        <p:spPr>
          <a:xfrm rot="0">
            <a:off x="10619973" y="7031398"/>
            <a:ext cx="7262041" cy="2455720"/>
          </a:xfrm>
          <a:prstGeom prst="rect">
            <a:avLst/>
          </a:prstGeom>
        </p:spPr>
        <p:txBody>
          <a:bodyPr anchor="t" rtlCol="false" tIns="0" lIns="0" bIns="0" rIns="0">
            <a:spAutoFit/>
          </a:bodyPr>
          <a:lstStyle/>
          <a:p>
            <a:pPr algn="just">
              <a:lnSpc>
                <a:spcPts val="3245"/>
              </a:lnSpc>
              <a:spcBef>
                <a:spcPct val="0"/>
              </a:spcBef>
            </a:pPr>
            <a:r>
              <a:rPr lang="en-US" b="true" sz="2318">
                <a:solidFill>
                  <a:srgbClr val="3B3B3B"/>
                </a:solidFill>
                <a:latin typeface="Poppins Bold"/>
                <a:ea typeface="Poppins Bold"/>
                <a:cs typeface="Poppins Bold"/>
                <a:sym typeface="Poppins Bold"/>
              </a:rPr>
              <a:t>How to develop a web-based dashboard capable of displaying real-time weather data while providing access to historical data in the form of easy-to-understand visualizations and reports?</a:t>
            </a:r>
          </a:p>
          <a:p>
            <a:pPr algn="just">
              <a:lnSpc>
                <a:spcPts val="3245"/>
              </a:lnSpc>
              <a:spcBef>
                <a:spcPct val="0"/>
              </a:spcBef>
            </a:pPr>
          </a:p>
        </p:txBody>
      </p:sp>
      <p:grpSp>
        <p:nvGrpSpPr>
          <p:cNvPr name="Group 24" id="24"/>
          <p:cNvGrpSpPr/>
          <p:nvPr/>
        </p:nvGrpSpPr>
        <p:grpSpPr>
          <a:xfrm rot="0">
            <a:off x="9786055" y="8145278"/>
            <a:ext cx="218342" cy="218342"/>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name="TextBox 26" id="26"/>
            <p:cNvSpPr txBox="true"/>
            <p:nvPr/>
          </p:nvSpPr>
          <p:spPr>
            <a:xfrm>
              <a:off x="76200" y="38100"/>
              <a:ext cx="660400" cy="698500"/>
            </a:xfrm>
            <a:prstGeom prst="rect">
              <a:avLst/>
            </a:prstGeom>
          </p:spPr>
          <p:txBody>
            <a:bodyPr anchor="ctr" rtlCol="false" tIns="47086" lIns="47086" bIns="47086" rIns="47086"/>
            <a:lstStyle/>
            <a:p>
              <a:pPr algn="ctr">
                <a:lnSpc>
                  <a:spcPts val="2659"/>
                </a:lnSpc>
                <a:spcBef>
                  <a:spcPct val="0"/>
                </a:spcBef>
              </a:pPr>
            </a:p>
          </p:txBody>
        </p:sp>
      </p:grpSp>
      <p:grpSp>
        <p:nvGrpSpPr>
          <p:cNvPr name="Group 27" id="27"/>
          <p:cNvGrpSpPr/>
          <p:nvPr/>
        </p:nvGrpSpPr>
        <p:grpSpPr>
          <a:xfrm rot="0">
            <a:off x="-5028295" y="-2149242"/>
            <a:ext cx="14585483" cy="14585483"/>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name="TextBox 29" id="2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30" id="30"/>
          <p:cNvSpPr/>
          <p:nvPr/>
        </p:nvSpPr>
        <p:spPr>
          <a:xfrm flipH="false" flipV="false" rot="0">
            <a:off x="-3616796" y="-529054"/>
            <a:ext cx="12531371" cy="12515707"/>
          </a:xfrm>
          <a:custGeom>
            <a:avLst/>
            <a:gdLst/>
            <a:ahLst/>
            <a:cxnLst/>
            <a:rect r="r" b="b" t="t" l="l"/>
            <a:pathLst>
              <a:path h="12515707" w="12531371">
                <a:moveTo>
                  <a:pt x="0" y="0"/>
                </a:moveTo>
                <a:lnTo>
                  <a:pt x="12531370" y="0"/>
                </a:lnTo>
                <a:lnTo>
                  <a:pt x="12531370" y="12515706"/>
                </a:lnTo>
                <a:lnTo>
                  <a:pt x="0" y="12515706"/>
                </a:lnTo>
                <a:lnTo>
                  <a:pt x="0" y="0"/>
                </a:lnTo>
                <a:close/>
              </a:path>
            </a:pathLst>
          </a:custGeom>
          <a:blipFill>
            <a:blip r:embed="rId2"/>
            <a:stretch>
              <a:fillRect l="0" t="0" r="0" b="0"/>
            </a:stretch>
          </a:blipFill>
        </p:spPr>
      </p:sp>
      <p:grpSp>
        <p:nvGrpSpPr>
          <p:cNvPr name="Group 31" id="31"/>
          <p:cNvGrpSpPr/>
          <p:nvPr/>
        </p:nvGrpSpPr>
        <p:grpSpPr>
          <a:xfrm rot="0">
            <a:off x="-3908961" y="-1029908"/>
            <a:ext cx="12346817" cy="12346817"/>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3" id="3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34" id="34"/>
          <p:cNvGrpSpPr/>
          <p:nvPr/>
        </p:nvGrpSpPr>
        <p:grpSpPr>
          <a:xfrm rot="0">
            <a:off x="17293116" y="9487118"/>
            <a:ext cx="951769" cy="799882"/>
            <a:chOff x="0" y="0"/>
            <a:chExt cx="1269026" cy="1066510"/>
          </a:xfrm>
        </p:grpSpPr>
        <p:grpSp>
          <p:nvGrpSpPr>
            <p:cNvPr name="Group 35" id="35"/>
            <p:cNvGrpSpPr/>
            <p:nvPr/>
          </p:nvGrpSpPr>
          <p:grpSpPr>
            <a:xfrm rot="0">
              <a:off x="0" y="0"/>
              <a:ext cx="1269026" cy="1066510"/>
              <a:chOff x="0" y="0"/>
              <a:chExt cx="967140" cy="812800"/>
            </a:xfrm>
          </p:grpSpPr>
          <p:sp>
            <p:nvSpPr>
              <p:cNvPr name="Freeform 36" id="36"/>
              <p:cNvSpPr/>
              <p:nvPr/>
            </p:nvSpPr>
            <p:spPr>
              <a:xfrm flipH="false" flipV="false" rot="0">
                <a:off x="0" y="0"/>
                <a:ext cx="967140" cy="812800"/>
              </a:xfrm>
              <a:custGeom>
                <a:avLst/>
                <a:gdLst/>
                <a:ahLst/>
                <a:cxnLst/>
                <a:rect r="r" b="b" t="t" l="l"/>
                <a:pathLst>
                  <a:path h="812800" w="96714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name="TextBox 37" id="37"/>
              <p:cNvSpPr txBox="true"/>
              <p:nvPr/>
            </p:nvSpPr>
            <p:spPr>
              <a:xfrm>
                <a:off x="0" y="-38100"/>
                <a:ext cx="967140" cy="850900"/>
              </a:xfrm>
              <a:prstGeom prst="rect">
                <a:avLst/>
              </a:prstGeom>
            </p:spPr>
            <p:txBody>
              <a:bodyPr anchor="ctr" rtlCol="false" tIns="50800" lIns="50800" bIns="50800" rIns="50800"/>
              <a:lstStyle/>
              <a:p>
                <a:pPr algn="ctr">
                  <a:lnSpc>
                    <a:spcPts val="2659"/>
                  </a:lnSpc>
                </a:pPr>
              </a:p>
            </p:txBody>
          </p:sp>
        </p:grpSp>
        <p:sp>
          <p:nvSpPr>
            <p:cNvPr name="TextBox 38" id="38"/>
            <p:cNvSpPr txBox="true"/>
            <p:nvPr/>
          </p:nvSpPr>
          <p:spPr>
            <a:xfrm rot="0">
              <a:off x="243441" y="349060"/>
              <a:ext cx="590330" cy="331224"/>
            </a:xfrm>
            <a:prstGeom prst="rect">
              <a:avLst/>
            </a:prstGeom>
          </p:spPr>
          <p:txBody>
            <a:bodyPr anchor="t" rtlCol="false" tIns="0" lIns="0" bIns="0" rIns="0">
              <a:spAutoFit/>
            </a:bodyPr>
            <a:lstStyle/>
            <a:p>
              <a:pPr algn="ctr">
                <a:lnSpc>
                  <a:spcPts val="2057"/>
                </a:lnSpc>
                <a:spcBef>
                  <a:spcPct val="0"/>
                </a:spcBef>
              </a:pPr>
              <a:r>
                <a:rPr lang="en-US" b="true" sz="1469">
                  <a:solidFill>
                    <a:srgbClr val="FFFFFF"/>
                  </a:solidFill>
                  <a:latin typeface="Poppins Bold"/>
                  <a:ea typeface="Poppins Bold"/>
                  <a:cs typeface="Poppins Bold"/>
                  <a:sym typeface="Poppins Bold"/>
                </a:rPr>
                <a:t>04</a:t>
              </a:r>
            </a:p>
          </p:txBody>
        </p:sp>
      </p:grpSp>
      <p:sp>
        <p:nvSpPr>
          <p:cNvPr name="Freeform 39" id="39"/>
          <p:cNvSpPr/>
          <p:nvPr/>
        </p:nvSpPr>
        <p:spPr>
          <a:xfrm flipH="false" flipV="false" rot="0">
            <a:off x="3509892" y="3313366"/>
            <a:ext cx="1138768" cy="1138768"/>
          </a:xfrm>
          <a:custGeom>
            <a:avLst/>
            <a:gdLst/>
            <a:ahLst/>
            <a:cxnLst/>
            <a:rect r="r" b="b" t="t" l="l"/>
            <a:pathLst>
              <a:path h="1138768" w="1138768">
                <a:moveTo>
                  <a:pt x="0" y="0"/>
                </a:moveTo>
                <a:lnTo>
                  <a:pt x="1138768" y="0"/>
                </a:lnTo>
                <a:lnTo>
                  <a:pt x="1138768" y="1138768"/>
                </a:lnTo>
                <a:lnTo>
                  <a:pt x="0" y="11387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0" id="40"/>
          <p:cNvSpPr txBox="true"/>
          <p:nvPr/>
        </p:nvSpPr>
        <p:spPr>
          <a:xfrm rot="0">
            <a:off x="2104788" y="4621483"/>
            <a:ext cx="3948976" cy="1617992"/>
          </a:xfrm>
          <a:prstGeom prst="rect">
            <a:avLst/>
          </a:prstGeom>
        </p:spPr>
        <p:txBody>
          <a:bodyPr anchor="t" rtlCol="false" tIns="0" lIns="0" bIns="0" rIns="0">
            <a:spAutoFit/>
          </a:bodyPr>
          <a:lstStyle/>
          <a:p>
            <a:pPr algn="ctr">
              <a:lnSpc>
                <a:spcPts val="6385"/>
              </a:lnSpc>
              <a:spcBef>
                <a:spcPct val="0"/>
              </a:spcBef>
            </a:pPr>
            <a:r>
              <a:rPr lang="en-US" b="true" sz="4560">
                <a:solidFill>
                  <a:srgbClr val="1F2020"/>
                </a:solidFill>
                <a:latin typeface="Poppins Bold"/>
                <a:ea typeface="Poppins Bold"/>
                <a:cs typeface="Poppins Bold"/>
                <a:sym typeface="Poppins Bold"/>
              </a:rPr>
              <a:t>RESEARCH QUESTION</a:t>
            </a:r>
          </a:p>
        </p:txBody>
      </p:sp>
      <p:sp>
        <p:nvSpPr>
          <p:cNvPr name="TextBox 41" id="41"/>
          <p:cNvSpPr txBox="true"/>
          <p:nvPr/>
        </p:nvSpPr>
        <p:spPr>
          <a:xfrm rot="0">
            <a:off x="10825773" y="4201023"/>
            <a:ext cx="6666026" cy="2046145"/>
          </a:xfrm>
          <a:prstGeom prst="rect">
            <a:avLst/>
          </a:prstGeom>
        </p:spPr>
        <p:txBody>
          <a:bodyPr anchor="t" rtlCol="false" tIns="0" lIns="0" bIns="0" rIns="0">
            <a:spAutoFit/>
          </a:bodyPr>
          <a:lstStyle/>
          <a:p>
            <a:pPr algn="just">
              <a:lnSpc>
                <a:spcPts val="3245"/>
              </a:lnSpc>
              <a:spcBef>
                <a:spcPct val="0"/>
              </a:spcBef>
            </a:pPr>
            <a:r>
              <a:rPr lang="en-US" b="true" sz="2318">
                <a:solidFill>
                  <a:srgbClr val="3B3B3B"/>
                </a:solidFill>
                <a:latin typeface="Poppins Bold"/>
                <a:ea typeface="Poppins Bold"/>
                <a:cs typeface="Poppins Bold"/>
                <a:sym typeface="Poppins Bold"/>
              </a:rPr>
              <a:t>How to implement a weather data storage and management system so that historical data can be stored securely and accessed and downloaded as needed by users?</a:t>
            </a:r>
          </a:p>
          <a:p>
            <a:pPr algn="just">
              <a:lnSpc>
                <a:spcPts val="3245"/>
              </a:lnSpc>
              <a:spcBef>
                <a:spcPct val="0"/>
              </a:spcBef>
            </a:pPr>
          </a:p>
        </p:txBody>
      </p:sp>
      <p:sp>
        <p:nvSpPr>
          <p:cNvPr name="TextBox 42" id="42"/>
          <p:cNvSpPr txBox="true"/>
          <p:nvPr/>
        </p:nvSpPr>
        <p:spPr>
          <a:xfrm rot="0">
            <a:off x="10863456" y="1260764"/>
            <a:ext cx="6666026" cy="2455720"/>
          </a:xfrm>
          <a:prstGeom prst="rect">
            <a:avLst/>
          </a:prstGeom>
        </p:spPr>
        <p:txBody>
          <a:bodyPr anchor="t" rtlCol="false" tIns="0" lIns="0" bIns="0" rIns="0">
            <a:spAutoFit/>
          </a:bodyPr>
          <a:lstStyle/>
          <a:p>
            <a:pPr algn="just">
              <a:lnSpc>
                <a:spcPts val="3245"/>
              </a:lnSpc>
            </a:pPr>
            <a:r>
              <a:rPr lang="en-US" sz="2318" b="true">
                <a:solidFill>
                  <a:srgbClr val="3B3B3B"/>
                </a:solidFill>
                <a:latin typeface="Poppins Bold"/>
                <a:ea typeface="Poppins Bold"/>
                <a:cs typeface="Poppins Bold"/>
                <a:sym typeface="Poppins Bold"/>
              </a:rPr>
              <a:t>How to design and build an IoT-based weather data monitoring system capable of reading and transmitting real-time data on temperature, humidity, light intensity, rainfall, and wind speed?</a:t>
            </a:r>
          </a:p>
          <a:p>
            <a:pPr algn="just">
              <a:lnSpc>
                <a:spcPts val="3245"/>
              </a:lnSpc>
              <a:spcBef>
                <a:spcPct val="0"/>
              </a:spcBef>
            </a:pPr>
          </a:p>
        </p:txBody>
      </p:sp>
      <p:grpSp>
        <p:nvGrpSpPr>
          <p:cNvPr name="Group 43" id="43"/>
          <p:cNvGrpSpPr/>
          <p:nvPr/>
        </p:nvGrpSpPr>
        <p:grpSpPr>
          <a:xfrm rot="0">
            <a:off x="212689" y="314984"/>
            <a:ext cx="2721375" cy="622549"/>
            <a:chOff x="0" y="0"/>
            <a:chExt cx="3628500" cy="830065"/>
          </a:xfrm>
        </p:grpSpPr>
        <p:sp>
          <p:nvSpPr>
            <p:cNvPr name="TextBox 44" id="44"/>
            <p:cNvSpPr txBox="true"/>
            <p:nvPr/>
          </p:nvSpPr>
          <p:spPr>
            <a:xfrm rot="0">
              <a:off x="1065319" y="267078"/>
              <a:ext cx="2563180" cy="267335"/>
            </a:xfrm>
            <a:prstGeom prst="rect">
              <a:avLst/>
            </a:prstGeom>
          </p:spPr>
          <p:txBody>
            <a:bodyPr anchor="t" rtlCol="false" tIns="0" lIns="0" bIns="0" rIns="0">
              <a:spAutoFit/>
            </a:bodyPr>
            <a:lstStyle/>
            <a:p>
              <a:pPr algn="l">
                <a:lnSpc>
                  <a:spcPts val="1680"/>
                </a:lnSpc>
                <a:spcBef>
                  <a:spcPct val="0"/>
                </a:spcBef>
              </a:pPr>
              <a:r>
                <a:rPr lang="en-US" b="true" sz="1200">
                  <a:solidFill>
                    <a:srgbClr val="1F2020"/>
                  </a:solidFill>
                  <a:latin typeface="Poppins Bold"/>
                  <a:ea typeface="Poppins Bold"/>
                  <a:cs typeface="Poppins Bold"/>
                  <a:sym typeface="Poppins Bold"/>
                </a:rPr>
                <a:t>Institut Teknologi Del</a:t>
              </a:r>
            </a:p>
          </p:txBody>
        </p:sp>
        <p:sp>
          <p:nvSpPr>
            <p:cNvPr name="Freeform 45" id="45"/>
            <p:cNvSpPr/>
            <p:nvPr/>
          </p:nvSpPr>
          <p:spPr>
            <a:xfrm flipH="false" flipV="false" rot="0">
              <a:off x="0" y="0"/>
              <a:ext cx="868292" cy="830065"/>
            </a:xfrm>
            <a:custGeom>
              <a:avLst/>
              <a:gdLst/>
              <a:ahLst/>
              <a:cxnLst/>
              <a:rect r="r" b="b" t="t" l="l"/>
              <a:pathLst>
                <a:path h="830065" w="868292">
                  <a:moveTo>
                    <a:pt x="0" y="0"/>
                  </a:moveTo>
                  <a:lnTo>
                    <a:pt x="868292" y="0"/>
                  </a:lnTo>
                  <a:lnTo>
                    <a:pt x="868292" y="830065"/>
                  </a:lnTo>
                  <a:lnTo>
                    <a:pt x="0" y="830065"/>
                  </a:lnTo>
                  <a:lnTo>
                    <a:pt x="0" y="0"/>
                  </a:lnTo>
                  <a:close/>
                </a:path>
              </a:pathLst>
            </a:custGeom>
            <a:blipFill>
              <a:blip r:embed="rId5"/>
              <a:stretch>
                <a:fillRect l="0" t="0" r="0"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028384" y="-4249259"/>
            <a:ext cx="13240663" cy="1324066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just">
                <a:lnSpc>
                  <a:spcPts val="2659"/>
                </a:lnSpc>
                <a:spcBef>
                  <a:spcPct val="0"/>
                </a:spcBef>
              </a:pPr>
            </a:p>
          </p:txBody>
        </p:sp>
      </p:grpSp>
      <p:sp>
        <p:nvSpPr>
          <p:cNvPr name="Freeform 5" id="5"/>
          <p:cNvSpPr/>
          <p:nvPr/>
        </p:nvSpPr>
        <p:spPr>
          <a:xfrm flipH="false" flipV="false" rot="0">
            <a:off x="10425354" y="-2592838"/>
            <a:ext cx="11375945" cy="11361725"/>
          </a:xfrm>
          <a:custGeom>
            <a:avLst/>
            <a:gdLst/>
            <a:ahLst/>
            <a:cxnLst/>
            <a:rect r="r" b="b" t="t" l="l"/>
            <a:pathLst>
              <a:path h="11361725" w="11375945">
                <a:moveTo>
                  <a:pt x="0" y="0"/>
                </a:moveTo>
                <a:lnTo>
                  <a:pt x="11375946" y="0"/>
                </a:lnTo>
                <a:lnTo>
                  <a:pt x="11375946" y="11361725"/>
                </a:lnTo>
                <a:lnTo>
                  <a:pt x="0" y="11361725"/>
                </a:lnTo>
                <a:lnTo>
                  <a:pt x="0" y="0"/>
                </a:lnTo>
                <a:close/>
              </a:path>
            </a:pathLst>
          </a:custGeom>
          <a:blipFill>
            <a:blip r:embed="rId2"/>
            <a:stretch>
              <a:fillRect l="0" t="0" r="0" b="0"/>
            </a:stretch>
          </a:blipFill>
        </p:spPr>
      </p:sp>
      <p:grpSp>
        <p:nvGrpSpPr>
          <p:cNvPr name="Group 6" id="6"/>
          <p:cNvGrpSpPr/>
          <p:nvPr/>
        </p:nvGrpSpPr>
        <p:grpSpPr>
          <a:xfrm rot="0">
            <a:off x="10160128" y="-2966235"/>
            <a:ext cx="11208407" cy="1120840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just">
                <a:lnSpc>
                  <a:spcPts val="2659"/>
                </a:lnSpc>
                <a:spcBef>
                  <a:spcPct val="0"/>
                </a:spcBef>
              </a:pPr>
            </a:p>
          </p:txBody>
        </p:sp>
      </p:grpSp>
      <p:grpSp>
        <p:nvGrpSpPr>
          <p:cNvPr name="Group 9" id="9"/>
          <p:cNvGrpSpPr/>
          <p:nvPr/>
        </p:nvGrpSpPr>
        <p:grpSpPr>
          <a:xfrm rot="0">
            <a:off x="17293116" y="565634"/>
            <a:ext cx="397367" cy="28996"/>
            <a:chOff x="0" y="0"/>
            <a:chExt cx="128243" cy="9358"/>
          </a:xfrm>
        </p:grpSpPr>
        <p:sp>
          <p:nvSpPr>
            <p:cNvPr name="Freeform 10" id="10"/>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11" id="11"/>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7293116" y="657737"/>
            <a:ext cx="397367" cy="28996"/>
            <a:chOff x="0" y="0"/>
            <a:chExt cx="128243" cy="9358"/>
          </a:xfrm>
        </p:grpSpPr>
        <p:sp>
          <p:nvSpPr>
            <p:cNvPr name="Freeform 13" id="1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14" id="1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7491799" y="8377141"/>
            <a:ext cx="951769" cy="799882"/>
            <a:chOff x="0" y="0"/>
            <a:chExt cx="967140" cy="812800"/>
          </a:xfrm>
        </p:grpSpPr>
        <p:sp>
          <p:nvSpPr>
            <p:cNvPr name="Freeform 16" id="16"/>
            <p:cNvSpPr/>
            <p:nvPr/>
          </p:nvSpPr>
          <p:spPr>
            <a:xfrm flipH="false" flipV="false" rot="0">
              <a:off x="0" y="0"/>
              <a:ext cx="967140" cy="812800"/>
            </a:xfrm>
            <a:custGeom>
              <a:avLst/>
              <a:gdLst/>
              <a:ahLst/>
              <a:cxnLst/>
              <a:rect r="r" b="b" t="t" l="l"/>
              <a:pathLst>
                <a:path h="812800" w="96714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name="TextBox 17" id="17"/>
            <p:cNvSpPr txBox="true"/>
            <p:nvPr/>
          </p:nvSpPr>
          <p:spPr>
            <a:xfrm>
              <a:off x="0" y="-38100"/>
              <a:ext cx="967140" cy="850900"/>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14690785" y="2023242"/>
            <a:ext cx="2018214" cy="1900791"/>
          </a:xfrm>
          <a:custGeom>
            <a:avLst/>
            <a:gdLst/>
            <a:ahLst/>
            <a:cxnLst/>
            <a:rect r="r" b="b" t="t" l="l"/>
            <a:pathLst>
              <a:path h="1900791" w="2018214">
                <a:moveTo>
                  <a:pt x="0" y="0"/>
                </a:moveTo>
                <a:lnTo>
                  <a:pt x="2018214" y="0"/>
                </a:lnTo>
                <a:lnTo>
                  <a:pt x="2018214" y="1900791"/>
                </a:lnTo>
                <a:lnTo>
                  <a:pt x="0" y="19007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9" id="19"/>
          <p:cNvSpPr txBox="true"/>
          <p:nvPr/>
        </p:nvSpPr>
        <p:spPr>
          <a:xfrm rot="0">
            <a:off x="13725404" y="4025415"/>
            <a:ext cx="3948976" cy="817749"/>
          </a:xfrm>
          <a:prstGeom prst="rect">
            <a:avLst/>
          </a:prstGeom>
        </p:spPr>
        <p:txBody>
          <a:bodyPr anchor="t" rtlCol="false" tIns="0" lIns="0" bIns="0" rIns="0">
            <a:spAutoFit/>
          </a:bodyPr>
          <a:lstStyle/>
          <a:p>
            <a:pPr algn="ctr">
              <a:lnSpc>
                <a:spcPts val="6385"/>
              </a:lnSpc>
              <a:spcBef>
                <a:spcPct val="0"/>
              </a:spcBef>
            </a:pPr>
            <a:r>
              <a:rPr lang="en-US" b="true" sz="4560">
                <a:solidFill>
                  <a:srgbClr val="1F2020"/>
                </a:solidFill>
                <a:latin typeface="Poppins Bold"/>
                <a:ea typeface="Poppins Bold"/>
                <a:cs typeface="Poppins Bold"/>
                <a:sym typeface="Poppins Bold"/>
              </a:rPr>
              <a:t>OBJECTIVES</a:t>
            </a:r>
          </a:p>
        </p:txBody>
      </p:sp>
      <p:sp>
        <p:nvSpPr>
          <p:cNvPr name="TextBox 20" id="20"/>
          <p:cNvSpPr txBox="true"/>
          <p:nvPr/>
        </p:nvSpPr>
        <p:spPr>
          <a:xfrm rot="0">
            <a:off x="15940842" y="508149"/>
            <a:ext cx="978460" cy="207496"/>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Poppins"/>
                <a:ea typeface="Poppins"/>
                <a:cs typeface="Poppins"/>
                <a:sym typeface="Poppins"/>
              </a:rPr>
              <a:t>Contact</a:t>
            </a:r>
          </a:p>
        </p:txBody>
      </p:sp>
      <p:sp>
        <p:nvSpPr>
          <p:cNvPr name="TextBox 21" id="21"/>
          <p:cNvSpPr txBox="true"/>
          <p:nvPr/>
        </p:nvSpPr>
        <p:spPr>
          <a:xfrm rot="0">
            <a:off x="14385046" y="508149"/>
            <a:ext cx="1060497" cy="207496"/>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Poppins"/>
                <a:ea typeface="Poppins"/>
                <a:cs typeface="Poppins"/>
                <a:sym typeface="Poppins"/>
              </a:rPr>
              <a:t>About Us</a:t>
            </a:r>
          </a:p>
        </p:txBody>
      </p:sp>
      <p:sp>
        <p:nvSpPr>
          <p:cNvPr name="TextBox 22" id="22"/>
          <p:cNvSpPr txBox="true"/>
          <p:nvPr/>
        </p:nvSpPr>
        <p:spPr>
          <a:xfrm rot="0">
            <a:off x="13154289" y="508149"/>
            <a:ext cx="735456" cy="207496"/>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Poppins"/>
                <a:ea typeface="Poppins"/>
                <a:cs typeface="Poppins"/>
                <a:sym typeface="Poppins"/>
              </a:rPr>
              <a:t>Service</a:t>
            </a:r>
          </a:p>
        </p:txBody>
      </p:sp>
      <p:sp>
        <p:nvSpPr>
          <p:cNvPr name="TextBox 23" id="23"/>
          <p:cNvSpPr txBox="true"/>
          <p:nvPr/>
        </p:nvSpPr>
        <p:spPr>
          <a:xfrm rot="0">
            <a:off x="11898530" y="508149"/>
            <a:ext cx="809760" cy="207496"/>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Poppins"/>
                <a:ea typeface="Poppins"/>
                <a:cs typeface="Poppins"/>
                <a:sym typeface="Poppins"/>
              </a:rPr>
              <a:t>Home</a:t>
            </a:r>
          </a:p>
        </p:txBody>
      </p:sp>
      <p:sp>
        <p:nvSpPr>
          <p:cNvPr name="TextBox 24" id="24"/>
          <p:cNvSpPr txBox="true"/>
          <p:nvPr/>
        </p:nvSpPr>
        <p:spPr>
          <a:xfrm rot="0">
            <a:off x="17674380" y="8629411"/>
            <a:ext cx="442747" cy="257943"/>
          </a:xfrm>
          <a:prstGeom prst="rect">
            <a:avLst/>
          </a:prstGeom>
        </p:spPr>
        <p:txBody>
          <a:bodyPr anchor="t" rtlCol="false" tIns="0" lIns="0" bIns="0" rIns="0">
            <a:spAutoFit/>
          </a:bodyPr>
          <a:lstStyle/>
          <a:p>
            <a:pPr algn="ctr">
              <a:lnSpc>
                <a:spcPts val="2057"/>
              </a:lnSpc>
              <a:spcBef>
                <a:spcPct val="0"/>
              </a:spcBef>
            </a:pPr>
            <a:r>
              <a:rPr lang="en-US" b="true" sz="1469">
                <a:solidFill>
                  <a:srgbClr val="FFFFFF"/>
                </a:solidFill>
                <a:latin typeface="Poppins Bold"/>
                <a:ea typeface="Poppins Bold"/>
                <a:cs typeface="Poppins Bold"/>
                <a:sym typeface="Poppins Bold"/>
              </a:rPr>
              <a:t>05</a:t>
            </a:r>
          </a:p>
        </p:txBody>
      </p:sp>
      <p:grpSp>
        <p:nvGrpSpPr>
          <p:cNvPr name="Group 25" id="25"/>
          <p:cNvGrpSpPr/>
          <p:nvPr/>
        </p:nvGrpSpPr>
        <p:grpSpPr>
          <a:xfrm rot="0">
            <a:off x="1643628" y="1563677"/>
            <a:ext cx="6521425" cy="2937288"/>
            <a:chOff x="0" y="0"/>
            <a:chExt cx="1334841" cy="601220"/>
          </a:xfrm>
        </p:grpSpPr>
        <p:sp>
          <p:nvSpPr>
            <p:cNvPr name="Freeform 26" id="26"/>
            <p:cNvSpPr/>
            <p:nvPr/>
          </p:nvSpPr>
          <p:spPr>
            <a:xfrm flipH="false" flipV="false" rot="0">
              <a:off x="0" y="0"/>
              <a:ext cx="1334841" cy="601220"/>
            </a:xfrm>
            <a:custGeom>
              <a:avLst/>
              <a:gdLst/>
              <a:ahLst/>
              <a:cxnLst/>
              <a:rect r="r" b="b" t="t" l="l"/>
              <a:pathLst>
                <a:path h="601220" w="1334841">
                  <a:moveTo>
                    <a:pt x="59358" y="0"/>
                  </a:moveTo>
                  <a:lnTo>
                    <a:pt x="1275483" y="0"/>
                  </a:lnTo>
                  <a:cubicBezTo>
                    <a:pt x="1291226" y="0"/>
                    <a:pt x="1306323" y="6254"/>
                    <a:pt x="1317455" y="17385"/>
                  </a:cubicBezTo>
                  <a:cubicBezTo>
                    <a:pt x="1328587" y="28517"/>
                    <a:pt x="1334841" y="43615"/>
                    <a:pt x="1334841" y="59358"/>
                  </a:cubicBezTo>
                  <a:lnTo>
                    <a:pt x="1334841" y="541862"/>
                  </a:lnTo>
                  <a:cubicBezTo>
                    <a:pt x="1334841" y="557605"/>
                    <a:pt x="1328587" y="572703"/>
                    <a:pt x="1317455" y="583834"/>
                  </a:cubicBezTo>
                  <a:cubicBezTo>
                    <a:pt x="1306323" y="594966"/>
                    <a:pt x="1291226" y="601220"/>
                    <a:pt x="1275483" y="601220"/>
                  </a:cubicBezTo>
                  <a:lnTo>
                    <a:pt x="59358" y="601220"/>
                  </a:lnTo>
                  <a:cubicBezTo>
                    <a:pt x="43615" y="601220"/>
                    <a:pt x="28517" y="594966"/>
                    <a:pt x="17385" y="583834"/>
                  </a:cubicBezTo>
                  <a:cubicBezTo>
                    <a:pt x="6254" y="572703"/>
                    <a:pt x="0" y="557605"/>
                    <a:pt x="0" y="541862"/>
                  </a:cubicBezTo>
                  <a:lnTo>
                    <a:pt x="0" y="59358"/>
                  </a:lnTo>
                  <a:cubicBezTo>
                    <a:pt x="0" y="43615"/>
                    <a:pt x="6254" y="28517"/>
                    <a:pt x="17385" y="17385"/>
                  </a:cubicBezTo>
                  <a:cubicBezTo>
                    <a:pt x="28517" y="6254"/>
                    <a:pt x="43615" y="0"/>
                    <a:pt x="59358" y="0"/>
                  </a:cubicBezTo>
                  <a:close/>
                </a:path>
              </a:pathLst>
            </a:custGeom>
            <a:solidFill>
              <a:srgbClr val="E0DFDF"/>
            </a:solidFill>
          </p:spPr>
        </p:sp>
        <p:sp>
          <p:nvSpPr>
            <p:cNvPr name="TextBox 27" id="27"/>
            <p:cNvSpPr txBox="true"/>
            <p:nvPr/>
          </p:nvSpPr>
          <p:spPr>
            <a:xfrm>
              <a:off x="0" y="-38100"/>
              <a:ext cx="1334841" cy="639320"/>
            </a:xfrm>
            <a:prstGeom prst="rect">
              <a:avLst/>
            </a:prstGeom>
          </p:spPr>
          <p:txBody>
            <a:bodyPr anchor="ctr" rtlCol="false" tIns="47086" lIns="47086" bIns="47086" rIns="47086"/>
            <a:lstStyle/>
            <a:p>
              <a:pPr algn="just">
                <a:lnSpc>
                  <a:spcPts val="2659"/>
                </a:lnSpc>
              </a:pPr>
            </a:p>
          </p:txBody>
        </p:sp>
      </p:grpSp>
      <p:sp>
        <p:nvSpPr>
          <p:cNvPr name="TextBox 28" id="28"/>
          <p:cNvSpPr txBox="true"/>
          <p:nvPr/>
        </p:nvSpPr>
        <p:spPr>
          <a:xfrm rot="0">
            <a:off x="1870204" y="1735675"/>
            <a:ext cx="2063297" cy="442728"/>
          </a:xfrm>
          <a:prstGeom prst="rect">
            <a:avLst/>
          </a:prstGeom>
        </p:spPr>
        <p:txBody>
          <a:bodyPr anchor="t" rtlCol="false" tIns="0" lIns="0" bIns="0" rIns="0">
            <a:spAutoFit/>
          </a:bodyPr>
          <a:lstStyle/>
          <a:p>
            <a:pPr algn="just">
              <a:lnSpc>
                <a:spcPts val="3422"/>
              </a:lnSpc>
              <a:spcBef>
                <a:spcPct val="0"/>
              </a:spcBef>
            </a:pPr>
            <a:r>
              <a:rPr lang="en-US" b="true" sz="2444">
                <a:solidFill>
                  <a:srgbClr val="3A6AD6"/>
                </a:solidFill>
                <a:latin typeface="Poppins Bold"/>
                <a:ea typeface="Poppins Bold"/>
                <a:cs typeface="Poppins Bold"/>
                <a:sym typeface="Poppins Bold"/>
              </a:rPr>
              <a:t>Objectives 1</a:t>
            </a:r>
          </a:p>
        </p:txBody>
      </p:sp>
      <p:sp>
        <p:nvSpPr>
          <p:cNvPr name="TextBox 29" id="29"/>
          <p:cNvSpPr txBox="true"/>
          <p:nvPr/>
        </p:nvSpPr>
        <p:spPr>
          <a:xfrm rot="0">
            <a:off x="1870204" y="2370539"/>
            <a:ext cx="5761645" cy="2130425"/>
          </a:xfrm>
          <a:prstGeom prst="rect">
            <a:avLst/>
          </a:prstGeom>
        </p:spPr>
        <p:txBody>
          <a:bodyPr anchor="t" rtlCol="false" tIns="0" lIns="0" bIns="0" rIns="0">
            <a:spAutoFit/>
          </a:bodyPr>
          <a:lstStyle/>
          <a:p>
            <a:pPr algn="just">
              <a:lnSpc>
                <a:spcPts val="2800"/>
              </a:lnSpc>
            </a:pPr>
            <a:r>
              <a:rPr lang="en-US" sz="2000" b="true">
                <a:solidFill>
                  <a:srgbClr val="1F2020"/>
                </a:solidFill>
                <a:latin typeface="Poppins Bold"/>
                <a:ea typeface="Poppins Bold"/>
                <a:cs typeface="Poppins Bold"/>
                <a:sym typeface="Poppins Bold"/>
              </a:rPr>
              <a:t>Building an IoT-based weather monitoring system capable of collecting real-time data on temperature, humidity, light intensity, rainfall, and wind speed, as well as mapping location points.</a:t>
            </a:r>
          </a:p>
          <a:p>
            <a:pPr algn="just">
              <a:lnSpc>
                <a:spcPts val="2800"/>
              </a:lnSpc>
              <a:spcBef>
                <a:spcPct val="0"/>
              </a:spcBef>
            </a:pPr>
          </a:p>
        </p:txBody>
      </p:sp>
      <p:sp>
        <p:nvSpPr>
          <p:cNvPr name="TextBox 30" id="30"/>
          <p:cNvSpPr txBox="true"/>
          <p:nvPr/>
        </p:nvSpPr>
        <p:spPr>
          <a:xfrm rot="0">
            <a:off x="9612823" y="5901086"/>
            <a:ext cx="2046094" cy="442728"/>
          </a:xfrm>
          <a:prstGeom prst="rect">
            <a:avLst/>
          </a:prstGeom>
        </p:spPr>
        <p:txBody>
          <a:bodyPr anchor="t" rtlCol="false" tIns="0" lIns="0" bIns="0" rIns="0">
            <a:spAutoFit/>
          </a:bodyPr>
          <a:lstStyle/>
          <a:p>
            <a:pPr algn="just">
              <a:lnSpc>
                <a:spcPts val="3422"/>
              </a:lnSpc>
              <a:spcBef>
                <a:spcPct val="0"/>
              </a:spcBef>
            </a:pPr>
            <a:r>
              <a:rPr lang="en-US" b="true" sz="2444">
                <a:solidFill>
                  <a:srgbClr val="FFFFFF"/>
                </a:solidFill>
                <a:latin typeface="Poppins Bold"/>
                <a:ea typeface="Poppins Bold"/>
                <a:cs typeface="Poppins Bold"/>
                <a:sym typeface="Poppins Bold"/>
              </a:rPr>
              <a:t>Service 03</a:t>
            </a:r>
          </a:p>
        </p:txBody>
      </p:sp>
      <p:sp>
        <p:nvSpPr>
          <p:cNvPr name="TextBox 31" id="31"/>
          <p:cNvSpPr txBox="true"/>
          <p:nvPr/>
        </p:nvSpPr>
        <p:spPr>
          <a:xfrm rot="0">
            <a:off x="9612823" y="6561596"/>
            <a:ext cx="2363995" cy="1045845"/>
          </a:xfrm>
          <a:prstGeom prst="rect">
            <a:avLst/>
          </a:prstGeom>
        </p:spPr>
        <p:txBody>
          <a:bodyPr anchor="t" rtlCol="false" tIns="0" lIns="0" bIns="0" rIns="0">
            <a:spAutoFit/>
          </a:bodyPr>
          <a:lstStyle/>
          <a:p>
            <a:pPr algn="just">
              <a:lnSpc>
                <a:spcPts val="1680"/>
              </a:lnSpc>
              <a:spcBef>
                <a:spcPct val="0"/>
              </a:spcBef>
            </a:pPr>
            <a:r>
              <a:rPr lang="en-US" sz="1200">
                <a:solidFill>
                  <a:srgbClr val="FFFFFF"/>
                </a:solidFill>
                <a:latin typeface="Poppins"/>
                <a:ea typeface="Poppins"/>
                <a:cs typeface="Poppins"/>
                <a:sym typeface="Poppins"/>
              </a:rPr>
              <a:t>Lorem ipsum dolor sit amet, consectetur adipiscing elit, sed do eiusmod tempor incididunt ut labore et dolore magna aliqua. Ut enim ad</a:t>
            </a:r>
          </a:p>
        </p:txBody>
      </p:sp>
      <p:grpSp>
        <p:nvGrpSpPr>
          <p:cNvPr name="Group 32" id="32"/>
          <p:cNvGrpSpPr/>
          <p:nvPr/>
        </p:nvGrpSpPr>
        <p:grpSpPr>
          <a:xfrm rot="0">
            <a:off x="1528013" y="4689550"/>
            <a:ext cx="6521425" cy="2937288"/>
            <a:chOff x="0" y="0"/>
            <a:chExt cx="1334841" cy="601220"/>
          </a:xfrm>
        </p:grpSpPr>
        <p:sp>
          <p:nvSpPr>
            <p:cNvPr name="Freeform 33" id="33"/>
            <p:cNvSpPr/>
            <p:nvPr/>
          </p:nvSpPr>
          <p:spPr>
            <a:xfrm flipH="false" flipV="false" rot="0">
              <a:off x="0" y="0"/>
              <a:ext cx="1334841" cy="601220"/>
            </a:xfrm>
            <a:custGeom>
              <a:avLst/>
              <a:gdLst/>
              <a:ahLst/>
              <a:cxnLst/>
              <a:rect r="r" b="b" t="t" l="l"/>
              <a:pathLst>
                <a:path h="601220" w="1334841">
                  <a:moveTo>
                    <a:pt x="59358" y="0"/>
                  </a:moveTo>
                  <a:lnTo>
                    <a:pt x="1275483" y="0"/>
                  </a:lnTo>
                  <a:cubicBezTo>
                    <a:pt x="1291226" y="0"/>
                    <a:pt x="1306323" y="6254"/>
                    <a:pt x="1317455" y="17385"/>
                  </a:cubicBezTo>
                  <a:cubicBezTo>
                    <a:pt x="1328587" y="28517"/>
                    <a:pt x="1334841" y="43615"/>
                    <a:pt x="1334841" y="59358"/>
                  </a:cubicBezTo>
                  <a:lnTo>
                    <a:pt x="1334841" y="541862"/>
                  </a:lnTo>
                  <a:cubicBezTo>
                    <a:pt x="1334841" y="557605"/>
                    <a:pt x="1328587" y="572703"/>
                    <a:pt x="1317455" y="583834"/>
                  </a:cubicBezTo>
                  <a:cubicBezTo>
                    <a:pt x="1306323" y="594966"/>
                    <a:pt x="1291226" y="601220"/>
                    <a:pt x="1275483" y="601220"/>
                  </a:cubicBezTo>
                  <a:lnTo>
                    <a:pt x="59358" y="601220"/>
                  </a:lnTo>
                  <a:cubicBezTo>
                    <a:pt x="43615" y="601220"/>
                    <a:pt x="28517" y="594966"/>
                    <a:pt x="17385" y="583834"/>
                  </a:cubicBezTo>
                  <a:cubicBezTo>
                    <a:pt x="6254" y="572703"/>
                    <a:pt x="0" y="557605"/>
                    <a:pt x="0" y="541862"/>
                  </a:cubicBezTo>
                  <a:lnTo>
                    <a:pt x="0" y="59358"/>
                  </a:lnTo>
                  <a:cubicBezTo>
                    <a:pt x="0" y="43615"/>
                    <a:pt x="6254" y="28517"/>
                    <a:pt x="17385" y="17385"/>
                  </a:cubicBezTo>
                  <a:cubicBezTo>
                    <a:pt x="28517" y="6254"/>
                    <a:pt x="43615" y="0"/>
                    <a:pt x="59358" y="0"/>
                  </a:cubicBezTo>
                  <a:close/>
                </a:path>
              </a:pathLst>
            </a:custGeom>
            <a:solidFill>
              <a:srgbClr val="E0DFDF"/>
            </a:solidFill>
          </p:spPr>
        </p:sp>
        <p:sp>
          <p:nvSpPr>
            <p:cNvPr name="TextBox 34" id="34"/>
            <p:cNvSpPr txBox="true"/>
            <p:nvPr/>
          </p:nvSpPr>
          <p:spPr>
            <a:xfrm>
              <a:off x="0" y="-38100"/>
              <a:ext cx="1334841" cy="639320"/>
            </a:xfrm>
            <a:prstGeom prst="rect">
              <a:avLst/>
            </a:prstGeom>
          </p:spPr>
          <p:txBody>
            <a:bodyPr anchor="ctr" rtlCol="false" tIns="47086" lIns="47086" bIns="47086" rIns="47086"/>
            <a:lstStyle/>
            <a:p>
              <a:pPr algn="just">
                <a:lnSpc>
                  <a:spcPts val="2659"/>
                </a:lnSpc>
              </a:pPr>
            </a:p>
          </p:txBody>
        </p:sp>
      </p:grpSp>
      <p:sp>
        <p:nvSpPr>
          <p:cNvPr name="TextBox 35" id="35"/>
          <p:cNvSpPr txBox="true"/>
          <p:nvPr/>
        </p:nvSpPr>
        <p:spPr>
          <a:xfrm rot="0">
            <a:off x="1870204" y="5047169"/>
            <a:ext cx="2063297" cy="442728"/>
          </a:xfrm>
          <a:prstGeom prst="rect">
            <a:avLst/>
          </a:prstGeom>
        </p:spPr>
        <p:txBody>
          <a:bodyPr anchor="t" rtlCol="false" tIns="0" lIns="0" bIns="0" rIns="0">
            <a:spAutoFit/>
          </a:bodyPr>
          <a:lstStyle/>
          <a:p>
            <a:pPr algn="just">
              <a:lnSpc>
                <a:spcPts val="3422"/>
              </a:lnSpc>
              <a:spcBef>
                <a:spcPct val="0"/>
              </a:spcBef>
            </a:pPr>
            <a:r>
              <a:rPr lang="en-US" b="true" sz="2444">
                <a:solidFill>
                  <a:srgbClr val="3A6AD6"/>
                </a:solidFill>
                <a:latin typeface="Poppins Bold"/>
                <a:ea typeface="Poppins Bold"/>
                <a:cs typeface="Poppins Bold"/>
                <a:sym typeface="Poppins Bold"/>
              </a:rPr>
              <a:t>Objectives 2</a:t>
            </a:r>
          </a:p>
        </p:txBody>
      </p:sp>
      <p:sp>
        <p:nvSpPr>
          <p:cNvPr name="TextBox 36" id="36"/>
          <p:cNvSpPr txBox="true"/>
          <p:nvPr/>
        </p:nvSpPr>
        <p:spPr>
          <a:xfrm rot="0">
            <a:off x="1870204" y="5682032"/>
            <a:ext cx="5761645" cy="1778000"/>
          </a:xfrm>
          <a:prstGeom prst="rect">
            <a:avLst/>
          </a:prstGeom>
        </p:spPr>
        <p:txBody>
          <a:bodyPr anchor="t" rtlCol="false" tIns="0" lIns="0" bIns="0" rIns="0">
            <a:spAutoFit/>
          </a:bodyPr>
          <a:lstStyle/>
          <a:p>
            <a:pPr algn="just">
              <a:lnSpc>
                <a:spcPts val="2800"/>
              </a:lnSpc>
            </a:pPr>
            <a:r>
              <a:rPr lang="en-US" sz="2000" b="true">
                <a:solidFill>
                  <a:srgbClr val="1F2020"/>
                </a:solidFill>
                <a:latin typeface="Poppins Bold"/>
                <a:ea typeface="Poppins Bold"/>
                <a:cs typeface="Poppins Bold"/>
                <a:sym typeface="Poppins Bold"/>
              </a:rPr>
              <a:t>Developing a web-based dashboard that stores, displays, and provides access to both real-time and historical weather data for use by the public and relevant agencies.</a:t>
            </a:r>
          </a:p>
          <a:p>
            <a:pPr algn="just">
              <a:lnSpc>
                <a:spcPts val="2800"/>
              </a:lnSpc>
              <a:spcBef>
                <a:spcPct val="0"/>
              </a:spcBef>
            </a:pPr>
          </a:p>
        </p:txBody>
      </p:sp>
      <p:grpSp>
        <p:nvGrpSpPr>
          <p:cNvPr name="Group 37" id="37"/>
          <p:cNvGrpSpPr/>
          <p:nvPr/>
        </p:nvGrpSpPr>
        <p:grpSpPr>
          <a:xfrm rot="0">
            <a:off x="8393869" y="6908497"/>
            <a:ext cx="6521425" cy="2937288"/>
            <a:chOff x="0" y="0"/>
            <a:chExt cx="1334841" cy="601220"/>
          </a:xfrm>
        </p:grpSpPr>
        <p:sp>
          <p:nvSpPr>
            <p:cNvPr name="Freeform 38" id="38"/>
            <p:cNvSpPr/>
            <p:nvPr/>
          </p:nvSpPr>
          <p:spPr>
            <a:xfrm flipH="false" flipV="false" rot="0">
              <a:off x="0" y="0"/>
              <a:ext cx="1334841" cy="601220"/>
            </a:xfrm>
            <a:custGeom>
              <a:avLst/>
              <a:gdLst/>
              <a:ahLst/>
              <a:cxnLst/>
              <a:rect r="r" b="b" t="t" l="l"/>
              <a:pathLst>
                <a:path h="601220" w="1334841">
                  <a:moveTo>
                    <a:pt x="59358" y="0"/>
                  </a:moveTo>
                  <a:lnTo>
                    <a:pt x="1275483" y="0"/>
                  </a:lnTo>
                  <a:cubicBezTo>
                    <a:pt x="1291226" y="0"/>
                    <a:pt x="1306323" y="6254"/>
                    <a:pt x="1317455" y="17385"/>
                  </a:cubicBezTo>
                  <a:cubicBezTo>
                    <a:pt x="1328587" y="28517"/>
                    <a:pt x="1334841" y="43615"/>
                    <a:pt x="1334841" y="59358"/>
                  </a:cubicBezTo>
                  <a:lnTo>
                    <a:pt x="1334841" y="541862"/>
                  </a:lnTo>
                  <a:cubicBezTo>
                    <a:pt x="1334841" y="557605"/>
                    <a:pt x="1328587" y="572703"/>
                    <a:pt x="1317455" y="583834"/>
                  </a:cubicBezTo>
                  <a:cubicBezTo>
                    <a:pt x="1306323" y="594966"/>
                    <a:pt x="1291226" y="601220"/>
                    <a:pt x="1275483" y="601220"/>
                  </a:cubicBezTo>
                  <a:lnTo>
                    <a:pt x="59358" y="601220"/>
                  </a:lnTo>
                  <a:cubicBezTo>
                    <a:pt x="43615" y="601220"/>
                    <a:pt x="28517" y="594966"/>
                    <a:pt x="17385" y="583834"/>
                  </a:cubicBezTo>
                  <a:cubicBezTo>
                    <a:pt x="6254" y="572703"/>
                    <a:pt x="0" y="557605"/>
                    <a:pt x="0" y="541862"/>
                  </a:cubicBezTo>
                  <a:lnTo>
                    <a:pt x="0" y="59358"/>
                  </a:lnTo>
                  <a:cubicBezTo>
                    <a:pt x="0" y="43615"/>
                    <a:pt x="6254" y="28517"/>
                    <a:pt x="17385" y="17385"/>
                  </a:cubicBezTo>
                  <a:cubicBezTo>
                    <a:pt x="28517" y="6254"/>
                    <a:pt x="43615" y="0"/>
                    <a:pt x="59358" y="0"/>
                  </a:cubicBezTo>
                  <a:close/>
                </a:path>
              </a:pathLst>
            </a:custGeom>
            <a:solidFill>
              <a:srgbClr val="E0DFDF"/>
            </a:solidFill>
          </p:spPr>
        </p:sp>
        <p:sp>
          <p:nvSpPr>
            <p:cNvPr name="TextBox 39" id="39"/>
            <p:cNvSpPr txBox="true"/>
            <p:nvPr/>
          </p:nvSpPr>
          <p:spPr>
            <a:xfrm>
              <a:off x="0" y="-38100"/>
              <a:ext cx="1334841" cy="639320"/>
            </a:xfrm>
            <a:prstGeom prst="rect">
              <a:avLst/>
            </a:prstGeom>
          </p:spPr>
          <p:txBody>
            <a:bodyPr anchor="ctr" rtlCol="false" tIns="47086" lIns="47086" bIns="47086" rIns="47086"/>
            <a:lstStyle/>
            <a:p>
              <a:pPr algn="just">
                <a:lnSpc>
                  <a:spcPts val="2659"/>
                </a:lnSpc>
              </a:pPr>
            </a:p>
          </p:txBody>
        </p:sp>
      </p:grpSp>
      <p:sp>
        <p:nvSpPr>
          <p:cNvPr name="TextBox 40" id="40"/>
          <p:cNvSpPr txBox="true"/>
          <p:nvPr/>
        </p:nvSpPr>
        <p:spPr>
          <a:xfrm rot="0">
            <a:off x="8731524" y="7017305"/>
            <a:ext cx="2063297" cy="442728"/>
          </a:xfrm>
          <a:prstGeom prst="rect">
            <a:avLst/>
          </a:prstGeom>
        </p:spPr>
        <p:txBody>
          <a:bodyPr anchor="t" rtlCol="false" tIns="0" lIns="0" bIns="0" rIns="0">
            <a:spAutoFit/>
          </a:bodyPr>
          <a:lstStyle/>
          <a:p>
            <a:pPr algn="just">
              <a:lnSpc>
                <a:spcPts val="3422"/>
              </a:lnSpc>
              <a:spcBef>
                <a:spcPct val="0"/>
              </a:spcBef>
            </a:pPr>
            <a:r>
              <a:rPr lang="en-US" b="true" sz="2444">
                <a:solidFill>
                  <a:srgbClr val="3A6AD6"/>
                </a:solidFill>
                <a:latin typeface="Poppins Bold"/>
                <a:ea typeface="Poppins Bold"/>
                <a:cs typeface="Poppins Bold"/>
                <a:sym typeface="Poppins Bold"/>
              </a:rPr>
              <a:t>Objectives 3</a:t>
            </a:r>
          </a:p>
        </p:txBody>
      </p:sp>
      <p:sp>
        <p:nvSpPr>
          <p:cNvPr name="TextBox 41" id="41"/>
          <p:cNvSpPr txBox="true"/>
          <p:nvPr/>
        </p:nvSpPr>
        <p:spPr>
          <a:xfrm rot="0">
            <a:off x="8623401" y="7568961"/>
            <a:ext cx="5761645" cy="2130425"/>
          </a:xfrm>
          <a:prstGeom prst="rect">
            <a:avLst/>
          </a:prstGeom>
        </p:spPr>
        <p:txBody>
          <a:bodyPr anchor="t" rtlCol="false" tIns="0" lIns="0" bIns="0" rIns="0">
            <a:spAutoFit/>
          </a:bodyPr>
          <a:lstStyle/>
          <a:p>
            <a:pPr algn="just">
              <a:lnSpc>
                <a:spcPts val="2800"/>
              </a:lnSpc>
            </a:pPr>
            <a:r>
              <a:rPr lang="en-US" sz="2000" b="true">
                <a:solidFill>
                  <a:srgbClr val="1F2020"/>
                </a:solidFill>
                <a:latin typeface="Poppins Bold"/>
                <a:ea typeface="Poppins Bold"/>
                <a:cs typeface="Poppins Bold"/>
                <a:sym typeface="Poppins Bold"/>
              </a:rPr>
              <a:t>Implementing a renewable energy system using solar panels and batteries to enable devices to operate independently in remote areas without relying on the conventional electricity grid.</a:t>
            </a:r>
          </a:p>
          <a:p>
            <a:pPr algn="just">
              <a:lnSpc>
                <a:spcPts val="2800"/>
              </a:lnSpc>
              <a:spcBef>
                <a:spcPct val="0"/>
              </a:spcBef>
            </a:pPr>
          </a:p>
        </p:txBody>
      </p:sp>
      <p:grpSp>
        <p:nvGrpSpPr>
          <p:cNvPr name="Group 42" id="42"/>
          <p:cNvGrpSpPr/>
          <p:nvPr/>
        </p:nvGrpSpPr>
        <p:grpSpPr>
          <a:xfrm rot="0">
            <a:off x="212689" y="314984"/>
            <a:ext cx="2721375" cy="622549"/>
            <a:chOff x="0" y="0"/>
            <a:chExt cx="3628500" cy="830065"/>
          </a:xfrm>
        </p:grpSpPr>
        <p:sp>
          <p:nvSpPr>
            <p:cNvPr name="TextBox 43" id="43"/>
            <p:cNvSpPr txBox="true"/>
            <p:nvPr/>
          </p:nvSpPr>
          <p:spPr>
            <a:xfrm rot="0">
              <a:off x="1065319" y="267078"/>
              <a:ext cx="2563180" cy="267335"/>
            </a:xfrm>
            <a:prstGeom prst="rect">
              <a:avLst/>
            </a:prstGeom>
          </p:spPr>
          <p:txBody>
            <a:bodyPr anchor="t" rtlCol="false" tIns="0" lIns="0" bIns="0" rIns="0">
              <a:spAutoFit/>
            </a:bodyPr>
            <a:lstStyle/>
            <a:p>
              <a:pPr algn="l">
                <a:lnSpc>
                  <a:spcPts val="1680"/>
                </a:lnSpc>
                <a:spcBef>
                  <a:spcPct val="0"/>
                </a:spcBef>
              </a:pPr>
              <a:r>
                <a:rPr lang="en-US" b="true" sz="1200">
                  <a:solidFill>
                    <a:srgbClr val="1F2020"/>
                  </a:solidFill>
                  <a:latin typeface="Poppins Bold"/>
                  <a:ea typeface="Poppins Bold"/>
                  <a:cs typeface="Poppins Bold"/>
                  <a:sym typeface="Poppins Bold"/>
                </a:rPr>
                <a:t>Institut Teknologi Del</a:t>
              </a:r>
            </a:p>
          </p:txBody>
        </p:sp>
        <p:sp>
          <p:nvSpPr>
            <p:cNvPr name="Freeform 44" id="44"/>
            <p:cNvSpPr/>
            <p:nvPr/>
          </p:nvSpPr>
          <p:spPr>
            <a:xfrm flipH="false" flipV="false" rot="0">
              <a:off x="0" y="0"/>
              <a:ext cx="868292" cy="830065"/>
            </a:xfrm>
            <a:custGeom>
              <a:avLst/>
              <a:gdLst/>
              <a:ahLst/>
              <a:cxnLst/>
              <a:rect r="r" b="b" t="t" l="l"/>
              <a:pathLst>
                <a:path h="830065" w="868292">
                  <a:moveTo>
                    <a:pt x="0" y="0"/>
                  </a:moveTo>
                  <a:lnTo>
                    <a:pt x="868292" y="0"/>
                  </a:lnTo>
                  <a:lnTo>
                    <a:pt x="868292" y="830065"/>
                  </a:lnTo>
                  <a:lnTo>
                    <a:pt x="0" y="830065"/>
                  </a:lnTo>
                  <a:lnTo>
                    <a:pt x="0" y="0"/>
                  </a:lnTo>
                  <a:close/>
                </a:path>
              </a:pathLst>
            </a:custGeom>
            <a:blipFill>
              <a:blip r:embed="rId5"/>
              <a:stretch>
                <a:fillRect l="0" t="0" r="0"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a:off x="17967684" y="3137590"/>
            <a:ext cx="0" cy="6922890"/>
          </a:xfrm>
          <a:prstGeom prst="line">
            <a:avLst/>
          </a:prstGeom>
          <a:ln cap="flat" w="38100">
            <a:solidFill>
              <a:srgbClr val="000000"/>
            </a:solidFill>
            <a:prstDash val="solid"/>
            <a:headEnd type="none" len="sm" w="sm"/>
            <a:tailEnd type="none" len="sm" w="sm"/>
          </a:ln>
        </p:spPr>
      </p:sp>
      <p:grpSp>
        <p:nvGrpSpPr>
          <p:cNvPr name="Group 9" id="9"/>
          <p:cNvGrpSpPr/>
          <p:nvPr/>
        </p:nvGrpSpPr>
        <p:grpSpPr>
          <a:xfrm rot="0">
            <a:off x="17491799" y="9487118"/>
            <a:ext cx="951769" cy="799882"/>
            <a:chOff x="0" y="0"/>
            <a:chExt cx="1269026" cy="1066510"/>
          </a:xfrm>
        </p:grpSpPr>
        <p:grpSp>
          <p:nvGrpSpPr>
            <p:cNvPr name="Group 10" id="10"/>
            <p:cNvGrpSpPr/>
            <p:nvPr/>
          </p:nvGrpSpPr>
          <p:grpSpPr>
            <a:xfrm rot="0">
              <a:off x="0" y="0"/>
              <a:ext cx="1269026" cy="1066510"/>
              <a:chOff x="0" y="0"/>
              <a:chExt cx="967140" cy="812800"/>
            </a:xfrm>
          </p:grpSpPr>
          <p:sp>
            <p:nvSpPr>
              <p:cNvPr name="Freeform 11" id="11"/>
              <p:cNvSpPr/>
              <p:nvPr/>
            </p:nvSpPr>
            <p:spPr>
              <a:xfrm flipH="false" flipV="false" rot="0">
                <a:off x="0" y="0"/>
                <a:ext cx="967140" cy="812800"/>
              </a:xfrm>
              <a:custGeom>
                <a:avLst/>
                <a:gdLst/>
                <a:ahLst/>
                <a:cxnLst/>
                <a:rect r="r" b="b" t="t" l="l"/>
                <a:pathLst>
                  <a:path h="812800" w="96714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name="TextBox 12" id="12"/>
              <p:cNvSpPr txBox="true"/>
              <p:nvPr/>
            </p:nvSpPr>
            <p:spPr>
              <a:xfrm>
                <a:off x="0" y="-38100"/>
                <a:ext cx="967140" cy="850900"/>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243441" y="349060"/>
              <a:ext cx="590330" cy="331224"/>
            </a:xfrm>
            <a:prstGeom prst="rect">
              <a:avLst/>
            </a:prstGeom>
          </p:spPr>
          <p:txBody>
            <a:bodyPr anchor="t" rtlCol="false" tIns="0" lIns="0" bIns="0" rIns="0">
              <a:spAutoFit/>
            </a:bodyPr>
            <a:lstStyle/>
            <a:p>
              <a:pPr algn="ctr">
                <a:lnSpc>
                  <a:spcPts val="2057"/>
                </a:lnSpc>
                <a:spcBef>
                  <a:spcPct val="0"/>
                </a:spcBef>
              </a:pPr>
              <a:r>
                <a:rPr lang="en-US" b="true" sz="1469">
                  <a:solidFill>
                    <a:srgbClr val="FFFFFF"/>
                  </a:solidFill>
                  <a:latin typeface="Poppins Bold"/>
                  <a:ea typeface="Poppins Bold"/>
                  <a:cs typeface="Poppins Bold"/>
                  <a:sym typeface="Poppins Bold"/>
                </a:rPr>
                <a:t>06</a:t>
              </a:r>
            </a:p>
          </p:txBody>
        </p:sp>
      </p:grpSp>
      <p:grpSp>
        <p:nvGrpSpPr>
          <p:cNvPr name="Group 14" id="14"/>
          <p:cNvGrpSpPr/>
          <p:nvPr/>
        </p:nvGrpSpPr>
        <p:grpSpPr>
          <a:xfrm rot="0">
            <a:off x="212689" y="314984"/>
            <a:ext cx="2721375" cy="622549"/>
            <a:chOff x="0" y="0"/>
            <a:chExt cx="3628500" cy="830065"/>
          </a:xfrm>
        </p:grpSpPr>
        <p:sp>
          <p:nvSpPr>
            <p:cNvPr name="TextBox 15" id="15"/>
            <p:cNvSpPr txBox="true"/>
            <p:nvPr/>
          </p:nvSpPr>
          <p:spPr>
            <a:xfrm rot="0">
              <a:off x="1065319" y="267078"/>
              <a:ext cx="2563180" cy="267335"/>
            </a:xfrm>
            <a:prstGeom prst="rect">
              <a:avLst/>
            </a:prstGeom>
          </p:spPr>
          <p:txBody>
            <a:bodyPr anchor="t" rtlCol="false" tIns="0" lIns="0" bIns="0" rIns="0">
              <a:spAutoFit/>
            </a:bodyPr>
            <a:lstStyle/>
            <a:p>
              <a:pPr algn="l">
                <a:lnSpc>
                  <a:spcPts val="1680"/>
                </a:lnSpc>
                <a:spcBef>
                  <a:spcPct val="0"/>
                </a:spcBef>
              </a:pPr>
              <a:r>
                <a:rPr lang="en-US" b="true" sz="1200">
                  <a:solidFill>
                    <a:srgbClr val="1F2020"/>
                  </a:solidFill>
                  <a:latin typeface="Poppins Bold"/>
                  <a:ea typeface="Poppins Bold"/>
                  <a:cs typeface="Poppins Bold"/>
                  <a:sym typeface="Poppins Bold"/>
                </a:rPr>
                <a:t>Institut Teknologi Del</a:t>
              </a:r>
            </a:p>
          </p:txBody>
        </p:sp>
        <p:sp>
          <p:nvSpPr>
            <p:cNvPr name="Freeform 16" id="16"/>
            <p:cNvSpPr/>
            <p:nvPr/>
          </p:nvSpPr>
          <p:spPr>
            <a:xfrm flipH="false" flipV="false" rot="0">
              <a:off x="0" y="0"/>
              <a:ext cx="868292" cy="830065"/>
            </a:xfrm>
            <a:custGeom>
              <a:avLst/>
              <a:gdLst/>
              <a:ahLst/>
              <a:cxnLst/>
              <a:rect r="r" b="b" t="t" l="l"/>
              <a:pathLst>
                <a:path h="830065" w="868292">
                  <a:moveTo>
                    <a:pt x="0" y="0"/>
                  </a:moveTo>
                  <a:lnTo>
                    <a:pt x="868292" y="0"/>
                  </a:lnTo>
                  <a:lnTo>
                    <a:pt x="868292" y="830065"/>
                  </a:lnTo>
                  <a:lnTo>
                    <a:pt x="0" y="830065"/>
                  </a:lnTo>
                  <a:lnTo>
                    <a:pt x="0" y="0"/>
                  </a:lnTo>
                  <a:close/>
                </a:path>
              </a:pathLst>
            </a:custGeom>
            <a:blipFill>
              <a:blip r:embed="rId2"/>
              <a:stretch>
                <a:fillRect l="0" t="0" r="0" b="0"/>
              </a:stretch>
            </a:blipFill>
          </p:spPr>
        </p:sp>
      </p:grpSp>
      <p:grpSp>
        <p:nvGrpSpPr>
          <p:cNvPr name="Group 17" id="17"/>
          <p:cNvGrpSpPr/>
          <p:nvPr/>
        </p:nvGrpSpPr>
        <p:grpSpPr>
          <a:xfrm rot="0">
            <a:off x="387252" y="3439215"/>
            <a:ext cx="17422699" cy="3198864"/>
            <a:chOff x="0" y="0"/>
            <a:chExt cx="23230265" cy="4265152"/>
          </a:xfrm>
        </p:grpSpPr>
        <p:sp>
          <p:nvSpPr>
            <p:cNvPr name="Freeform 18" id="18"/>
            <p:cNvSpPr/>
            <p:nvPr/>
          </p:nvSpPr>
          <p:spPr>
            <a:xfrm flipH="false" flipV="false" rot="0">
              <a:off x="13264932" y="351296"/>
              <a:ext cx="4266411" cy="3562561"/>
            </a:xfrm>
            <a:custGeom>
              <a:avLst/>
              <a:gdLst/>
              <a:ahLst/>
              <a:cxnLst/>
              <a:rect r="r" b="b" t="t" l="l"/>
              <a:pathLst>
                <a:path h="3562561" w="4266411">
                  <a:moveTo>
                    <a:pt x="0" y="0"/>
                  </a:moveTo>
                  <a:lnTo>
                    <a:pt x="4266411" y="0"/>
                  </a:lnTo>
                  <a:lnTo>
                    <a:pt x="4266411" y="3562561"/>
                  </a:lnTo>
                  <a:lnTo>
                    <a:pt x="0" y="3562561"/>
                  </a:lnTo>
                  <a:lnTo>
                    <a:pt x="0" y="0"/>
                  </a:lnTo>
                  <a:close/>
                </a:path>
              </a:pathLst>
            </a:custGeom>
            <a:blipFill>
              <a:blip r:embed="rId3"/>
              <a:stretch>
                <a:fillRect l="-18439" t="0" r="-18439" b="0"/>
              </a:stretch>
            </a:blipFill>
          </p:spPr>
        </p:sp>
        <p:sp>
          <p:nvSpPr>
            <p:cNvPr name="Freeform 19" id="19"/>
            <p:cNvSpPr/>
            <p:nvPr/>
          </p:nvSpPr>
          <p:spPr>
            <a:xfrm flipH="false" flipV="false" rot="0">
              <a:off x="18965113" y="0"/>
              <a:ext cx="4265152" cy="4265152"/>
            </a:xfrm>
            <a:custGeom>
              <a:avLst/>
              <a:gdLst/>
              <a:ahLst/>
              <a:cxnLst/>
              <a:rect r="r" b="b" t="t" l="l"/>
              <a:pathLst>
                <a:path h="4265152" w="4265152">
                  <a:moveTo>
                    <a:pt x="0" y="0"/>
                  </a:moveTo>
                  <a:lnTo>
                    <a:pt x="4265152" y="0"/>
                  </a:lnTo>
                  <a:lnTo>
                    <a:pt x="4265152" y="4265152"/>
                  </a:lnTo>
                  <a:lnTo>
                    <a:pt x="0" y="4265152"/>
                  </a:lnTo>
                  <a:lnTo>
                    <a:pt x="0" y="0"/>
                  </a:lnTo>
                  <a:close/>
                </a:path>
              </a:pathLst>
            </a:custGeom>
            <a:blipFill>
              <a:blip r:embed="rId4"/>
              <a:stretch>
                <a:fillRect l="0" t="0" r="0" b="0"/>
              </a:stretch>
            </a:blipFill>
          </p:spPr>
        </p:sp>
        <p:sp>
          <p:nvSpPr>
            <p:cNvPr name="Freeform 20" id="20"/>
            <p:cNvSpPr/>
            <p:nvPr/>
          </p:nvSpPr>
          <p:spPr>
            <a:xfrm flipH="false" flipV="false" rot="0">
              <a:off x="0" y="309996"/>
              <a:ext cx="3930608" cy="3341923"/>
            </a:xfrm>
            <a:custGeom>
              <a:avLst/>
              <a:gdLst/>
              <a:ahLst/>
              <a:cxnLst/>
              <a:rect r="r" b="b" t="t" l="l"/>
              <a:pathLst>
                <a:path h="3341923" w="3930608">
                  <a:moveTo>
                    <a:pt x="0" y="0"/>
                  </a:moveTo>
                  <a:lnTo>
                    <a:pt x="3930608" y="0"/>
                  </a:lnTo>
                  <a:lnTo>
                    <a:pt x="3930608" y="3341922"/>
                  </a:lnTo>
                  <a:lnTo>
                    <a:pt x="0" y="3341922"/>
                  </a:lnTo>
                  <a:lnTo>
                    <a:pt x="0" y="0"/>
                  </a:lnTo>
                  <a:close/>
                </a:path>
              </a:pathLst>
            </a:custGeom>
            <a:blipFill>
              <a:blip r:embed="rId5"/>
              <a:stretch>
                <a:fillRect l="0" t="0" r="0" b="0"/>
              </a:stretch>
            </a:blipFill>
          </p:spPr>
        </p:sp>
        <p:sp>
          <p:nvSpPr>
            <p:cNvPr name="Freeform 21" id="21"/>
            <p:cNvSpPr/>
            <p:nvPr/>
          </p:nvSpPr>
          <p:spPr>
            <a:xfrm flipH="false" flipV="false" rot="0">
              <a:off x="5975308" y="309996"/>
              <a:ext cx="4365330" cy="3645161"/>
            </a:xfrm>
            <a:custGeom>
              <a:avLst/>
              <a:gdLst/>
              <a:ahLst/>
              <a:cxnLst/>
              <a:rect r="r" b="b" t="t" l="l"/>
              <a:pathLst>
                <a:path h="3645161" w="4365330">
                  <a:moveTo>
                    <a:pt x="0" y="0"/>
                  </a:moveTo>
                  <a:lnTo>
                    <a:pt x="4365330" y="0"/>
                  </a:lnTo>
                  <a:lnTo>
                    <a:pt x="4365330" y="3645161"/>
                  </a:lnTo>
                  <a:lnTo>
                    <a:pt x="0" y="3645161"/>
                  </a:lnTo>
                  <a:lnTo>
                    <a:pt x="0" y="0"/>
                  </a:lnTo>
                  <a:close/>
                </a:path>
              </a:pathLst>
            </a:custGeom>
            <a:blipFill>
              <a:blip r:embed="rId6"/>
              <a:stretch>
                <a:fillRect l="0" t="0" r="0" b="0"/>
              </a:stretch>
            </a:blipFill>
          </p:spPr>
        </p:sp>
      </p:grpSp>
      <p:grpSp>
        <p:nvGrpSpPr>
          <p:cNvPr name="Group 22" id="22"/>
          <p:cNvGrpSpPr/>
          <p:nvPr/>
        </p:nvGrpSpPr>
        <p:grpSpPr>
          <a:xfrm rot="0">
            <a:off x="3533556" y="-8852893"/>
            <a:ext cx="12069241" cy="12069241"/>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name="TextBox 24" id="24"/>
            <p:cNvSpPr txBox="true"/>
            <p:nvPr/>
          </p:nvSpPr>
          <p:spPr>
            <a:xfrm>
              <a:off x="76200" y="38100"/>
              <a:ext cx="660400" cy="698500"/>
            </a:xfrm>
            <a:prstGeom prst="rect">
              <a:avLst/>
            </a:prstGeom>
          </p:spPr>
          <p:txBody>
            <a:bodyPr anchor="ctr" rtlCol="false" tIns="47589" lIns="47589" bIns="47589" rIns="47589"/>
            <a:lstStyle/>
            <a:p>
              <a:pPr algn="ctr">
                <a:lnSpc>
                  <a:spcPts val="2659"/>
                </a:lnSpc>
                <a:spcBef>
                  <a:spcPct val="0"/>
                </a:spcBef>
              </a:pPr>
            </a:p>
          </p:txBody>
        </p:sp>
      </p:grpSp>
      <p:sp>
        <p:nvSpPr>
          <p:cNvPr name="Freeform 25" id="25"/>
          <p:cNvSpPr/>
          <p:nvPr/>
        </p:nvSpPr>
        <p:spPr>
          <a:xfrm flipH="false" flipV="false" rot="0">
            <a:off x="4701547" y="-7512215"/>
            <a:ext cx="10369497" cy="10356536"/>
          </a:xfrm>
          <a:custGeom>
            <a:avLst/>
            <a:gdLst/>
            <a:ahLst/>
            <a:cxnLst/>
            <a:rect r="r" b="b" t="t" l="l"/>
            <a:pathLst>
              <a:path h="10356536" w="10369497">
                <a:moveTo>
                  <a:pt x="0" y="0"/>
                </a:moveTo>
                <a:lnTo>
                  <a:pt x="10369498" y="0"/>
                </a:lnTo>
                <a:lnTo>
                  <a:pt x="10369498" y="10356535"/>
                </a:lnTo>
                <a:lnTo>
                  <a:pt x="0" y="10356535"/>
                </a:lnTo>
                <a:lnTo>
                  <a:pt x="0" y="0"/>
                </a:lnTo>
                <a:close/>
              </a:path>
            </a:pathLst>
          </a:custGeom>
          <a:blipFill>
            <a:blip r:embed="rId7"/>
            <a:stretch>
              <a:fillRect l="0" t="0" r="0" b="0"/>
            </a:stretch>
          </a:blipFill>
        </p:spPr>
      </p:sp>
      <p:grpSp>
        <p:nvGrpSpPr>
          <p:cNvPr name="Group 26" id="26"/>
          <p:cNvGrpSpPr/>
          <p:nvPr/>
        </p:nvGrpSpPr>
        <p:grpSpPr>
          <a:xfrm rot="0">
            <a:off x="4459786" y="-7926664"/>
            <a:ext cx="10216782" cy="10216782"/>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8" id="28"/>
            <p:cNvSpPr txBox="true"/>
            <p:nvPr/>
          </p:nvSpPr>
          <p:spPr>
            <a:xfrm>
              <a:off x="76200" y="38100"/>
              <a:ext cx="660400" cy="698500"/>
            </a:xfrm>
            <a:prstGeom prst="rect">
              <a:avLst/>
            </a:prstGeom>
          </p:spPr>
          <p:txBody>
            <a:bodyPr anchor="ctr" rtlCol="false" tIns="47589" lIns="47589" bIns="47589" rIns="47589"/>
            <a:lstStyle/>
            <a:p>
              <a:pPr algn="ctr">
                <a:lnSpc>
                  <a:spcPts val="2659"/>
                </a:lnSpc>
                <a:spcBef>
                  <a:spcPct val="0"/>
                </a:spcBef>
              </a:pPr>
            </a:p>
          </p:txBody>
        </p:sp>
      </p:grpSp>
      <p:sp>
        <p:nvSpPr>
          <p:cNvPr name="TextBox 29" id="29"/>
          <p:cNvSpPr txBox="true"/>
          <p:nvPr/>
        </p:nvSpPr>
        <p:spPr>
          <a:xfrm rot="0">
            <a:off x="7438876" y="470384"/>
            <a:ext cx="4377510" cy="1226871"/>
          </a:xfrm>
          <a:prstGeom prst="rect">
            <a:avLst/>
          </a:prstGeom>
        </p:spPr>
        <p:txBody>
          <a:bodyPr anchor="t" rtlCol="false" tIns="0" lIns="0" bIns="0" rIns="0">
            <a:spAutoFit/>
          </a:bodyPr>
          <a:lstStyle/>
          <a:p>
            <a:pPr algn="ctr">
              <a:lnSpc>
                <a:spcPts val="4866"/>
              </a:lnSpc>
              <a:spcBef>
                <a:spcPct val="0"/>
              </a:spcBef>
            </a:pPr>
            <a:r>
              <a:rPr lang="en-US" b="true" sz="3476">
                <a:solidFill>
                  <a:srgbClr val="1F2020"/>
                </a:solidFill>
                <a:latin typeface="Poppins Bold"/>
                <a:ea typeface="Poppins Bold"/>
                <a:cs typeface="Poppins Bold"/>
                <a:sym typeface="Poppins Bold"/>
              </a:rPr>
              <a:t>Tools used in the hardware section</a:t>
            </a:r>
          </a:p>
        </p:txBody>
      </p:sp>
      <p:grpSp>
        <p:nvGrpSpPr>
          <p:cNvPr name="Group 30" id="30"/>
          <p:cNvGrpSpPr/>
          <p:nvPr/>
        </p:nvGrpSpPr>
        <p:grpSpPr>
          <a:xfrm rot="0">
            <a:off x="554465" y="7218854"/>
            <a:ext cx="16937333" cy="2769571"/>
            <a:chOff x="0" y="0"/>
            <a:chExt cx="22583111" cy="3692761"/>
          </a:xfrm>
        </p:grpSpPr>
        <p:sp>
          <p:nvSpPr>
            <p:cNvPr name="Freeform 31" id="31"/>
            <p:cNvSpPr/>
            <p:nvPr/>
          </p:nvSpPr>
          <p:spPr>
            <a:xfrm flipH="false" flipV="false" rot="0">
              <a:off x="0" y="0"/>
              <a:ext cx="4727784" cy="3692761"/>
            </a:xfrm>
            <a:custGeom>
              <a:avLst/>
              <a:gdLst/>
              <a:ahLst/>
              <a:cxnLst/>
              <a:rect r="r" b="b" t="t" l="l"/>
              <a:pathLst>
                <a:path h="3692761" w="4727784">
                  <a:moveTo>
                    <a:pt x="0" y="0"/>
                  </a:moveTo>
                  <a:lnTo>
                    <a:pt x="4727784" y="0"/>
                  </a:lnTo>
                  <a:lnTo>
                    <a:pt x="4727784" y="3692761"/>
                  </a:lnTo>
                  <a:lnTo>
                    <a:pt x="0" y="3692761"/>
                  </a:lnTo>
                  <a:lnTo>
                    <a:pt x="0" y="0"/>
                  </a:lnTo>
                  <a:close/>
                </a:path>
              </a:pathLst>
            </a:custGeom>
            <a:blipFill>
              <a:blip r:embed="rId8"/>
              <a:stretch>
                <a:fillRect l="-5408" t="0" r="-146" b="0"/>
              </a:stretch>
            </a:blipFill>
          </p:spPr>
        </p:sp>
        <p:sp>
          <p:nvSpPr>
            <p:cNvPr name="Freeform 32" id="32"/>
            <p:cNvSpPr/>
            <p:nvPr/>
          </p:nvSpPr>
          <p:spPr>
            <a:xfrm flipH="false" flipV="false" rot="0">
              <a:off x="12530891" y="327888"/>
              <a:ext cx="4997053" cy="3229345"/>
            </a:xfrm>
            <a:custGeom>
              <a:avLst/>
              <a:gdLst/>
              <a:ahLst/>
              <a:cxnLst/>
              <a:rect r="r" b="b" t="t" l="l"/>
              <a:pathLst>
                <a:path h="3229345" w="4997053">
                  <a:moveTo>
                    <a:pt x="0" y="0"/>
                  </a:moveTo>
                  <a:lnTo>
                    <a:pt x="4997052" y="0"/>
                  </a:lnTo>
                  <a:lnTo>
                    <a:pt x="4997052" y="3229345"/>
                  </a:lnTo>
                  <a:lnTo>
                    <a:pt x="0" y="3229345"/>
                  </a:lnTo>
                  <a:lnTo>
                    <a:pt x="0" y="0"/>
                  </a:lnTo>
                  <a:close/>
                </a:path>
              </a:pathLst>
            </a:custGeom>
            <a:blipFill>
              <a:blip r:embed="rId9"/>
              <a:stretch>
                <a:fillRect l="0" t="0" r="0" b="0"/>
              </a:stretch>
            </a:blipFill>
          </p:spPr>
        </p:sp>
        <p:sp>
          <p:nvSpPr>
            <p:cNvPr name="Freeform 33" id="33"/>
            <p:cNvSpPr/>
            <p:nvPr/>
          </p:nvSpPr>
          <p:spPr>
            <a:xfrm flipH="false" flipV="false" rot="0">
              <a:off x="5430384" y="309434"/>
              <a:ext cx="5975321" cy="3266253"/>
            </a:xfrm>
            <a:custGeom>
              <a:avLst/>
              <a:gdLst/>
              <a:ahLst/>
              <a:cxnLst/>
              <a:rect r="r" b="b" t="t" l="l"/>
              <a:pathLst>
                <a:path h="3266253" w="5975321">
                  <a:moveTo>
                    <a:pt x="0" y="0"/>
                  </a:moveTo>
                  <a:lnTo>
                    <a:pt x="5975320" y="0"/>
                  </a:lnTo>
                  <a:lnTo>
                    <a:pt x="5975320" y="3266253"/>
                  </a:lnTo>
                  <a:lnTo>
                    <a:pt x="0" y="3266253"/>
                  </a:lnTo>
                  <a:lnTo>
                    <a:pt x="0" y="0"/>
                  </a:lnTo>
                  <a:close/>
                </a:path>
              </a:pathLst>
            </a:custGeom>
            <a:blipFill>
              <a:blip r:embed="rId10"/>
              <a:stretch>
                <a:fillRect l="0" t="0" r="0" b="0"/>
              </a:stretch>
            </a:blipFill>
          </p:spPr>
        </p:sp>
        <p:sp>
          <p:nvSpPr>
            <p:cNvPr name="Freeform 34" id="34"/>
            <p:cNvSpPr/>
            <p:nvPr/>
          </p:nvSpPr>
          <p:spPr>
            <a:xfrm flipH="false" flipV="false" rot="0">
              <a:off x="19541963" y="162153"/>
              <a:ext cx="3041149" cy="3413534"/>
            </a:xfrm>
            <a:custGeom>
              <a:avLst/>
              <a:gdLst/>
              <a:ahLst/>
              <a:cxnLst/>
              <a:rect r="r" b="b" t="t" l="l"/>
              <a:pathLst>
                <a:path h="3413534" w="3041149">
                  <a:moveTo>
                    <a:pt x="0" y="0"/>
                  </a:moveTo>
                  <a:lnTo>
                    <a:pt x="3041148" y="0"/>
                  </a:lnTo>
                  <a:lnTo>
                    <a:pt x="3041148" y="3413534"/>
                  </a:lnTo>
                  <a:lnTo>
                    <a:pt x="0" y="341353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sp>
        <p:nvSpPr>
          <p:cNvPr name="TextBox 35" id="35"/>
          <p:cNvSpPr txBox="true"/>
          <p:nvPr/>
        </p:nvSpPr>
        <p:spPr>
          <a:xfrm rot="0">
            <a:off x="860554" y="3100226"/>
            <a:ext cx="1663352" cy="368300"/>
          </a:xfrm>
          <a:prstGeom prst="rect">
            <a:avLst/>
          </a:prstGeom>
        </p:spPr>
        <p:txBody>
          <a:bodyPr anchor="t" rtlCol="false" tIns="0" lIns="0" bIns="0" rIns="0">
            <a:spAutoFit/>
          </a:bodyPr>
          <a:lstStyle/>
          <a:p>
            <a:pPr algn="l">
              <a:lnSpc>
                <a:spcPts val="2800"/>
              </a:lnSpc>
              <a:spcBef>
                <a:spcPct val="0"/>
              </a:spcBef>
            </a:pPr>
            <a:r>
              <a:rPr lang="en-US" b="true" sz="2000">
                <a:solidFill>
                  <a:srgbClr val="1F2020"/>
                </a:solidFill>
                <a:latin typeface="Poppins Bold"/>
                <a:ea typeface="Poppins Bold"/>
                <a:cs typeface="Poppins Bold"/>
                <a:sym typeface="Poppins Bold"/>
              </a:rPr>
              <a:t>Rain Gauge</a:t>
            </a:r>
          </a:p>
        </p:txBody>
      </p:sp>
      <p:sp>
        <p:nvSpPr>
          <p:cNvPr name="TextBox 36" id="36"/>
          <p:cNvSpPr txBox="true"/>
          <p:nvPr/>
        </p:nvSpPr>
        <p:spPr>
          <a:xfrm rot="0">
            <a:off x="5486006" y="3070915"/>
            <a:ext cx="1952869" cy="368300"/>
          </a:xfrm>
          <a:prstGeom prst="rect">
            <a:avLst/>
          </a:prstGeom>
        </p:spPr>
        <p:txBody>
          <a:bodyPr anchor="t" rtlCol="false" tIns="0" lIns="0" bIns="0" rIns="0">
            <a:spAutoFit/>
          </a:bodyPr>
          <a:lstStyle/>
          <a:p>
            <a:pPr algn="l">
              <a:lnSpc>
                <a:spcPts val="2800"/>
              </a:lnSpc>
              <a:spcBef>
                <a:spcPct val="0"/>
              </a:spcBef>
            </a:pPr>
            <a:r>
              <a:rPr lang="en-US" b="true" sz="2000">
                <a:solidFill>
                  <a:srgbClr val="1F2020"/>
                </a:solidFill>
                <a:latin typeface="Poppins Bold"/>
                <a:ea typeface="Poppins Bold"/>
                <a:cs typeface="Poppins Bold"/>
                <a:sym typeface="Poppins Bold"/>
              </a:rPr>
              <a:t>Anemometer</a:t>
            </a:r>
          </a:p>
        </p:txBody>
      </p:sp>
      <p:sp>
        <p:nvSpPr>
          <p:cNvPr name="TextBox 37" id="37"/>
          <p:cNvSpPr txBox="true"/>
          <p:nvPr/>
        </p:nvSpPr>
        <p:spPr>
          <a:xfrm rot="0">
            <a:off x="11390127" y="3070915"/>
            <a:ext cx="1952869" cy="368300"/>
          </a:xfrm>
          <a:prstGeom prst="rect">
            <a:avLst/>
          </a:prstGeom>
        </p:spPr>
        <p:txBody>
          <a:bodyPr anchor="t" rtlCol="false" tIns="0" lIns="0" bIns="0" rIns="0">
            <a:spAutoFit/>
          </a:bodyPr>
          <a:lstStyle/>
          <a:p>
            <a:pPr algn="l">
              <a:lnSpc>
                <a:spcPts val="2800"/>
              </a:lnSpc>
              <a:spcBef>
                <a:spcPct val="0"/>
              </a:spcBef>
            </a:pPr>
            <a:r>
              <a:rPr lang="en-US" b="true" sz="2000">
                <a:solidFill>
                  <a:srgbClr val="1F2020"/>
                </a:solidFill>
                <a:latin typeface="Poppins Bold"/>
                <a:ea typeface="Poppins Bold"/>
                <a:cs typeface="Poppins Bold"/>
                <a:sym typeface="Poppins Bold"/>
              </a:rPr>
              <a:t>DHT22</a:t>
            </a:r>
          </a:p>
        </p:txBody>
      </p:sp>
      <p:sp>
        <p:nvSpPr>
          <p:cNvPr name="TextBox 38" id="38"/>
          <p:cNvSpPr txBox="true"/>
          <p:nvPr/>
        </p:nvSpPr>
        <p:spPr>
          <a:xfrm rot="0">
            <a:off x="15857082" y="3149673"/>
            <a:ext cx="1952869" cy="368300"/>
          </a:xfrm>
          <a:prstGeom prst="rect">
            <a:avLst/>
          </a:prstGeom>
        </p:spPr>
        <p:txBody>
          <a:bodyPr anchor="t" rtlCol="false" tIns="0" lIns="0" bIns="0" rIns="0">
            <a:spAutoFit/>
          </a:bodyPr>
          <a:lstStyle/>
          <a:p>
            <a:pPr algn="l">
              <a:lnSpc>
                <a:spcPts val="2800"/>
              </a:lnSpc>
              <a:spcBef>
                <a:spcPct val="0"/>
              </a:spcBef>
            </a:pPr>
            <a:r>
              <a:rPr lang="en-US" b="true" sz="2000">
                <a:solidFill>
                  <a:srgbClr val="1F2020"/>
                </a:solidFill>
                <a:latin typeface="Poppins Bold"/>
                <a:ea typeface="Poppins Bold"/>
                <a:cs typeface="Poppins Bold"/>
                <a:sym typeface="Poppins Bold"/>
              </a:rPr>
              <a:t>BH1750</a:t>
            </a:r>
          </a:p>
        </p:txBody>
      </p:sp>
      <p:sp>
        <p:nvSpPr>
          <p:cNvPr name="TextBox 39" id="39"/>
          <p:cNvSpPr txBox="true"/>
          <p:nvPr/>
        </p:nvSpPr>
        <p:spPr>
          <a:xfrm rot="0">
            <a:off x="1028700" y="6749188"/>
            <a:ext cx="880864" cy="368300"/>
          </a:xfrm>
          <a:prstGeom prst="rect">
            <a:avLst/>
          </a:prstGeom>
        </p:spPr>
        <p:txBody>
          <a:bodyPr anchor="t" rtlCol="false" tIns="0" lIns="0" bIns="0" rIns="0">
            <a:spAutoFit/>
          </a:bodyPr>
          <a:lstStyle/>
          <a:p>
            <a:pPr algn="l">
              <a:lnSpc>
                <a:spcPts val="2800"/>
              </a:lnSpc>
              <a:spcBef>
                <a:spcPct val="0"/>
              </a:spcBef>
            </a:pPr>
            <a:r>
              <a:rPr lang="en-US" b="true" sz="2000">
                <a:solidFill>
                  <a:srgbClr val="1F2020"/>
                </a:solidFill>
                <a:latin typeface="Poppins Bold"/>
                <a:ea typeface="Poppins Bold"/>
                <a:cs typeface="Poppins Bold"/>
                <a:sym typeface="Poppins Bold"/>
              </a:rPr>
              <a:t>ESP32</a:t>
            </a:r>
          </a:p>
        </p:txBody>
      </p:sp>
      <p:sp>
        <p:nvSpPr>
          <p:cNvPr name="TextBox 40" id="40"/>
          <p:cNvSpPr txBox="true"/>
          <p:nvPr/>
        </p:nvSpPr>
        <p:spPr>
          <a:xfrm rot="0">
            <a:off x="6022009" y="6660296"/>
            <a:ext cx="880864" cy="368300"/>
          </a:xfrm>
          <a:prstGeom prst="rect">
            <a:avLst/>
          </a:prstGeom>
        </p:spPr>
        <p:txBody>
          <a:bodyPr anchor="t" rtlCol="false" tIns="0" lIns="0" bIns="0" rIns="0">
            <a:spAutoFit/>
          </a:bodyPr>
          <a:lstStyle/>
          <a:p>
            <a:pPr algn="l">
              <a:lnSpc>
                <a:spcPts val="2800"/>
              </a:lnSpc>
              <a:spcBef>
                <a:spcPct val="0"/>
              </a:spcBef>
            </a:pPr>
            <a:r>
              <a:rPr lang="en-US" b="true" sz="2000">
                <a:solidFill>
                  <a:srgbClr val="1F2020"/>
                </a:solidFill>
                <a:latin typeface="Poppins Bold"/>
                <a:ea typeface="Poppins Bold"/>
                <a:cs typeface="Poppins Bold"/>
                <a:sym typeface="Poppins Bold"/>
              </a:rPr>
              <a:t>LoRa</a:t>
            </a:r>
          </a:p>
        </p:txBody>
      </p:sp>
      <p:sp>
        <p:nvSpPr>
          <p:cNvPr name="TextBox 41" id="41"/>
          <p:cNvSpPr txBox="true"/>
          <p:nvPr/>
        </p:nvSpPr>
        <p:spPr>
          <a:xfrm rot="0">
            <a:off x="10509263" y="6811109"/>
            <a:ext cx="1857299" cy="368300"/>
          </a:xfrm>
          <a:prstGeom prst="rect">
            <a:avLst/>
          </a:prstGeom>
        </p:spPr>
        <p:txBody>
          <a:bodyPr anchor="t" rtlCol="false" tIns="0" lIns="0" bIns="0" rIns="0">
            <a:spAutoFit/>
          </a:bodyPr>
          <a:lstStyle/>
          <a:p>
            <a:pPr algn="l">
              <a:lnSpc>
                <a:spcPts val="2800"/>
              </a:lnSpc>
              <a:spcBef>
                <a:spcPct val="0"/>
              </a:spcBef>
            </a:pPr>
            <a:r>
              <a:rPr lang="en-US" b="true" sz="2000">
                <a:solidFill>
                  <a:srgbClr val="1F2020"/>
                </a:solidFill>
                <a:latin typeface="Poppins Bold"/>
                <a:ea typeface="Poppins Bold"/>
                <a:cs typeface="Poppins Bold"/>
                <a:sym typeface="Poppins Bold"/>
              </a:rPr>
              <a:t>Solar Panel</a:t>
            </a:r>
          </a:p>
        </p:txBody>
      </p:sp>
      <p:sp>
        <p:nvSpPr>
          <p:cNvPr name="TextBox 42" id="42"/>
          <p:cNvSpPr txBox="true"/>
          <p:nvPr/>
        </p:nvSpPr>
        <p:spPr>
          <a:xfrm rot="0">
            <a:off x="14928432" y="6790479"/>
            <a:ext cx="1857299" cy="368300"/>
          </a:xfrm>
          <a:prstGeom prst="rect">
            <a:avLst/>
          </a:prstGeom>
        </p:spPr>
        <p:txBody>
          <a:bodyPr anchor="t" rtlCol="false" tIns="0" lIns="0" bIns="0" rIns="0">
            <a:spAutoFit/>
          </a:bodyPr>
          <a:lstStyle/>
          <a:p>
            <a:pPr algn="l">
              <a:lnSpc>
                <a:spcPts val="2800"/>
              </a:lnSpc>
              <a:spcBef>
                <a:spcPct val="0"/>
              </a:spcBef>
            </a:pPr>
            <a:r>
              <a:rPr lang="en-US" b="true" sz="2000">
                <a:solidFill>
                  <a:srgbClr val="1F2020"/>
                </a:solidFill>
                <a:latin typeface="Poppins Bold"/>
                <a:ea typeface="Poppins Bold"/>
                <a:cs typeface="Poppins Bold"/>
                <a:sym typeface="Poppins Bold"/>
              </a:rPr>
              <a:t>Battery</a:t>
            </a:r>
          </a:p>
        </p:txBody>
      </p:sp>
      <p:sp>
        <p:nvSpPr>
          <p:cNvPr name="AutoShape 43" id="43"/>
          <p:cNvSpPr/>
          <p:nvPr/>
        </p:nvSpPr>
        <p:spPr>
          <a:xfrm>
            <a:off x="4459786" y="3118540"/>
            <a:ext cx="0" cy="6869885"/>
          </a:xfrm>
          <a:prstGeom prst="line">
            <a:avLst/>
          </a:prstGeom>
          <a:ln cap="flat" w="38100">
            <a:solidFill>
              <a:srgbClr val="000000"/>
            </a:solidFill>
            <a:prstDash val="solid"/>
            <a:headEnd type="none" len="sm" w="sm"/>
            <a:tailEnd type="none" len="sm" w="sm"/>
          </a:ln>
        </p:spPr>
      </p:sp>
      <p:sp>
        <p:nvSpPr>
          <p:cNvPr name="AutoShape 44" id="44"/>
          <p:cNvSpPr/>
          <p:nvPr/>
        </p:nvSpPr>
        <p:spPr>
          <a:xfrm>
            <a:off x="9334351" y="3137590"/>
            <a:ext cx="0" cy="6831785"/>
          </a:xfrm>
          <a:prstGeom prst="line">
            <a:avLst/>
          </a:prstGeom>
          <a:ln cap="flat" w="38100">
            <a:solidFill>
              <a:srgbClr val="000000"/>
            </a:solidFill>
            <a:prstDash val="solid"/>
            <a:headEnd type="none" len="sm" w="sm"/>
            <a:tailEnd type="none" len="sm" w="sm"/>
          </a:ln>
        </p:spPr>
      </p:sp>
      <p:sp>
        <p:nvSpPr>
          <p:cNvPr name="AutoShape 45" id="45"/>
          <p:cNvSpPr/>
          <p:nvPr/>
        </p:nvSpPr>
        <p:spPr>
          <a:xfrm>
            <a:off x="14371697" y="3137590"/>
            <a:ext cx="0" cy="6850835"/>
          </a:xfrm>
          <a:prstGeom prst="line">
            <a:avLst/>
          </a:prstGeom>
          <a:ln cap="flat" w="38100">
            <a:solidFill>
              <a:srgbClr val="000000"/>
            </a:solidFill>
            <a:prstDash val="solid"/>
            <a:headEnd type="none" len="sm" w="sm"/>
            <a:tailEnd type="none" len="sm" w="sm"/>
          </a:ln>
        </p:spPr>
      </p:sp>
      <p:sp>
        <p:nvSpPr>
          <p:cNvPr name="AutoShape 46" id="46"/>
          <p:cNvSpPr/>
          <p:nvPr/>
        </p:nvSpPr>
        <p:spPr>
          <a:xfrm>
            <a:off x="111027" y="3137590"/>
            <a:ext cx="0" cy="6850835"/>
          </a:xfrm>
          <a:prstGeom prst="line">
            <a:avLst/>
          </a:prstGeom>
          <a:ln cap="flat" w="38100">
            <a:solidFill>
              <a:srgbClr val="000000"/>
            </a:solidFill>
            <a:prstDash val="solid"/>
            <a:headEnd type="none" len="sm" w="sm"/>
            <a:tailEnd type="none" len="sm" w="sm"/>
          </a:ln>
        </p:spPr>
      </p:sp>
      <p:sp>
        <p:nvSpPr>
          <p:cNvPr name="AutoShape 47" id="47"/>
          <p:cNvSpPr/>
          <p:nvPr/>
        </p:nvSpPr>
        <p:spPr>
          <a:xfrm>
            <a:off x="94804" y="3118540"/>
            <a:ext cx="17856656" cy="0"/>
          </a:xfrm>
          <a:prstGeom prst="line">
            <a:avLst/>
          </a:prstGeom>
          <a:ln cap="flat" w="38100">
            <a:solidFill>
              <a:srgbClr val="000000"/>
            </a:solidFill>
            <a:prstDash val="solid"/>
            <a:headEnd type="none" len="sm" w="sm"/>
            <a:tailEnd type="none" len="sm" w="sm"/>
          </a:ln>
        </p:spPr>
      </p:sp>
      <p:sp>
        <p:nvSpPr>
          <p:cNvPr name="AutoShape 48" id="48"/>
          <p:cNvSpPr/>
          <p:nvPr/>
        </p:nvSpPr>
        <p:spPr>
          <a:xfrm flipV="true">
            <a:off x="111027" y="9969375"/>
            <a:ext cx="17380772" cy="19050"/>
          </a:xfrm>
          <a:prstGeom prst="line">
            <a:avLst/>
          </a:prstGeom>
          <a:ln cap="flat" w="38100">
            <a:solidFill>
              <a:srgbClr val="000000"/>
            </a:solidFill>
            <a:prstDash val="solid"/>
            <a:headEnd type="none" len="sm" w="sm"/>
            <a:tailEnd type="none" len="sm" w="sm"/>
          </a:ln>
        </p:spPr>
      </p:sp>
      <p:sp>
        <p:nvSpPr>
          <p:cNvPr name="AutoShape 49" id="49"/>
          <p:cNvSpPr/>
          <p:nvPr/>
        </p:nvSpPr>
        <p:spPr>
          <a:xfrm flipV="true">
            <a:off x="111048" y="6599035"/>
            <a:ext cx="17856636" cy="4111"/>
          </a:xfrm>
          <a:prstGeom prst="line">
            <a:avLst/>
          </a:prstGeom>
          <a:ln cap="flat" w="38100">
            <a:solidFill>
              <a:srgbClr val="000000"/>
            </a:solidFill>
            <a:prstDash val="solid"/>
            <a:headEnd type="none" len="sm" w="sm"/>
            <a:tailEnd type="none" len="sm" w="sm"/>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491799" y="9487118"/>
            <a:ext cx="951769" cy="799882"/>
            <a:chOff x="0" y="0"/>
            <a:chExt cx="967140" cy="812800"/>
          </a:xfrm>
        </p:grpSpPr>
        <p:sp>
          <p:nvSpPr>
            <p:cNvPr name="Freeform 9" id="9"/>
            <p:cNvSpPr/>
            <p:nvPr/>
          </p:nvSpPr>
          <p:spPr>
            <a:xfrm flipH="false" flipV="false" rot="0">
              <a:off x="0" y="0"/>
              <a:ext cx="967140" cy="812800"/>
            </a:xfrm>
            <a:custGeom>
              <a:avLst/>
              <a:gdLst/>
              <a:ahLst/>
              <a:cxnLst/>
              <a:rect r="r" b="b" t="t" l="l"/>
              <a:pathLst>
                <a:path h="812800" w="96714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name="TextBox 10" id="10"/>
            <p:cNvSpPr txBox="true"/>
            <p:nvPr/>
          </p:nvSpPr>
          <p:spPr>
            <a:xfrm>
              <a:off x="0" y="-38100"/>
              <a:ext cx="967140" cy="8509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7293116" y="565634"/>
            <a:ext cx="397367" cy="28996"/>
            <a:chOff x="0" y="0"/>
            <a:chExt cx="128243" cy="9358"/>
          </a:xfrm>
        </p:grpSpPr>
        <p:sp>
          <p:nvSpPr>
            <p:cNvPr name="Freeform 12" id="12"/>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13" id="13"/>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17293116" y="657737"/>
            <a:ext cx="397367" cy="28996"/>
            <a:chOff x="0" y="0"/>
            <a:chExt cx="128243" cy="9358"/>
          </a:xfrm>
        </p:grpSpPr>
        <p:sp>
          <p:nvSpPr>
            <p:cNvPr name="Freeform 15" id="15"/>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16" id="16"/>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212689" y="314984"/>
            <a:ext cx="2721375" cy="622549"/>
            <a:chOff x="0" y="0"/>
            <a:chExt cx="3628500" cy="830065"/>
          </a:xfrm>
        </p:grpSpPr>
        <p:sp>
          <p:nvSpPr>
            <p:cNvPr name="TextBox 18" id="18"/>
            <p:cNvSpPr txBox="true"/>
            <p:nvPr/>
          </p:nvSpPr>
          <p:spPr>
            <a:xfrm rot="0">
              <a:off x="1065319" y="267078"/>
              <a:ext cx="2563180" cy="267335"/>
            </a:xfrm>
            <a:prstGeom prst="rect">
              <a:avLst/>
            </a:prstGeom>
          </p:spPr>
          <p:txBody>
            <a:bodyPr anchor="t" rtlCol="false" tIns="0" lIns="0" bIns="0" rIns="0">
              <a:spAutoFit/>
            </a:bodyPr>
            <a:lstStyle/>
            <a:p>
              <a:pPr algn="l">
                <a:lnSpc>
                  <a:spcPts val="1680"/>
                </a:lnSpc>
                <a:spcBef>
                  <a:spcPct val="0"/>
                </a:spcBef>
              </a:pPr>
              <a:r>
                <a:rPr lang="en-US" b="true" sz="1200">
                  <a:solidFill>
                    <a:srgbClr val="1F2020"/>
                  </a:solidFill>
                  <a:latin typeface="Poppins Bold"/>
                  <a:ea typeface="Poppins Bold"/>
                  <a:cs typeface="Poppins Bold"/>
                  <a:sym typeface="Poppins Bold"/>
                </a:rPr>
                <a:t>Institut Teknologi Del</a:t>
              </a:r>
            </a:p>
          </p:txBody>
        </p:sp>
        <p:sp>
          <p:nvSpPr>
            <p:cNvPr name="Freeform 19" id="19"/>
            <p:cNvSpPr/>
            <p:nvPr/>
          </p:nvSpPr>
          <p:spPr>
            <a:xfrm flipH="false" flipV="false" rot="0">
              <a:off x="0" y="0"/>
              <a:ext cx="868292" cy="830065"/>
            </a:xfrm>
            <a:custGeom>
              <a:avLst/>
              <a:gdLst/>
              <a:ahLst/>
              <a:cxnLst/>
              <a:rect r="r" b="b" t="t" l="l"/>
              <a:pathLst>
                <a:path h="830065" w="868292">
                  <a:moveTo>
                    <a:pt x="0" y="0"/>
                  </a:moveTo>
                  <a:lnTo>
                    <a:pt x="868292" y="0"/>
                  </a:lnTo>
                  <a:lnTo>
                    <a:pt x="868292" y="830065"/>
                  </a:lnTo>
                  <a:lnTo>
                    <a:pt x="0" y="830065"/>
                  </a:lnTo>
                  <a:lnTo>
                    <a:pt x="0" y="0"/>
                  </a:lnTo>
                  <a:close/>
                </a:path>
              </a:pathLst>
            </a:custGeom>
            <a:blipFill>
              <a:blip r:embed="rId2"/>
              <a:stretch>
                <a:fillRect l="0" t="0" r="0" b="0"/>
              </a:stretch>
            </a:blipFill>
          </p:spPr>
        </p:sp>
      </p:grpSp>
      <p:sp>
        <p:nvSpPr>
          <p:cNvPr name="Freeform 20" id="20"/>
          <p:cNvSpPr/>
          <p:nvPr/>
        </p:nvSpPr>
        <p:spPr>
          <a:xfrm flipH="false" flipV="false" rot="0">
            <a:off x="4701547" y="-7512215"/>
            <a:ext cx="10369497" cy="10356536"/>
          </a:xfrm>
          <a:custGeom>
            <a:avLst/>
            <a:gdLst/>
            <a:ahLst/>
            <a:cxnLst/>
            <a:rect r="r" b="b" t="t" l="l"/>
            <a:pathLst>
              <a:path h="10356536" w="10369497">
                <a:moveTo>
                  <a:pt x="0" y="0"/>
                </a:moveTo>
                <a:lnTo>
                  <a:pt x="10369498" y="0"/>
                </a:lnTo>
                <a:lnTo>
                  <a:pt x="10369498" y="10356535"/>
                </a:lnTo>
                <a:lnTo>
                  <a:pt x="0" y="10356535"/>
                </a:lnTo>
                <a:lnTo>
                  <a:pt x="0" y="0"/>
                </a:lnTo>
                <a:close/>
              </a:path>
            </a:pathLst>
          </a:custGeom>
          <a:blipFill>
            <a:blip r:embed="rId3"/>
            <a:stretch>
              <a:fillRect l="0" t="0" r="0" b="0"/>
            </a:stretch>
          </a:blipFill>
        </p:spPr>
      </p:sp>
      <p:grpSp>
        <p:nvGrpSpPr>
          <p:cNvPr name="Group 21" id="21"/>
          <p:cNvGrpSpPr/>
          <p:nvPr/>
        </p:nvGrpSpPr>
        <p:grpSpPr>
          <a:xfrm rot="0">
            <a:off x="4459786" y="-7926664"/>
            <a:ext cx="10216782" cy="10216782"/>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3" id="23"/>
            <p:cNvSpPr txBox="true"/>
            <p:nvPr/>
          </p:nvSpPr>
          <p:spPr>
            <a:xfrm>
              <a:off x="76200" y="38100"/>
              <a:ext cx="660400" cy="698500"/>
            </a:xfrm>
            <a:prstGeom prst="rect">
              <a:avLst/>
            </a:prstGeom>
          </p:spPr>
          <p:txBody>
            <a:bodyPr anchor="ctr" rtlCol="false" tIns="47589" lIns="47589" bIns="47589" rIns="47589"/>
            <a:lstStyle/>
            <a:p>
              <a:pPr algn="ctr">
                <a:lnSpc>
                  <a:spcPts val="2659"/>
                </a:lnSpc>
                <a:spcBef>
                  <a:spcPct val="0"/>
                </a:spcBef>
              </a:pPr>
            </a:p>
          </p:txBody>
        </p:sp>
      </p:grpSp>
      <p:sp>
        <p:nvSpPr>
          <p:cNvPr name="AutoShape 24" id="24"/>
          <p:cNvSpPr/>
          <p:nvPr/>
        </p:nvSpPr>
        <p:spPr>
          <a:xfrm flipH="true">
            <a:off x="9307093" y="2878140"/>
            <a:ext cx="0" cy="7009269"/>
          </a:xfrm>
          <a:prstGeom prst="line">
            <a:avLst/>
          </a:prstGeom>
          <a:ln cap="flat" w="38100">
            <a:solidFill>
              <a:srgbClr val="000000"/>
            </a:solidFill>
            <a:prstDash val="solid"/>
            <a:headEnd type="none" len="sm" w="sm"/>
            <a:tailEnd type="none" len="sm" w="sm"/>
          </a:ln>
        </p:spPr>
      </p:sp>
      <p:sp>
        <p:nvSpPr>
          <p:cNvPr name="AutoShape 25" id="25"/>
          <p:cNvSpPr/>
          <p:nvPr/>
        </p:nvSpPr>
        <p:spPr>
          <a:xfrm>
            <a:off x="16830023" y="2844320"/>
            <a:ext cx="0" cy="7043089"/>
          </a:xfrm>
          <a:prstGeom prst="line">
            <a:avLst/>
          </a:prstGeom>
          <a:ln cap="flat" w="38100">
            <a:solidFill>
              <a:srgbClr val="000000"/>
            </a:solidFill>
            <a:prstDash val="solid"/>
            <a:headEnd type="none" len="sm" w="sm"/>
            <a:tailEnd type="none" len="sm" w="sm"/>
          </a:ln>
        </p:spPr>
      </p:sp>
      <p:sp>
        <p:nvSpPr>
          <p:cNvPr name="AutoShape 26" id="26"/>
          <p:cNvSpPr/>
          <p:nvPr/>
        </p:nvSpPr>
        <p:spPr>
          <a:xfrm>
            <a:off x="1784162" y="2844320"/>
            <a:ext cx="0" cy="7043089"/>
          </a:xfrm>
          <a:prstGeom prst="line">
            <a:avLst/>
          </a:prstGeom>
          <a:ln cap="flat" w="38100">
            <a:solidFill>
              <a:srgbClr val="000000"/>
            </a:solidFill>
            <a:prstDash val="solid"/>
            <a:headEnd type="none" len="sm" w="sm"/>
            <a:tailEnd type="none" len="sm" w="sm"/>
          </a:ln>
        </p:spPr>
      </p:sp>
      <p:sp>
        <p:nvSpPr>
          <p:cNvPr name="AutoShape 27" id="27"/>
          <p:cNvSpPr/>
          <p:nvPr/>
        </p:nvSpPr>
        <p:spPr>
          <a:xfrm>
            <a:off x="1784162" y="2844320"/>
            <a:ext cx="15045861" cy="0"/>
          </a:xfrm>
          <a:prstGeom prst="line">
            <a:avLst/>
          </a:prstGeom>
          <a:ln cap="flat" w="38100">
            <a:solidFill>
              <a:srgbClr val="000000"/>
            </a:solidFill>
            <a:prstDash val="solid"/>
            <a:headEnd type="none" len="sm" w="sm"/>
            <a:tailEnd type="none" len="sm" w="sm"/>
          </a:ln>
        </p:spPr>
      </p:sp>
      <p:sp>
        <p:nvSpPr>
          <p:cNvPr name="AutoShape 28" id="28"/>
          <p:cNvSpPr/>
          <p:nvPr/>
        </p:nvSpPr>
        <p:spPr>
          <a:xfrm>
            <a:off x="1784162" y="9887409"/>
            <a:ext cx="15045861" cy="0"/>
          </a:xfrm>
          <a:prstGeom prst="line">
            <a:avLst/>
          </a:prstGeom>
          <a:ln cap="flat" w="38100">
            <a:solidFill>
              <a:srgbClr val="000000"/>
            </a:solidFill>
            <a:prstDash val="solid"/>
            <a:headEnd type="none" len="sm" w="sm"/>
            <a:tailEnd type="none" len="sm" w="sm"/>
          </a:ln>
        </p:spPr>
      </p:sp>
      <p:sp>
        <p:nvSpPr>
          <p:cNvPr name="AutoShape 29" id="29"/>
          <p:cNvSpPr/>
          <p:nvPr/>
        </p:nvSpPr>
        <p:spPr>
          <a:xfrm>
            <a:off x="1784162" y="6365865"/>
            <a:ext cx="15045861" cy="0"/>
          </a:xfrm>
          <a:prstGeom prst="line">
            <a:avLst/>
          </a:prstGeom>
          <a:ln cap="flat" w="38100">
            <a:solidFill>
              <a:srgbClr val="000000"/>
            </a:solidFill>
            <a:prstDash val="solid"/>
            <a:headEnd type="none" len="sm" w="sm"/>
            <a:tailEnd type="none" len="sm" w="sm"/>
          </a:ln>
        </p:spPr>
      </p:sp>
      <p:sp>
        <p:nvSpPr>
          <p:cNvPr name="Freeform 30" id="30"/>
          <p:cNvSpPr/>
          <p:nvPr/>
        </p:nvSpPr>
        <p:spPr>
          <a:xfrm flipH="false" flipV="false" rot="0">
            <a:off x="2697196" y="3312911"/>
            <a:ext cx="5104549" cy="2866938"/>
          </a:xfrm>
          <a:custGeom>
            <a:avLst/>
            <a:gdLst/>
            <a:ahLst/>
            <a:cxnLst/>
            <a:rect r="r" b="b" t="t" l="l"/>
            <a:pathLst>
              <a:path h="2866938" w="5104549">
                <a:moveTo>
                  <a:pt x="0" y="0"/>
                </a:moveTo>
                <a:lnTo>
                  <a:pt x="5104549" y="0"/>
                </a:lnTo>
                <a:lnTo>
                  <a:pt x="5104549" y="2866938"/>
                </a:lnTo>
                <a:lnTo>
                  <a:pt x="0" y="2866938"/>
                </a:lnTo>
                <a:lnTo>
                  <a:pt x="0" y="0"/>
                </a:lnTo>
                <a:close/>
              </a:path>
            </a:pathLst>
          </a:custGeom>
          <a:blipFill>
            <a:blip r:embed="rId4"/>
            <a:stretch>
              <a:fillRect l="0" t="0" r="0" b="0"/>
            </a:stretch>
          </a:blipFill>
        </p:spPr>
      </p:sp>
      <p:sp>
        <p:nvSpPr>
          <p:cNvPr name="Freeform 31" id="31"/>
          <p:cNvSpPr/>
          <p:nvPr/>
        </p:nvSpPr>
        <p:spPr>
          <a:xfrm flipH="false" flipV="false" rot="0">
            <a:off x="2934571" y="7414743"/>
            <a:ext cx="3845226" cy="2072375"/>
          </a:xfrm>
          <a:custGeom>
            <a:avLst/>
            <a:gdLst/>
            <a:ahLst/>
            <a:cxnLst/>
            <a:rect r="r" b="b" t="t" l="l"/>
            <a:pathLst>
              <a:path h="2072375" w="3845226">
                <a:moveTo>
                  <a:pt x="0" y="0"/>
                </a:moveTo>
                <a:lnTo>
                  <a:pt x="3845226" y="0"/>
                </a:lnTo>
                <a:lnTo>
                  <a:pt x="3845226" y="2072375"/>
                </a:lnTo>
                <a:lnTo>
                  <a:pt x="0" y="2072375"/>
                </a:lnTo>
                <a:lnTo>
                  <a:pt x="0" y="0"/>
                </a:lnTo>
                <a:close/>
              </a:path>
            </a:pathLst>
          </a:custGeom>
          <a:blipFill>
            <a:blip r:embed="rId5"/>
            <a:stretch>
              <a:fillRect l="0" t="0" r="0" b="0"/>
            </a:stretch>
          </a:blipFill>
        </p:spPr>
      </p:sp>
      <p:sp>
        <p:nvSpPr>
          <p:cNvPr name="Freeform 32" id="32"/>
          <p:cNvSpPr/>
          <p:nvPr/>
        </p:nvSpPr>
        <p:spPr>
          <a:xfrm flipH="false" flipV="false" rot="0">
            <a:off x="11479369" y="7099290"/>
            <a:ext cx="4356412" cy="2449388"/>
          </a:xfrm>
          <a:custGeom>
            <a:avLst/>
            <a:gdLst/>
            <a:ahLst/>
            <a:cxnLst/>
            <a:rect r="r" b="b" t="t" l="l"/>
            <a:pathLst>
              <a:path h="2449388" w="4356412">
                <a:moveTo>
                  <a:pt x="0" y="0"/>
                </a:moveTo>
                <a:lnTo>
                  <a:pt x="4356412" y="0"/>
                </a:lnTo>
                <a:lnTo>
                  <a:pt x="4356412" y="2449388"/>
                </a:lnTo>
                <a:lnTo>
                  <a:pt x="0" y="2449388"/>
                </a:lnTo>
                <a:lnTo>
                  <a:pt x="0" y="0"/>
                </a:lnTo>
                <a:close/>
              </a:path>
            </a:pathLst>
          </a:custGeom>
          <a:blipFill>
            <a:blip r:embed="rId6"/>
            <a:stretch>
              <a:fillRect l="0" t="0" r="0" b="0"/>
            </a:stretch>
          </a:blipFill>
        </p:spPr>
      </p:sp>
      <p:sp>
        <p:nvSpPr>
          <p:cNvPr name="Freeform 33" id="33"/>
          <p:cNvSpPr/>
          <p:nvPr/>
        </p:nvSpPr>
        <p:spPr>
          <a:xfrm flipH="false" flipV="false" rot="0">
            <a:off x="12636646" y="3575684"/>
            <a:ext cx="2434399" cy="2434399"/>
          </a:xfrm>
          <a:custGeom>
            <a:avLst/>
            <a:gdLst/>
            <a:ahLst/>
            <a:cxnLst/>
            <a:rect r="r" b="b" t="t" l="l"/>
            <a:pathLst>
              <a:path h="2434399" w="2434399">
                <a:moveTo>
                  <a:pt x="0" y="0"/>
                </a:moveTo>
                <a:lnTo>
                  <a:pt x="2434399" y="0"/>
                </a:lnTo>
                <a:lnTo>
                  <a:pt x="2434399" y="2434399"/>
                </a:lnTo>
                <a:lnTo>
                  <a:pt x="0" y="2434399"/>
                </a:lnTo>
                <a:lnTo>
                  <a:pt x="0" y="0"/>
                </a:lnTo>
                <a:close/>
              </a:path>
            </a:pathLst>
          </a:custGeom>
          <a:blipFill>
            <a:blip r:embed="rId7"/>
            <a:stretch>
              <a:fillRect l="0" t="0" r="0" b="0"/>
            </a:stretch>
          </a:blipFill>
        </p:spPr>
      </p:sp>
      <p:sp>
        <p:nvSpPr>
          <p:cNvPr name="TextBox 34" id="34"/>
          <p:cNvSpPr txBox="true"/>
          <p:nvPr/>
        </p:nvSpPr>
        <p:spPr>
          <a:xfrm rot="0">
            <a:off x="17674380" y="9739388"/>
            <a:ext cx="442747" cy="257943"/>
          </a:xfrm>
          <a:prstGeom prst="rect">
            <a:avLst/>
          </a:prstGeom>
        </p:spPr>
        <p:txBody>
          <a:bodyPr anchor="t" rtlCol="false" tIns="0" lIns="0" bIns="0" rIns="0">
            <a:spAutoFit/>
          </a:bodyPr>
          <a:lstStyle/>
          <a:p>
            <a:pPr algn="ctr">
              <a:lnSpc>
                <a:spcPts val="2057"/>
              </a:lnSpc>
              <a:spcBef>
                <a:spcPct val="0"/>
              </a:spcBef>
            </a:pPr>
            <a:r>
              <a:rPr lang="en-US" b="true" sz="1469">
                <a:solidFill>
                  <a:srgbClr val="FFFFFF"/>
                </a:solidFill>
                <a:latin typeface="Poppins Bold"/>
                <a:ea typeface="Poppins Bold"/>
                <a:cs typeface="Poppins Bold"/>
                <a:sym typeface="Poppins Bold"/>
              </a:rPr>
              <a:t>07</a:t>
            </a:r>
          </a:p>
        </p:txBody>
      </p:sp>
      <p:sp>
        <p:nvSpPr>
          <p:cNvPr name="TextBox 35" id="35"/>
          <p:cNvSpPr txBox="true"/>
          <p:nvPr/>
        </p:nvSpPr>
        <p:spPr>
          <a:xfrm rot="0">
            <a:off x="7438876" y="470384"/>
            <a:ext cx="4377510" cy="1226871"/>
          </a:xfrm>
          <a:prstGeom prst="rect">
            <a:avLst/>
          </a:prstGeom>
        </p:spPr>
        <p:txBody>
          <a:bodyPr anchor="t" rtlCol="false" tIns="0" lIns="0" bIns="0" rIns="0">
            <a:spAutoFit/>
          </a:bodyPr>
          <a:lstStyle/>
          <a:p>
            <a:pPr algn="ctr">
              <a:lnSpc>
                <a:spcPts val="4866"/>
              </a:lnSpc>
              <a:spcBef>
                <a:spcPct val="0"/>
              </a:spcBef>
            </a:pPr>
            <a:r>
              <a:rPr lang="en-US" b="true" sz="3476">
                <a:solidFill>
                  <a:srgbClr val="1F2020"/>
                </a:solidFill>
                <a:latin typeface="Poppins Bold"/>
                <a:ea typeface="Poppins Bold"/>
                <a:cs typeface="Poppins Bold"/>
                <a:sym typeface="Poppins Bold"/>
              </a:rPr>
              <a:t>Tools used in the software section</a:t>
            </a:r>
          </a:p>
        </p:txBody>
      </p:sp>
      <p:sp>
        <p:nvSpPr>
          <p:cNvPr name="TextBox 36" id="36"/>
          <p:cNvSpPr txBox="true"/>
          <p:nvPr/>
        </p:nvSpPr>
        <p:spPr>
          <a:xfrm rot="0">
            <a:off x="4459786" y="2944611"/>
            <a:ext cx="1870966" cy="368300"/>
          </a:xfrm>
          <a:prstGeom prst="rect">
            <a:avLst/>
          </a:prstGeom>
        </p:spPr>
        <p:txBody>
          <a:bodyPr anchor="t" rtlCol="false" tIns="0" lIns="0" bIns="0" rIns="0">
            <a:spAutoFit/>
          </a:bodyPr>
          <a:lstStyle/>
          <a:p>
            <a:pPr algn="l">
              <a:lnSpc>
                <a:spcPts val="2800"/>
              </a:lnSpc>
              <a:spcBef>
                <a:spcPct val="0"/>
              </a:spcBef>
            </a:pPr>
            <a:r>
              <a:rPr lang="en-US" b="true" sz="2000">
                <a:solidFill>
                  <a:srgbClr val="1F2020"/>
                </a:solidFill>
                <a:latin typeface="Poppins Bold"/>
                <a:ea typeface="Poppins Bold"/>
                <a:cs typeface="Poppins Bold"/>
                <a:sym typeface="Poppins Bold"/>
              </a:rPr>
              <a:t>Arduino IDE</a:t>
            </a:r>
          </a:p>
        </p:txBody>
      </p:sp>
      <p:sp>
        <p:nvSpPr>
          <p:cNvPr name="TextBox 37" id="37"/>
          <p:cNvSpPr txBox="true"/>
          <p:nvPr/>
        </p:nvSpPr>
        <p:spPr>
          <a:xfrm rot="0">
            <a:off x="12805602" y="2870653"/>
            <a:ext cx="2689436" cy="368300"/>
          </a:xfrm>
          <a:prstGeom prst="rect">
            <a:avLst/>
          </a:prstGeom>
        </p:spPr>
        <p:txBody>
          <a:bodyPr anchor="t" rtlCol="false" tIns="0" lIns="0" bIns="0" rIns="0">
            <a:spAutoFit/>
          </a:bodyPr>
          <a:lstStyle/>
          <a:p>
            <a:pPr algn="l">
              <a:lnSpc>
                <a:spcPts val="2800"/>
              </a:lnSpc>
              <a:spcBef>
                <a:spcPct val="0"/>
              </a:spcBef>
            </a:pPr>
            <a:r>
              <a:rPr lang="en-US" b="true" sz="2000">
                <a:solidFill>
                  <a:srgbClr val="1F2020"/>
                </a:solidFill>
                <a:latin typeface="Poppins Bold"/>
                <a:ea typeface="Poppins Bold"/>
                <a:cs typeface="Poppins Bold"/>
                <a:sym typeface="Poppins Bold"/>
              </a:rPr>
              <a:t>Visual Studio Code</a:t>
            </a:r>
          </a:p>
        </p:txBody>
      </p:sp>
      <p:sp>
        <p:nvSpPr>
          <p:cNvPr name="TextBox 38" id="38"/>
          <p:cNvSpPr txBox="true"/>
          <p:nvPr/>
        </p:nvSpPr>
        <p:spPr>
          <a:xfrm rot="0">
            <a:off x="4090361" y="6665443"/>
            <a:ext cx="2689436" cy="368300"/>
          </a:xfrm>
          <a:prstGeom prst="rect">
            <a:avLst/>
          </a:prstGeom>
        </p:spPr>
        <p:txBody>
          <a:bodyPr anchor="t" rtlCol="false" tIns="0" lIns="0" bIns="0" rIns="0">
            <a:spAutoFit/>
          </a:bodyPr>
          <a:lstStyle/>
          <a:p>
            <a:pPr algn="l">
              <a:lnSpc>
                <a:spcPts val="2800"/>
              </a:lnSpc>
              <a:spcBef>
                <a:spcPct val="0"/>
              </a:spcBef>
            </a:pPr>
            <a:r>
              <a:rPr lang="en-US" b="true" sz="2000">
                <a:solidFill>
                  <a:srgbClr val="1F2020"/>
                </a:solidFill>
                <a:latin typeface="Poppins Bold"/>
                <a:ea typeface="Poppins Bold"/>
                <a:cs typeface="Poppins Bold"/>
                <a:sym typeface="Poppins Bold"/>
              </a:rPr>
              <a:t>PHP MySQL</a:t>
            </a:r>
          </a:p>
        </p:txBody>
      </p:sp>
      <p:sp>
        <p:nvSpPr>
          <p:cNvPr name="TextBox 39" id="39"/>
          <p:cNvSpPr txBox="true"/>
          <p:nvPr/>
        </p:nvSpPr>
        <p:spPr>
          <a:xfrm rot="0">
            <a:off x="13639856" y="6413490"/>
            <a:ext cx="1020929" cy="368300"/>
          </a:xfrm>
          <a:prstGeom prst="rect">
            <a:avLst/>
          </a:prstGeom>
        </p:spPr>
        <p:txBody>
          <a:bodyPr anchor="t" rtlCol="false" tIns="0" lIns="0" bIns="0" rIns="0">
            <a:spAutoFit/>
          </a:bodyPr>
          <a:lstStyle/>
          <a:p>
            <a:pPr algn="l">
              <a:lnSpc>
                <a:spcPts val="2800"/>
              </a:lnSpc>
              <a:spcBef>
                <a:spcPct val="0"/>
              </a:spcBef>
            </a:pPr>
            <a:r>
              <a:rPr lang="en-US" b="true" sz="2000">
                <a:solidFill>
                  <a:srgbClr val="1F2020"/>
                </a:solidFill>
                <a:latin typeface="Poppins Bold"/>
                <a:ea typeface="Poppins Bold"/>
                <a:cs typeface="Poppins Bold"/>
                <a:sym typeface="Poppins Bold"/>
              </a:rPr>
              <a:t>MQTT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336231" y="9487118"/>
            <a:ext cx="951769" cy="799882"/>
            <a:chOff x="0" y="0"/>
            <a:chExt cx="1269026" cy="1066510"/>
          </a:xfrm>
        </p:grpSpPr>
        <p:grpSp>
          <p:nvGrpSpPr>
            <p:cNvPr name="Group 9" id="9"/>
            <p:cNvGrpSpPr/>
            <p:nvPr/>
          </p:nvGrpSpPr>
          <p:grpSpPr>
            <a:xfrm rot="0">
              <a:off x="0" y="0"/>
              <a:ext cx="1269026" cy="1066510"/>
              <a:chOff x="0" y="0"/>
              <a:chExt cx="967140" cy="812800"/>
            </a:xfrm>
          </p:grpSpPr>
          <p:sp>
            <p:nvSpPr>
              <p:cNvPr name="Freeform 10" id="10"/>
              <p:cNvSpPr/>
              <p:nvPr/>
            </p:nvSpPr>
            <p:spPr>
              <a:xfrm flipH="false" flipV="false" rot="0">
                <a:off x="0" y="0"/>
                <a:ext cx="967140" cy="812800"/>
              </a:xfrm>
              <a:custGeom>
                <a:avLst/>
                <a:gdLst/>
                <a:ahLst/>
                <a:cxnLst/>
                <a:rect r="r" b="b" t="t" l="l"/>
                <a:pathLst>
                  <a:path h="812800" w="96714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name="TextBox 11" id="11"/>
              <p:cNvSpPr txBox="true"/>
              <p:nvPr/>
            </p:nvSpPr>
            <p:spPr>
              <a:xfrm>
                <a:off x="0" y="-38100"/>
                <a:ext cx="967140" cy="850900"/>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43441" y="349060"/>
              <a:ext cx="590330" cy="331224"/>
            </a:xfrm>
            <a:prstGeom prst="rect">
              <a:avLst/>
            </a:prstGeom>
          </p:spPr>
          <p:txBody>
            <a:bodyPr anchor="t" rtlCol="false" tIns="0" lIns="0" bIns="0" rIns="0">
              <a:spAutoFit/>
            </a:bodyPr>
            <a:lstStyle/>
            <a:p>
              <a:pPr algn="ctr">
                <a:lnSpc>
                  <a:spcPts val="2057"/>
                </a:lnSpc>
                <a:spcBef>
                  <a:spcPct val="0"/>
                </a:spcBef>
              </a:pPr>
              <a:r>
                <a:rPr lang="en-US" b="true" sz="1469">
                  <a:solidFill>
                    <a:srgbClr val="FFFFFF"/>
                  </a:solidFill>
                  <a:latin typeface="Poppins Bold"/>
                  <a:ea typeface="Poppins Bold"/>
                  <a:cs typeface="Poppins Bold"/>
                  <a:sym typeface="Poppins Bold"/>
                </a:rPr>
                <a:t>08</a:t>
              </a:r>
            </a:p>
          </p:txBody>
        </p:sp>
      </p:grpSp>
      <p:grpSp>
        <p:nvGrpSpPr>
          <p:cNvPr name="Group 13" id="13"/>
          <p:cNvGrpSpPr/>
          <p:nvPr/>
        </p:nvGrpSpPr>
        <p:grpSpPr>
          <a:xfrm rot="0">
            <a:off x="701555" y="-2364619"/>
            <a:ext cx="17110560" cy="15016239"/>
            <a:chOff x="0" y="0"/>
            <a:chExt cx="22814080" cy="20021652"/>
          </a:xfrm>
        </p:grpSpPr>
        <p:grpSp>
          <p:nvGrpSpPr>
            <p:cNvPr name="Group 14" id="14"/>
            <p:cNvGrpSpPr/>
            <p:nvPr/>
          </p:nvGrpSpPr>
          <p:grpSpPr>
            <a:xfrm rot="0">
              <a:off x="0" y="0"/>
              <a:ext cx="22814080" cy="20021652"/>
              <a:chOff x="0" y="0"/>
              <a:chExt cx="926162" cy="812800"/>
            </a:xfrm>
          </p:grpSpPr>
          <p:sp>
            <p:nvSpPr>
              <p:cNvPr name="Freeform 15" id="15"/>
              <p:cNvSpPr/>
              <p:nvPr/>
            </p:nvSpPr>
            <p:spPr>
              <a:xfrm flipH="false" flipV="false" rot="0">
                <a:off x="0" y="0"/>
                <a:ext cx="926162" cy="812800"/>
              </a:xfrm>
              <a:custGeom>
                <a:avLst/>
                <a:gdLst/>
                <a:ahLst/>
                <a:cxnLst/>
                <a:rect r="r" b="b" t="t" l="l"/>
                <a:pathLst>
                  <a:path h="812800" w="926162">
                    <a:moveTo>
                      <a:pt x="463081" y="0"/>
                    </a:moveTo>
                    <a:cubicBezTo>
                      <a:pt x="207328" y="0"/>
                      <a:pt x="0" y="181951"/>
                      <a:pt x="0" y="406400"/>
                    </a:cubicBezTo>
                    <a:cubicBezTo>
                      <a:pt x="0" y="630849"/>
                      <a:pt x="207328" y="812800"/>
                      <a:pt x="463081" y="812800"/>
                    </a:cubicBezTo>
                    <a:cubicBezTo>
                      <a:pt x="718833" y="812800"/>
                      <a:pt x="926162" y="630849"/>
                      <a:pt x="926162" y="406400"/>
                    </a:cubicBezTo>
                    <a:cubicBezTo>
                      <a:pt x="926162" y="181951"/>
                      <a:pt x="718833" y="0"/>
                      <a:pt x="463081" y="0"/>
                    </a:cubicBezTo>
                    <a:close/>
                  </a:path>
                </a:pathLst>
              </a:custGeom>
              <a:solidFill>
                <a:srgbClr val="F8F8F8"/>
              </a:solidFill>
            </p:spPr>
          </p:sp>
          <p:sp>
            <p:nvSpPr>
              <p:cNvPr name="TextBox 16" id="16"/>
              <p:cNvSpPr txBox="true"/>
              <p:nvPr/>
            </p:nvSpPr>
            <p:spPr>
              <a:xfrm>
                <a:off x="86828" y="38100"/>
                <a:ext cx="752506"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17" id="17"/>
            <p:cNvSpPr/>
            <p:nvPr/>
          </p:nvSpPr>
          <p:spPr>
            <a:xfrm flipH="false" flipV="false" rot="0">
              <a:off x="2207814" y="2224049"/>
              <a:ext cx="19601112" cy="17180446"/>
            </a:xfrm>
            <a:custGeom>
              <a:avLst/>
              <a:gdLst/>
              <a:ahLst/>
              <a:cxnLst/>
              <a:rect r="r" b="b" t="t" l="l"/>
              <a:pathLst>
                <a:path h="17180446" w="19601112">
                  <a:moveTo>
                    <a:pt x="0" y="0"/>
                  </a:moveTo>
                  <a:lnTo>
                    <a:pt x="19601112" y="0"/>
                  </a:lnTo>
                  <a:lnTo>
                    <a:pt x="19601112" y="17180447"/>
                  </a:lnTo>
                  <a:lnTo>
                    <a:pt x="0" y="17180447"/>
                  </a:lnTo>
                  <a:lnTo>
                    <a:pt x="0" y="0"/>
                  </a:lnTo>
                  <a:close/>
                </a:path>
              </a:pathLst>
            </a:custGeom>
            <a:blipFill>
              <a:blip r:embed="rId2"/>
              <a:stretch>
                <a:fillRect l="0" t="-6973" r="0" b="-6973"/>
              </a:stretch>
            </a:blipFill>
          </p:spPr>
        </p:sp>
        <p:grpSp>
          <p:nvGrpSpPr>
            <p:cNvPr name="Group 18" id="18"/>
            <p:cNvGrpSpPr/>
            <p:nvPr/>
          </p:nvGrpSpPr>
          <p:grpSpPr>
            <a:xfrm rot="0">
              <a:off x="1750820" y="1536521"/>
              <a:ext cx="19312439" cy="16948609"/>
              <a:chOff x="0" y="0"/>
              <a:chExt cx="926162" cy="812800"/>
            </a:xfrm>
          </p:grpSpPr>
          <p:sp>
            <p:nvSpPr>
              <p:cNvPr name="Freeform 19" id="19"/>
              <p:cNvSpPr/>
              <p:nvPr/>
            </p:nvSpPr>
            <p:spPr>
              <a:xfrm flipH="false" flipV="false" rot="0">
                <a:off x="0" y="0"/>
                <a:ext cx="926162" cy="812800"/>
              </a:xfrm>
              <a:custGeom>
                <a:avLst/>
                <a:gdLst/>
                <a:ahLst/>
                <a:cxnLst/>
                <a:rect r="r" b="b" t="t" l="l"/>
                <a:pathLst>
                  <a:path h="812800" w="926162">
                    <a:moveTo>
                      <a:pt x="463081" y="0"/>
                    </a:moveTo>
                    <a:cubicBezTo>
                      <a:pt x="207328" y="0"/>
                      <a:pt x="0" y="181951"/>
                      <a:pt x="0" y="406400"/>
                    </a:cubicBezTo>
                    <a:cubicBezTo>
                      <a:pt x="0" y="630849"/>
                      <a:pt x="207328" y="812800"/>
                      <a:pt x="463081" y="812800"/>
                    </a:cubicBezTo>
                    <a:cubicBezTo>
                      <a:pt x="718833" y="812800"/>
                      <a:pt x="926162" y="630849"/>
                      <a:pt x="926162" y="406400"/>
                    </a:cubicBezTo>
                    <a:cubicBezTo>
                      <a:pt x="926162" y="181951"/>
                      <a:pt x="718833" y="0"/>
                      <a:pt x="463081" y="0"/>
                    </a:cubicBezTo>
                    <a:close/>
                  </a:path>
                </a:pathLst>
              </a:custGeom>
              <a:solidFill>
                <a:srgbClr val="FFFFFF"/>
              </a:solidFill>
            </p:spPr>
          </p:sp>
          <p:sp>
            <p:nvSpPr>
              <p:cNvPr name="TextBox 20" id="20"/>
              <p:cNvSpPr txBox="true"/>
              <p:nvPr/>
            </p:nvSpPr>
            <p:spPr>
              <a:xfrm>
                <a:off x="86828" y="38100"/>
                <a:ext cx="752506" cy="698500"/>
              </a:xfrm>
              <a:prstGeom prst="rect">
                <a:avLst/>
              </a:prstGeom>
            </p:spPr>
            <p:txBody>
              <a:bodyPr anchor="ctr" rtlCol="false" tIns="50800" lIns="50800" bIns="50800" rIns="50800"/>
              <a:lstStyle/>
              <a:p>
                <a:pPr algn="ctr">
                  <a:lnSpc>
                    <a:spcPts val="2660"/>
                  </a:lnSpc>
                  <a:spcBef>
                    <a:spcPct val="0"/>
                  </a:spcBef>
                </a:pPr>
              </a:p>
            </p:txBody>
          </p:sp>
        </p:grpSp>
      </p:grpSp>
      <p:sp>
        <p:nvSpPr>
          <p:cNvPr name="TextBox 21" id="21"/>
          <p:cNvSpPr txBox="true"/>
          <p:nvPr/>
        </p:nvSpPr>
        <p:spPr>
          <a:xfrm rot="0">
            <a:off x="2969976" y="480"/>
            <a:ext cx="12348047" cy="968383"/>
          </a:xfrm>
          <a:prstGeom prst="rect">
            <a:avLst/>
          </a:prstGeom>
        </p:spPr>
        <p:txBody>
          <a:bodyPr anchor="t" rtlCol="false" tIns="0" lIns="0" bIns="0" rIns="0">
            <a:spAutoFit/>
          </a:bodyPr>
          <a:lstStyle/>
          <a:p>
            <a:pPr algn="ctr">
              <a:lnSpc>
                <a:spcPts val="7523"/>
              </a:lnSpc>
              <a:spcBef>
                <a:spcPct val="0"/>
              </a:spcBef>
            </a:pPr>
            <a:r>
              <a:rPr lang="en-US" b="true" sz="5374">
                <a:solidFill>
                  <a:srgbClr val="3A6AD6"/>
                </a:solidFill>
                <a:latin typeface="Poppins Bold"/>
                <a:ea typeface="Poppins Bold"/>
                <a:cs typeface="Poppins Bold"/>
                <a:sym typeface="Poppins Bold"/>
              </a:rPr>
              <a:t>Scope</a:t>
            </a:r>
          </a:p>
        </p:txBody>
      </p:sp>
      <p:grpSp>
        <p:nvGrpSpPr>
          <p:cNvPr name="Group 22" id="22"/>
          <p:cNvGrpSpPr/>
          <p:nvPr/>
        </p:nvGrpSpPr>
        <p:grpSpPr>
          <a:xfrm rot="0">
            <a:off x="212689" y="314984"/>
            <a:ext cx="2721375" cy="622549"/>
            <a:chOff x="0" y="0"/>
            <a:chExt cx="3628500" cy="830065"/>
          </a:xfrm>
        </p:grpSpPr>
        <p:sp>
          <p:nvSpPr>
            <p:cNvPr name="TextBox 23" id="23"/>
            <p:cNvSpPr txBox="true"/>
            <p:nvPr/>
          </p:nvSpPr>
          <p:spPr>
            <a:xfrm rot="0">
              <a:off x="1065319" y="267078"/>
              <a:ext cx="2563180" cy="267335"/>
            </a:xfrm>
            <a:prstGeom prst="rect">
              <a:avLst/>
            </a:prstGeom>
          </p:spPr>
          <p:txBody>
            <a:bodyPr anchor="t" rtlCol="false" tIns="0" lIns="0" bIns="0" rIns="0">
              <a:spAutoFit/>
            </a:bodyPr>
            <a:lstStyle/>
            <a:p>
              <a:pPr algn="l">
                <a:lnSpc>
                  <a:spcPts val="1680"/>
                </a:lnSpc>
                <a:spcBef>
                  <a:spcPct val="0"/>
                </a:spcBef>
              </a:pPr>
              <a:r>
                <a:rPr lang="en-US" b="true" sz="1200">
                  <a:solidFill>
                    <a:srgbClr val="1F2020"/>
                  </a:solidFill>
                  <a:latin typeface="Poppins Bold"/>
                  <a:ea typeface="Poppins Bold"/>
                  <a:cs typeface="Poppins Bold"/>
                  <a:sym typeface="Poppins Bold"/>
                </a:rPr>
                <a:t>Institut Teknologi Del</a:t>
              </a:r>
            </a:p>
          </p:txBody>
        </p:sp>
        <p:sp>
          <p:nvSpPr>
            <p:cNvPr name="Freeform 24" id="24"/>
            <p:cNvSpPr/>
            <p:nvPr/>
          </p:nvSpPr>
          <p:spPr>
            <a:xfrm flipH="false" flipV="false" rot="0">
              <a:off x="0" y="0"/>
              <a:ext cx="868292" cy="830065"/>
            </a:xfrm>
            <a:custGeom>
              <a:avLst/>
              <a:gdLst/>
              <a:ahLst/>
              <a:cxnLst/>
              <a:rect r="r" b="b" t="t" l="l"/>
              <a:pathLst>
                <a:path h="830065" w="868292">
                  <a:moveTo>
                    <a:pt x="0" y="0"/>
                  </a:moveTo>
                  <a:lnTo>
                    <a:pt x="868292" y="0"/>
                  </a:lnTo>
                  <a:lnTo>
                    <a:pt x="868292" y="830065"/>
                  </a:lnTo>
                  <a:lnTo>
                    <a:pt x="0" y="830065"/>
                  </a:lnTo>
                  <a:lnTo>
                    <a:pt x="0" y="0"/>
                  </a:lnTo>
                  <a:close/>
                </a:path>
              </a:pathLst>
            </a:custGeom>
            <a:blipFill>
              <a:blip r:embed="rId3"/>
              <a:stretch>
                <a:fillRect l="0" t="0" r="0" b="0"/>
              </a:stretch>
            </a:blipFill>
          </p:spPr>
        </p:sp>
      </p:grpSp>
      <p:sp>
        <p:nvSpPr>
          <p:cNvPr name="TextBox 25" id="25"/>
          <p:cNvSpPr txBox="true"/>
          <p:nvPr/>
        </p:nvSpPr>
        <p:spPr>
          <a:xfrm rot="0">
            <a:off x="3481335" y="981075"/>
            <a:ext cx="11551002" cy="8368392"/>
          </a:xfrm>
          <a:prstGeom prst="rect">
            <a:avLst/>
          </a:prstGeom>
        </p:spPr>
        <p:txBody>
          <a:bodyPr anchor="t" rtlCol="false" tIns="0" lIns="0" bIns="0" rIns="0">
            <a:spAutoFit/>
          </a:bodyPr>
          <a:lstStyle/>
          <a:p>
            <a:pPr algn="just" marL="511376" indent="-255688" lvl="1">
              <a:lnSpc>
                <a:spcPts val="3316"/>
              </a:lnSpc>
              <a:buFont typeface="Arial"/>
              <a:buChar char="•"/>
            </a:pPr>
            <a:r>
              <a:rPr lang="en-US" b="true" sz="2368">
                <a:solidFill>
                  <a:srgbClr val="000000"/>
                </a:solidFill>
                <a:latin typeface="Canva Sans Bold"/>
                <a:ea typeface="Canva Sans Bold"/>
                <a:cs typeface="Canva Sans Bold"/>
                <a:sym typeface="Canva Sans Bold"/>
              </a:rPr>
              <a:t>The sys</a:t>
            </a:r>
            <a:r>
              <a:rPr lang="en-US" b="true" sz="2368">
                <a:solidFill>
                  <a:srgbClr val="000000"/>
                </a:solidFill>
                <a:latin typeface="Canva Sans Bold"/>
                <a:ea typeface="Canva Sans Bold"/>
                <a:cs typeface="Canva Sans Bold"/>
                <a:sym typeface="Canva Sans Bold"/>
              </a:rPr>
              <a:t>tem only uses a web-based dashboard as the medium for monitoring and managing weather data, without developing a mobile application.</a:t>
            </a:r>
          </a:p>
          <a:p>
            <a:pPr algn="just" marL="511376" indent="-255688" lvl="1">
              <a:lnSpc>
                <a:spcPts val="3316"/>
              </a:lnSpc>
              <a:buFont typeface="Arial"/>
              <a:buChar char="•"/>
            </a:pPr>
            <a:r>
              <a:rPr lang="en-US" b="true" sz="2368">
                <a:solidFill>
                  <a:srgbClr val="000000"/>
                </a:solidFill>
                <a:latin typeface="Canva Sans Bold"/>
                <a:ea typeface="Canva Sans Bold"/>
                <a:cs typeface="Canva Sans Bold"/>
                <a:sym typeface="Canva Sans Bold"/>
              </a:rPr>
              <a:t>The monitored weather parameters are limited to temperature &amp; humidity (DHT22), light intensity (BH1750), rainfall (rain gauge), and wind speed (anemometer).</a:t>
            </a:r>
          </a:p>
          <a:p>
            <a:pPr algn="just" marL="511376" indent="-255688" lvl="1">
              <a:lnSpc>
                <a:spcPts val="3316"/>
              </a:lnSpc>
              <a:buFont typeface="Arial"/>
              <a:buChar char="•"/>
            </a:pPr>
            <a:r>
              <a:rPr lang="en-US" b="true" sz="2368">
                <a:solidFill>
                  <a:srgbClr val="000000"/>
                </a:solidFill>
                <a:latin typeface="Canva Sans Bold"/>
                <a:ea typeface="Canva Sans Bold"/>
                <a:cs typeface="Canva Sans Bold"/>
                <a:sym typeface="Canva Sans Bold"/>
              </a:rPr>
              <a:t>Data communication from the device to the server is carried out using an ESP32 connected to a LoRa module. LoRa is chosen because it can transmit weather data over long distances with low energy consumption.</a:t>
            </a:r>
          </a:p>
          <a:p>
            <a:pPr algn="just" marL="511376" indent="-255688" lvl="1">
              <a:lnSpc>
                <a:spcPts val="3316"/>
              </a:lnSpc>
              <a:buFont typeface="Arial"/>
              <a:buChar char="•"/>
            </a:pPr>
            <a:r>
              <a:rPr lang="en-US" b="true" sz="2368">
                <a:solidFill>
                  <a:srgbClr val="000000"/>
                </a:solidFill>
                <a:latin typeface="Canva Sans Bold"/>
                <a:ea typeface="Canva Sans Bold"/>
                <a:cs typeface="Canva Sans Bold"/>
                <a:sym typeface="Canva Sans Bold"/>
              </a:rPr>
              <a:t>The system relies solely on renewable energy sources in the form of solar panels and batteries, without depending on the PLN (state electricity grid).</a:t>
            </a:r>
          </a:p>
          <a:p>
            <a:pPr algn="just" marL="511376" indent="-255688" lvl="1">
              <a:lnSpc>
                <a:spcPts val="3316"/>
              </a:lnSpc>
              <a:buFont typeface="Arial"/>
              <a:buChar char="•"/>
            </a:pPr>
            <a:r>
              <a:rPr lang="en-US" b="true" sz="2368">
                <a:solidFill>
                  <a:srgbClr val="000000"/>
                </a:solidFill>
                <a:latin typeface="Canva Sans Bold"/>
                <a:ea typeface="Canva Sans Bold"/>
                <a:cs typeface="Canva Sans Bold"/>
                <a:sym typeface="Canva Sans Bold"/>
              </a:rPr>
              <a:t>The system implementation is carried out in the form of a small-scale prototype, limited to a few testing points, and does not yet cover large-scale deployment.</a:t>
            </a:r>
          </a:p>
          <a:p>
            <a:pPr algn="just" marL="511376" indent="-255688" lvl="1">
              <a:lnSpc>
                <a:spcPts val="3316"/>
              </a:lnSpc>
              <a:buFont typeface="Arial"/>
              <a:buChar char="•"/>
            </a:pPr>
            <a:r>
              <a:rPr lang="en-US" b="true" sz="2368">
                <a:solidFill>
                  <a:srgbClr val="000000"/>
                </a:solidFill>
                <a:latin typeface="Canva Sans Bold"/>
                <a:ea typeface="Canva Sans Bold"/>
                <a:cs typeface="Canva Sans Bold"/>
                <a:sym typeface="Canva Sans Bold"/>
              </a:rPr>
              <a:t>Location coordinates (GPS) are not determined using a GPS module on the device. Instead, coordinates are obtained using a separate tool (e.g., smartphone or external GPS device) during testing, and then entered manually into the dashboard. Thus, the dashboard still displays the device location, but the coordinates come from manual input rather than directly from the device.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491799" y="9487118"/>
            <a:ext cx="951769" cy="799882"/>
            <a:chOff x="0" y="0"/>
            <a:chExt cx="967140" cy="812800"/>
          </a:xfrm>
        </p:grpSpPr>
        <p:sp>
          <p:nvSpPr>
            <p:cNvPr name="Freeform 9" id="9"/>
            <p:cNvSpPr/>
            <p:nvPr/>
          </p:nvSpPr>
          <p:spPr>
            <a:xfrm flipH="false" flipV="false" rot="0">
              <a:off x="0" y="0"/>
              <a:ext cx="967140" cy="812800"/>
            </a:xfrm>
            <a:custGeom>
              <a:avLst/>
              <a:gdLst/>
              <a:ahLst/>
              <a:cxnLst/>
              <a:rect r="r" b="b" t="t" l="l"/>
              <a:pathLst>
                <a:path h="812800" w="96714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name="TextBox 10" id="10"/>
            <p:cNvSpPr txBox="true"/>
            <p:nvPr/>
          </p:nvSpPr>
          <p:spPr>
            <a:xfrm>
              <a:off x="0" y="-38100"/>
              <a:ext cx="967140" cy="850900"/>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7674380" y="9739388"/>
            <a:ext cx="442747" cy="257943"/>
          </a:xfrm>
          <a:prstGeom prst="rect">
            <a:avLst/>
          </a:prstGeom>
        </p:spPr>
        <p:txBody>
          <a:bodyPr anchor="t" rtlCol="false" tIns="0" lIns="0" bIns="0" rIns="0">
            <a:spAutoFit/>
          </a:bodyPr>
          <a:lstStyle/>
          <a:p>
            <a:pPr algn="ctr">
              <a:lnSpc>
                <a:spcPts val="2057"/>
              </a:lnSpc>
              <a:spcBef>
                <a:spcPct val="0"/>
              </a:spcBef>
            </a:pPr>
            <a:r>
              <a:rPr lang="en-US" b="true" sz="1469">
                <a:solidFill>
                  <a:srgbClr val="FFFFFF"/>
                </a:solidFill>
                <a:latin typeface="Poppins Bold"/>
                <a:ea typeface="Poppins Bold"/>
                <a:cs typeface="Poppins Bold"/>
                <a:sym typeface="Poppins Bold"/>
              </a:rPr>
              <a:t>09</a:t>
            </a:r>
          </a:p>
        </p:txBody>
      </p:sp>
      <p:sp>
        <p:nvSpPr>
          <p:cNvPr name="TextBox 12" id="12"/>
          <p:cNvSpPr txBox="true"/>
          <p:nvPr/>
        </p:nvSpPr>
        <p:spPr>
          <a:xfrm rot="0">
            <a:off x="6761817" y="804183"/>
            <a:ext cx="5400702" cy="827130"/>
          </a:xfrm>
          <a:prstGeom prst="rect">
            <a:avLst/>
          </a:prstGeom>
        </p:spPr>
        <p:txBody>
          <a:bodyPr anchor="t" rtlCol="false" tIns="0" lIns="0" bIns="0" rIns="0">
            <a:spAutoFit/>
          </a:bodyPr>
          <a:lstStyle/>
          <a:p>
            <a:pPr algn="l">
              <a:lnSpc>
                <a:spcPts val="6385"/>
              </a:lnSpc>
              <a:spcBef>
                <a:spcPct val="0"/>
              </a:spcBef>
            </a:pPr>
            <a:r>
              <a:rPr lang="en-US" b="true" sz="4560">
                <a:solidFill>
                  <a:srgbClr val="1F2020"/>
                </a:solidFill>
                <a:latin typeface="Poppins Bold"/>
                <a:ea typeface="Poppins Bold"/>
                <a:cs typeface="Poppins Bold"/>
                <a:sym typeface="Poppins Bold"/>
              </a:rPr>
              <a:t>Problem Analysis</a:t>
            </a:r>
          </a:p>
        </p:txBody>
      </p:sp>
      <p:grpSp>
        <p:nvGrpSpPr>
          <p:cNvPr name="Group 13" id="13"/>
          <p:cNvGrpSpPr/>
          <p:nvPr/>
        </p:nvGrpSpPr>
        <p:grpSpPr>
          <a:xfrm rot="0">
            <a:off x="212689" y="314984"/>
            <a:ext cx="2721375" cy="622549"/>
            <a:chOff x="0" y="0"/>
            <a:chExt cx="3628500" cy="830065"/>
          </a:xfrm>
        </p:grpSpPr>
        <p:sp>
          <p:nvSpPr>
            <p:cNvPr name="TextBox 14" id="14"/>
            <p:cNvSpPr txBox="true"/>
            <p:nvPr/>
          </p:nvSpPr>
          <p:spPr>
            <a:xfrm rot="0">
              <a:off x="1065319" y="267078"/>
              <a:ext cx="2563180" cy="267335"/>
            </a:xfrm>
            <a:prstGeom prst="rect">
              <a:avLst/>
            </a:prstGeom>
          </p:spPr>
          <p:txBody>
            <a:bodyPr anchor="t" rtlCol="false" tIns="0" lIns="0" bIns="0" rIns="0">
              <a:spAutoFit/>
            </a:bodyPr>
            <a:lstStyle/>
            <a:p>
              <a:pPr algn="l">
                <a:lnSpc>
                  <a:spcPts val="1680"/>
                </a:lnSpc>
                <a:spcBef>
                  <a:spcPct val="0"/>
                </a:spcBef>
              </a:pPr>
              <a:r>
                <a:rPr lang="en-US" b="true" sz="1200">
                  <a:solidFill>
                    <a:srgbClr val="1F2020"/>
                  </a:solidFill>
                  <a:latin typeface="Poppins Bold"/>
                  <a:ea typeface="Poppins Bold"/>
                  <a:cs typeface="Poppins Bold"/>
                  <a:sym typeface="Poppins Bold"/>
                </a:rPr>
                <a:t>Institut Teknologi Del</a:t>
              </a:r>
            </a:p>
          </p:txBody>
        </p:sp>
        <p:sp>
          <p:nvSpPr>
            <p:cNvPr name="Freeform 15" id="15"/>
            <p:cNvSpPr/>
            <p:nvPr/>
          </p:nvSpPr>
          <p:spPr>
            <a:xfrm flipH="false" flipV="false" rot="0">
              <a:off x="0" y="0"/>
              <a:ext cx="868292" cy="830065"/>
            </a:xfrm>
            <a:custGeom>
              <a:avLst/>
              <a:gdLst/>
              <a:ahLst/>
              <a:cxnLst/>
              <a:rect r="r" b="b" t="t" l="l"/>
              <a:pathLst>
                <a:path h="830065" w="868292">
                  <a:moveTo>
                    <a:pt x="0" y="0"/>
                  </a:moveTo>
                  <a:lnTo>
                    <a:pt x="868292" y="0"/>
                  </a:lnTo>
                  <a:lnTo>
                    <a:pt x="868292" y="830065"/>
                  </a:lnTo>
                  <a:lnTo>
                    <a:pt x="0" y="830065"/>
                  </a:lnTo>
                  <a:lnTo>
                    <a:pt x="0" y="0"/>
                  </a:lnTo>
                  <a:close/>
                </a:path>
              </a:pathLst>
            </a:custGeom>
            <a:blipFill>
              <a:blip r:embed="rId2"/>
              <a:stretch>
                <a:fillRect l="0" t="0" r="0" b="0"/>
              </a:stretch>
            </a:blipFill>
          </p:spPr>
        </p:sp>
      </p:grpSp>
      <p:grpSp>
        <p:nvGrpSpPr>
          <p:cNvPr name="Group 16" id="16"/>
          <p:cNvGrpSpPr/>
          <p:nvPr/>
        </p:nvGrpSpPr>
        <p:grpSpPr>
          <a:xfrm rot="0">
            <a:off x="1028700" y="2074252"/>
            <a:ext cx="7384310" cy="2439327"/>
            <a:chOff x="0" y="0"/>
            <a:chExt cx="1511460" cy="499295"/>
          </a:xfrm>
        </p:grpSpPr>
        <p:sp>
          <p:nvSpPr>
            <p:cNvPr name="Freeform 17" id="17"/>
            <p:cNvSpPr/>
            <p:nvPr/>
          </p:nvSpPr>
          <p:spPr>
            <a:xfrm flipH="false" flipV="false" rot="0">
              <a:off x="0" y="0"/>
              <a:ext cx="1511460" cy="499295"/>
            </a:xfrm>
            <a:custGeom>
              <a:avLst/>
              <a:gdLst/>
              <a:ahLst/>
              <a:cxnLst/>
              <a:rect r="r" b="b" t="t" l="l"/>
              <a:pathLst>
                <a:path h="499295" w="1511460">
                  <a:moveTo>
                    <a:pt x="104843" y="0"/>
                  </a:moveTo>
                  <a:lnTo>
                    <a:pt x="1406618" y="0"/>
                  </a:lnTo>
                  <a:cubicBezTo>
                    <a:pt x="1434424" y="0"/>
                    <a:pt x="1461091" y="11046"/>
                    <a:pt x="1480753" y="30708"/>
                  </a:cubicBezTo>
                  <a:cubicBezTo>
                    <a:pt x="1500415" y="50370"/>
                    <a:pt x="1511460" y="77037"/>
                    <a:pt x="1511460" y="104843"/>
                  </a:cubicBezTo>
                  <a:lnTo>
                    <a:pt x="1511460" y="394452"/>
                  </a:lnTo>
                  <a:cubicBezTo>
                    <a:pt x="1511460" y="452355"/>
                    <a:pt x="1464521" y="499295"/>
                    <a:pt x="1406618" y="499295"/>
                  </a:cubicBezTo>
                  <a:lnTo>
                    <a:pt x="104843" y="499295"/>
                  </a:lnTo>
                  <a:cubicBezTo>
                    <a:pt x="46940" y="499295"/>
                    <a:pt x="0" y="452355"/>
                    <a:pt x="0" y="394452"/>
                  </a:cubicBezTo>
                  <a:lnTo>
                    <a:pt x="0" y="104843"/>
                  </a:lnTo>
                  <a:cubicBezTo>
                    <a:pt x="0" y="46940"/>
                    <a:pt x="46940" y="0"/>
                    <a:pt x="104843" y="0"/>
                  </a:cubicBezTo>
                  <a:close/>
                </a:path>
              </a:pathLst>
            </a:custGeom>
            <a:solidFill>
              <a:srgbClr val="8AB8D3"/>
            </a:solidFill>
          </p:spPr>
        </p:sp>
        <p:sp>
          <p:nvSpPr>
            <p:cNvPr name="TextBox 18" id="18"/>
            <p:cNvSpPr txBox="true"/>
            <p:nvPr/>
          </p:nvSpPr>
          <p:spPr>
            <a:xfrm>
              <a:off x="0" y="-38100"/>
              <a:ext cx="1511460" cy="537395"/>
            </a:xfrm>
            <a:prstGeom prst="rect">
              <a:avLst/>
            </a:prstGeom>
          </p:spPr>
          <p:txBody>
            <a:bodyPr anchor="ctr" rtlCol="false" tIns="47086" lIns="47086" bIns="47086" rIns="47086"/>
            <a:lstStyle/>
            <a:p>
              <a:pPr algn="just">
                <a:lnSpc>
                  <a:spcPts val="2659"/>
                </a:lnSpc>
              </a:pPr>
            </a:p>
          </p:txBody>
        </p:sp>
      </p:grpSp>
      <p:sp>
        <p:nvSpPr>
          <p:cNvPr name="TextBox 19" id="19"/>
          <p:cNvSpPr txBox="true"/>
          <p:nvPr/>
        </p:nvSpPr>
        <p:spPr>
          <a:xfrm rot="0">
            <a:off x="1573376" y="2445495"/>
            <a:ext cx="6604654" cy="1728517"/>
          </a:xfrm>
          <a:prstGeom prst="rect">
            <a:avLst/>
          </a:prstGeom>
        </p:spPr>
        <p:txBody>
          <a:bodyPr anchor="t" rtlCol="false" tIns="0" lIns="0" bIns="0" rIns="0">
            <a:spAutoFit/>
          </a:bodyPr>
          <a:lstStyle/>
          <a:p>
            <a:pPr algn="just">
              <a:lnSpc>
                <a:spcPts val="3427"/>
              </a:lnSpc>
              <a:spcBef>
                <a:spcPct val="0"/>
              </a:spcBef>
            </a:pPr>
            <a:r>
              <a:rPr lang="en-US" b="true" sz="2448">
                <a:solidFill>
                  <a:srgbClr val="3B3B3B"/>
                </a:solidFill>
                <a:latin typeface="Poppins Bold"/>
                <a:ea typeface="Poppins Bold"/>
                <a:cs typeface="Poppins Bold"/>
                <a:sym typeface="Poppins Bold"/>
              </a:rPr>
              <a:t>Energy limitations → Remote areas without PLN electricity → devices have difficulty operating sustainably.</a:t>
            </a:r>
          </a:p>
          <a:p>
            <a:pPr algn="just">
              <a:lnSpc>
                <a:spcPts val="3427"/>
              </a:lnSpc>
              <a:spcBef>
                <a:spcPct val="0"/>
              </a:spcBef>
            </a:pPr>
          </a:p>
        </p:txBody>
      </p:sp>
      <p:grpSp>
        <p:nvGrpSpPr>
          <p:cNvPr name="Group 20" id="20"/>
          <p:cNvGrpSpPr/>
          <p:nvPr/>
        </p:nvGrpSpPr>
        <p:grpSpPr>
          <a:xfrm rot="0">
            <a:off x="1028700" y="4923154"/>
            <a:ext cx="7576891" cy="2477910"/>
            <a:chOff x="0" y="0"/>
            <a:chExt cx="1550879" cy="507192"/>
          </a:xfrm>
        </p:grpSpPr>
        <p:sp>
          <p:nvSpPr>
            <p:cNvPr name="Freeform 21" id="21"/>
            <p:cNvSpPr/>
            <p:nvPr/>
          </p:nvSpPr>
          <p:spPr>
            <a:xfrm flipH="false" flipV="false" rot="0">
              <a:off x="0" y="0"/>
              <a:ext cx="1550879" cy="507192"/>
            </a:xfrm>
            <a:custGeom>
              <a:avLst/>
              <a:gdLst/>
              <a:ahLst/>
              <a:cxnLst/>
              <a:rect r="r" b="b" t="t" l="l"/>
              <a:pathLst>
                <a:path h="507192" w="1550879">
                  <a:moveTo>
                    <a:pt x="102178" y="0"/>
                  </a:moveTo>
                  <a:lnTo>
                    <a:pt x="1448701" y="0"/>
                  </a:lnTo>
                  <a:cubicBezTo>
                    <a:pt x="1475800" y="0"/>
                    <a:pt x="1501790" y="10765"/>
                    <a:pt x="1520952" y="29927"/>
                  </a:cubicBezTo>
                  <a:cubicBezTo>
                    <a:pt x="1540114" y="49089"/>
                    <a:pt x="1550879" y="75079"/>
                    <a:pt x="1550879" y="102178"/>
                  </a:cubicBezTo>
                  <a:lnTo>
                    <a:pt x="1550879" y="405014"/>
                  </a:lnTo>
                  <a:cubicBezTo>
                    <a:pt x="1550879" y="461445"/>
                    <a:pt x="1505132" y="507192"/>
                    <a:pt x="1448701" y="507192"/>
                  </a:cubicBezTo>
                  <a:lnTo>
                    <a:pt x="102178" y="507192"/>
                  </a:lnTo>
                  <a:cubicBezTo>
                    <a:pt x="75079" y="507192"/>
                    <a:pt x="49089" y="496427"/>
                    <a:pt x="29927" y="477265"/>
                  </a:cubicBezTo>
                  <a:cubicBezTo>
                    <a:pt x="10765" y="458103"/>
                    <a:pt x="0" y="432113"/>
                    <a:pt x="0" y="405014"/>
                  </a:cubicBezTo>
                  <a:lnTo>
                    <a:pt x="0" y="102178"/>
                  </a:lnTo>
                  <a:cubicBezTo>
                    <a:pt x="0" y="75079"/>
                    <a:pt x="10765" y="49089"/>
                    <a:pt x="29927" y="29927"/>
                  </a:cubicBezTo>
                  <a:cubicBezTo>
                    <a:pt x="49089" y="10765"/>
                    <a:pt x="75079" y="0"/>
                    <a:pt x="102178" y="0"/>
                  </a:cubicBezTo>
                  <a:close/>
                </a:path>
              </a:pathLst>
            </a:custGeom>
            <a:solidFill>
              <a:srgbClr val="8AB8D3"/>
            </a:solidFill>
          </p:spPr>
        </p:sp>
        <p:sp>
          <p:nvSpPr>
            <p:cNvPr name="TextBox 22" id="22"/>
            <p:cNvSpPr txBox="true"/>
            <p:nvPr/>
          </p:nvSpPr>
          <p:spPr>
            <a:xfrm>
              <a:off x="0" y="-38100"/>
              <a:ext cx="1550879" cy="545292"/>
            </a:xfrm>
            <a:prstGeom prst="rect">
              <a:avLst/>
            </a:prstGeom>
          </p:spPr>
          <p:txBody>
            <a:bodyPr anchor="ctr" rtlCol="false" tIns="47086" lIns="47086" bIns="47086" rIns="47086"/>
            <a:lstStyle/>
            <a:p>
              <a:pPr algn="just">
                <a:lnSpc>
                  <a:spcPts val="2659"/>
                </a:lnSpc>
              </a:pPr>
            </a:p>
          </p:txBody>
        </p:sp>
      </p:grpSp>
      <p:sp>
        <p:nvSpPr>
          <p:cNvPr name="TextBox 23" id="23"/>
          <p:cNvSpPr txBox="true"/>
          <p:nvPr/>
        </p:nvSpPr>
        <p:spPr>
          <a:xfrm rot="0">
            <a:off x="1690253" y="5235472"/>
            <a:ext cx="6253785" cy="2157473"/>
          </a:xfrm>
          <a:prstGeom prst="rect">
            <a:avLst/>
          </a:prstGeom>
        </p:spPr>
        <p:txBody>
          <a:bodyPr anchor="t" rtlCol="false" tIns="0" lIns="0" bIns="0" rIns="0">
            <a:spAutoFit/>
          </a:bodyPr>
          <a:lstStyle/>
          <a:p>
            <a:pPr algn="just">
              <a:lnSpc>
                <a:spcPts val="3409"/>
              </a:lnSpc>
              <a:spcBef>
                <a:spcPct val="0"/>
              </a:spcBef>
            </a:pPr>
            <a:r>
              <a:rPr lang="en-US" b="true" sz="2435">
                <a:solidFill>
                  <a:srgbClr val="3B3B3B"/>
                </a:solidFill>
                <a:latin typeface="Poppins Bold"/>
                <a:ea typeface="Poppins Bold"/>
                <a:cs typeface="Poppins Bold"/>
                <a:sym typeface="Poppins Bold"/>
              </a:rPr>
              <a:t>Limited data communication → GSM/LTE &amp; Wi-Fi are expensive, energy-intensive, and have limited coverage.</a:t>
            </a:r>
          </a:p>
          <a:p>
            <a:pPr algn="just">
              <a:lnSpc>
                <a:spcPts val="3409"/>
              </a:lnSpc>
              <a:spcBef>
                <a:spcPct val="0"/>
              </a:spcBef>
            </a:pPr>
          </a:p>
        </p:txBody>
      </p:sp>
      <p:grpSp>
        <p:nvGrpSpPr>
          <p:cNvPr name="Group 24" id="24"/>
          <p:cNvGrpSpPr/>
          <p:nvPr/>
        </p:nvGrpSpPr>
        <p:grpSpPr>
          <a:xfrm rot="0">
            <a:off x="932409" y="7719304"/>
            <a:ext cx="7576891" cy="2386574"/>
            <a:chOff x="0" y="0"/>
            <a:chExt cx="1550879" cy="488497"/>
          </a:xfrm>
        </p:grpSpPr>
        <p:sp>
          <p:nvSpPr>
            <p:cNvPr name="Freeform 25" id="25"/>
            <p:cNvSpPr/>
            <p:nvPr/>
          </p:nvSpPr>
          <p:spPr>
            <a:xfrm flipH="false" flipV="false" rot="0">
              <a:off x="0" y="0"/>
              <a:ext cx="1550879" cy="488497"/>
            </a:xfrm>
            <a:custGeom>
              <a:avLst/>
              <a:gdLst/>
              <a:ahLst/>
              <a:cxnLst/>
              <a:rect r="r" b="b" t="t" l="l"/>
              <a:pathLst>
                <a:path h="488497" w="1550879">
                  <a:moveTo>
                    <a:pt x="102178" y="0"/>
                  </a:moveTo>
                  <a:lnTo>
                    <a:pt x="1448701" y="0"/>
                  </a:lnTo>
                  <a:cubicBezTo>
                    <a:pt x="1475800" y="0"/>
                    <a:pt x="1501790" y="10765"/>
                    <a:pt x="1520952" y="29927"/>
                  </a:cubicBezTo>
                  <a:cubicBezTo>
                    <a:pt x="1540114" y="49089"/>
                    <a:pt x="1550879" y="75079"/>
                    <a:pt x="1550879" y="102178"/>
                  </a:cubicBezTo>
                  <a:lnTo>
                    <a:pt x="1550879" y="386319"/>
                  </a:lnTo>
                  <a:cubicBezTo>
                    <a:pt x="1550879" y="442750"/>
                    <a:pt x="1505132" y="488497"/>
                    <a:pt x="1448701" y="488497"/>
                  </a:cubicBezTo>
                  <a:lnTo>
                    <a:pt x="102178" y="488497"/>
                  </a:lnTo>
                  <a:cubicBezTo>
                    <a:pt x="75079" y="488497"/>
                    <a:pt x="49089" y="477732"/>
                    <a:pt x="29927" y="458570"/>
                  </a:cubicBezTo>
                  <a:cubicBezTo>
                    <a:pt x="10765" y="439408"/>
                    <a:pt x="0" y="413418"/>
                    <a:pt x="0" y="386319"/>
                  </a:cubicBezTo>
                  <a:lnTo>
                    <a:pt x="0" y="102178"/>
                  </a:lnTo>
                  <a:cubicBezTo>
                    <a:pt x="0" y="75079"/>
                    <a:pt x="10765" y="49089"/>
                    <a:pt x="29927" y="29927"/>
                  </a:cubicBezTo>
                  <a:cubicBezTo>
                    <a:pt x="49089" y="10765"/>
                    <a:pt x="75079" y="0"/>
                    <a:pt x="102178" y="0"/>
                  </a:cubicBezTo>
                  <a:close/>
                </a:path>
              </a:pathLst>
            </a:custGeom>
            <a:solidFill>
              <a:srgbClr val="8AB8D3"/>
            </a:solidFill>
          </p:spPr>
        </p:sp>
        <p:sp>
          <p:nvSpPr>
            <p:cNvPr name="TextBox 26" id="26"/>
            <p:cNvSpPr txBox="true"/>
            <p:nvPr/>
          </p:nvSpPr>
          <p:spPr>
            <a:xfrm>
              <a:off x="0" y="-38100"/>
              <a:ext cx="1550879" cy="526597"/>
            </a:xfrm>
            <a:prstGeom prst="rect">
              <a:avLst/>
            </a:prstGeom>
          </p:spPr>
          <p:txBody>
            <a:bodyPr anchor="ctr" rtlCol="false" tIns="47086" lIns="47086" bIns="47086" rIns="47086"/>
            <a:lstStyle/>
            <a:p>
              <a:pPr algn="just">
                <a:lnSpc>
                  <a:spcPts val="2659"/>
                </a:lnSpc>
              </a:pPr>
            </a:p>
          </p:txBody>
        </p:sp>
      </p:grpSp>
      <p:sp>
        <p:nvSpPr>
          <p:cNvPr name="TextBox 27" id="27"/>
          <p:cNvSpPr txBox="true"/>
          <p:nvPr/>
        </p:nvSpPr>
        <p:spPr>
          <a:xfrm rot="0">
            <a:off x="1573376" y="8115439"/>
            <a:ext cx="6604654" cy="1849203"/>
          </a:xfrm>
          <a:prstGeom prst="rect">
            <a:avLst/>
          </a:prstGeom>
        </p:spPr>
        <p:txBody>
          <a:bodyPr anchor="t" rtlCol="false" tIns="0" lIns="0" bIns="0" rIns="0">
            <a:spAutoFit/>
          </a:bodyPr>
          <a:lstStyle/>
          <a:p>
            <a:pPr algn="just">
              <a:lnSpc>
                <a:spcPts val="3600"/>
              </a:lnSpc>
              <a:spcBef>
                <a:spcPct val="0"/>
              </a:spcBef>
            </a:pPr>
            <a:r>
              <a:rPr lang="en-US" b="true" sz="2571">
                <a:solidFill>
                  <a:srgbClr val="3B3B3B"/>
                </a:solidFill>
                <a:latin typeface="Poppins Bold"/>
                <a:ea typeface="Poppins Bold"/>
                <a:cs typeface="Poppins Bold"/>
                <a:sym typeface="Poppins Bold"/>
              </a:rPr>
              <a:t>Data management &amp; visualization → Still local, undocumented, difficult to utilize widely.</a:t>
            </a:r>
          </a:p>
          <a:p>
            <a:pPr algn="just">
              <a:lnSpc>
                <a:spcPts val="3600"/>
              </a:lnSpc>
              <a:spcBef>
                <a:spcPct val="0"/>
              </a:spcBef>
            </a:pPr>
          </a:p>
        </p:txBody>
      </p:sp>
      <p:grpSp>
        <p:nvGrpSpPr>
          <p:cNvPr name="Group 28" id="28"/>
          <p:cNvGrpSpPr/>
          <p:nvPr/>
        </p:nvGrpSpPr>
        <p:grpSpPr>
          <a:xfrm rot="0">
            <a:off x="9462168" y="3355712"/>
            <a:ext cx="7576891" cy="5140085"/>
            <a:chOff x="0" y="0"/>
            <a:chExt cx="10102522" cy="6853446"/>
          </a:xfrm>
        </p:grpSpPr>
        <p:grpSp>
          <p:nvGrpSpPr>
            <p:cNvPr name="Group 29" id="29"/>
            <p:cNvGrpSpPr/>
            <p:nvPr/>
          </p:nvGrpSpPr>
          <p:grpSpPr>
            <a:xfrm rot="0">
              <a:off x="0" y="0"/>
              <a:ext cx="9845747" cy="3252436"/>
              <a:chOff x="0" y="0"/>
              <a:chExt cx="1511460" cy="499295"/>
            </a:xfrm>
          </p:grpSpPr>
          <p:sp>
            <p:nvSpPr>
              <p:cNvPr name="Freeform 30" id="30"/>
              <p:cNvSpPr/>
              <p:nvPr/>
            </p:nvSpPr>
            <p:spPr>
              <a:xfrm flipH="false" flipV="false" rot="0">
                <a:off x="0" y="0"/>
                <a:ext cx="1511460" cy="499295"/>
              </a:xfrm>
              <a:custGeom>
                <a:avLst/>
                <a:gdLst/>
                <a:ahLst/>
                <a:cxnLst/>
                <a:rect r="r" b="b" t="t" l="l"/>
                <a:pathLst>
                  <a:path h="499295" w="1511460">
                    <a:moveTo>
                      <a:pt x="104843" y="0"/>
                    </a:moveTo>
                    <a:lnTo>
                      <a:pt x="1406618" y="0"/>
                    </a:lnTo>
                    <a:cubicBezTo>
                      <a:pt x="1434424" y="0"/>
                      <a:pt x="1461091" y="11046"/>
                      <a:pt x="1480753" y="30708"/>
                    </a:cubicBezTo>
                    <a:cubicBezTo>
                      <a:pt x="1500415" y="50370"/>
                      <a:pt x="1511460" y="77037"/>
                      <a:pt x="1511460" y="104843"/>
                    </a:cubicBezTo>
                    <a:lnTo>
                      <a:pt x="1511460" y="394452"/>
                    </a:lnTo>
                    <a:cubicBezTo>
                      <a:pt x="1511460" y="452355"/>
                      <a:pt x="1464521" y="499295"/>
                      <a:pt x="1406618" y="499295"/>
                    </a:cubicBezTo>
                    <a:lnTo>
                      <a:pt x="104843" y="499295"/>
                    </a:lnTo>
                    <a:cubicBezTo>
                      <a:pt x="46940" y="499295"/>
                      <a:pt x="0" y="452355"/>
                      <a:pt x="0" y="394452"/>
                    </a:cubicBezTo>
                    <a:lnTo>
                      <a:pt x="0" y="104843"/>
                    </a:lnTo>
                    <a:cubicBezTo>
                      <a:pt x="0" y="46940"/>
                      <a:pt x="46940" y="0"/>
                      <a:pt x="104843" y="0"/>
                    </a:cubicBezTo>
                    <a:close/>
                  </a:path>
                </a:pathLst>
              </a:custGeom>
              <a:solidFill>
                <a:srgbClr val="8AB8D3"/>
              </a:solidFill>
            </p:spPr>
          </p:sp>
          <p:sp>
            <p:nvSpPr>
              <p:cNvPr name="TextBox 31" id="31"/>
              <p:cNvSpPr txBox="true"/>
              <p:nvPr/>
            </p:nvSpPr>
            <p:spPr>
              <a:xfrm>
                <a:off x="0" y="-38100"/>
                <a:ext cx="1511460" cy="537395"/>
              </a:xfrm>
              <a:prstGeom prst="rect">
                <a:avLst/>
              </a:prstGeom>
            </p:spPr>
            <p:txBody>
              <a:bodyPr anchor="ctr" rtlCol="false" tIns="47086" lIns="47086" bIns="47086" rIns="47086"/>
              <a:lstStyle/>
              <a:p>
                <a:pPr algn="ctr">
                  <a:lnSpc>
                    <a:spcPts val="2659"/>
                  </a:lnSpc>
                </a:pPr>
              </a:p>
            </p:txBody>
          </p:sp>
        </p:grpSp>
        <p:grpSp>
          <p:nvGrpSpPr>
            <p:cNvPr name="Group 32" id="32"/>
            <p:cNvGrpSpPr/>
            <p:nvPr/>
          </p:nvGrpSpPr>
          <p:grpSpPr>
            <a:xfrm rot="0">
              <a:off x="0" y="3582636"/>
              <a:ext cx="10102522" cy="3182099"/>
              <a:chOff x="0" y="0"/>
              <a:chExt cx="1550879" cy="488497"/>
            </a:xfrm>
          </p:grpSpPr>
          <p:sp>
            <p:nvSpPr>
              <p:cNvPr name="Freeform 33" id="33"/>
              <p:cNvSpPr/>
              <p:nvPr/>
            </p:nvSpPr>
            <p:spPr>
              <a:xfrm flipH="false" flipV="false" rot="0">
                <a:off x="0" y="0"/>
                <a:ext cx="1550879" cy="488497"/>
              </a:xfrm>
              <a:custGeom>
                <a:avLst/>
                <a:gdLst/>
                <a:ahLst/>
                <a:cxnLst/>
                <a:rect r="r" b="b" t="t" l="l"/>
                <a:pathLst>
                  <a:path h="488497" w="1550879">
                    <a:moveTo>
                      <a:pt x="102178" y="0"/>
                    </a:moveTo>
                    <a:lnTo>
                      <a:pt x="1448701" y="0"/>
                    </a:lnTo>
                    <a:cubicBezTo>
                      <a:pt x="1475800" y="0"/>
                      <a:pt x="1501790" y="10765"/>
                      <a:pt x="1520952" y="29927"/>
                    </a:cubicBezTo>
                    <a:cubicBezTo>
                      <a:pt x="1540114" y="49089"/>
                      <a:pt x="1550879" y="75079"/>
                      <a:pt x="1550879" y="102178"/>
                    </a:cubicBezTo>
                    <a:lnTo>
                      <a:pt x="1550879" y="386319"/>
                    </a:lnTo>
                    <a:cubicBezTo>
                      <a:pt x="1550879" y="442750"/>
                      <a:pt x="1505132" y="488497"/>
                      <a:pt x="1448701" y="488497"/>
                    </a:cubicBezTo>
                    <a:lnTo>
                      <a:pt x="102178" y="488497"/>
                    </a:lnTo>
                    <a:cubicBezTo>
                      <a:pt x="75079" y="488497"/>
                      <a:pt x="49089" y="477732"/>
                      <a:pt x="29927" y="458570"/>
                    </a:cubicBezTo>
                    <a:cubicBezTo>
                      <a:pt x="10765" y="439408"/>
                      <a:pt x="0" y="413418"/>
                      <a:pt x="0" y="386319"/>
                    </a:cubicBezTo>
                    <a:lnTo>
                      <a:pt x="0" y="102178"/>
                    </a:lnTo>
                    <a:cubicBezTo>
                      <a:pt x="0" y="75079"/>
                      <a:pt x="10765" y="49089"/>
                      <a:pt x="29927" y="29927"/>
                    </a:cubicBezTo>
                    <a:cubicBezTo>
                      <a:pt x="49089" y="10765"/>
                      <a:pt x="75079" y="0"/>
                      <a:pt x="102178" y="0"/>
                    </a:cubicBezTo>
                    <a:close/>
                  </a:path>
                </a:pathLst>
              </a:custGeom>
              <a:solidFill>
                <a:srgbClr val="8AB8D3"/>
              </a:solidFill>
            </p:spPr>
          </p:sp>
          <p:sp>
            <p:nvSpPr>
              <p:cNvPr name="TextBox 34" id="34"/>
              <p:cNvSpPr txBox="true"/>
              <p:nvPr/>
            </p:nvSpPr>
            <p:spPr>
              <a:xfrm>
                <a:off x="0" y="-38100"/>
                <a:ext cx="1550879" cy="526597"/>
              </a:xfrm>
              <a:prstGeom prst="rect">
                <a:avLst/>
              </a:prstGeom>
            </p:spPr>
            <p:txBody>
              <a:bodyPr anchor="ctr" rtlCol="false" tIns="47086" lIns="47086" bIns="47086" rIns="47086"/>
              <a:lstStyle/>
              <a:p>
                <a:pPr algn="ctr">
                  <a:lnSpc>
                    <a:spcPts val="2659"/>
                  </a:lnSpc>
                </a:pPr>
              </a:p>
            </p:txBody>
          </p:sp>
        </p:grpSp>
        <p:sp>
          <p:nvSpPr>
            <p:cNvPr name="TextBox 35" id="35"/>
            <p:cNvSpPr txBox="true"/>
            <p:nvPr/>
          </p:nvSpPr>
          <p:spPr>
            <a:xfrm rot="0">
              <a:off x="726235" y="520391"/>
              <a:ext cx="8806206" cy="2876984"/>
            </a:xfrm>
            <a:prstGeom prst="rect">
              <a:avLst/>
            </a:prstGeom>
          </p:spPr>
          <p:txBody>
            <a:bodyPr anchor="t" rtlCol="false" tIns="0" lIns="0" bIns="0" rIns="0">
              <a:spAutoFit/>
            </a:bodyPr>
            <a:lstStyle/>
            <a:p>
              <a:pPr algn="l">
                <a:lnSpc>
                  <a:spcPts val="3427"/>
                </a:lnSpc>
                <a:spcBef>
                  <a:spcPct val="0"/>
                </a:spcBef>
              </a:pPr>
              <a:r>
                <a:rPr lang="en-US" b="true" sz="2448">
                  <a:solidFill>
                    <a:srgbClr val="3B3B3B"/>
                  </a:solidFill>
                  <a:latin typeface="Poppins Bold"/>
                  <a:ea typeface="Poppins Bold"/>
                  <a:cs typeface="Poppins Bold"/>
                  <a:sym typeface="Poppins Bold"/>
                </a:rPr>
                <a:t>Lack of system integration → Previous research focused only on sensors/energy/communications, not yet fully connected.</a:t>
              </a:r>
            </a:p>
            <a:p>
              <a:pPr algn="l">
                <a:lnSpc>
                  <a:spcPts val="3427"/>
                </a:lnSpc>
                <a:spcBef>
                  <a:spcPct val="0"/>
                </a:spcBef>
              </a:pPr>
            </a:p>
          </p:txBody>
        </p:sp>
        <p:sp>
          <p:nvSpPr>
            <p:cNvPr name="TextBox 36" id="36"/>
            <p:cNvSpPr txBox="true"/>
            <p:nvPr/>
          </p:nvSpPr>
          <p:spPr>
            <a:xfrm rot="0">
              <a:off x="753683" y="3991390"/>
              <a:ext cx="8338380" cy="2862056"/>
            </a:xfrm>
            <a:prstGeom prst="rect">
              <a:avLst/>
            </a:prstGeom>
          </p:spPr>
          <p:txBody>
            <a:bodyPr anchor="t" rtlCol="false" tIns="0" lIns="0" bIns="0" rIns="0">
              <a:spAutoFit/>
            </a:bodyPr>
            <a:lstStyle/>
            <a:p>
              <a:pPr algn="l">
                <a:lnSpc>
                  <a:spcPts val="3409"/>
                </a:lnSpc>
                <a:spcBef>
                  <a:spcPct val="0"/>
                </a:spcBef>
              </a:pPr>
              <a:r>
                <a:rPr lang="en-US" b="true" sz="2435">
                  <a:solidFill>
                    <a:srgbClr val="3B3B3B"/>
                  </a:solidFill>
                  <a:latin typeface="Poppins Bold"/>
                  <a:ea typeface="Poppins Bold"/>
                  <a:cs typeface="Poppins Bold"/>
                  <a:sym typeface="Poppins Bold"/>
                </a:rPr>
                <a:t>Limited access to weather data → Real-time &amp; historical data are difficult to obtain, hampering analysis &amp; decision-making.</a:t>
              </a:r>
            </a:p>
            <a:p>
              <a:pPr algn="l">
                <a:lnSpc>
                  <a:spcPts val="3409"/>
                </a:lnSpc>
                <a:spcBef>
                  <a:spcPct val="0"/>
                </a:spcBef>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491799" y="9487118"/>
            <a:ext cx="951769" cy="799882"/>
            <a:chOff x="0" y="0"/>
            <a:chExt cx="967140" cy="812800"/>
          </a:xfrm>
        </p:grpSpPr>
        <p:sp>
          <p:nvSpPr>
            <p:cNvPr name="Freeform 9" id="9"/>
            <p:cNvSpPr/>
            <p:nvPr/>
          </p:nvSpPr>
          <p:spPr>
            <a:xfrm flipH="false" flipV="false" rot="0">
              <a:off x="0" y="0"/>
              <a:ext cx="967140" cy="812800"/>
            </a:xfrm>
            <a:custGeom>
              <a:avLst/>
              <a:gdLst/>
              <a:ahLst/>
              <a:cxnLst/>
              <a:rect r="r" b="b" t="t" l="l"/>
              <a:pathLst>
                <a:path h="812800" w="96714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name="TextBox 10" id="10"/>
            <p:cNvSpPr txBox="true"/>
            <p:nvPr/>
          </p:nvSpPr>
          <p:spPr>
            <a:xfrm>
              <a:off x="0" y="-38100"/>
              <a:ext cx="967140" cy="850900"/>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7674380" y="9739388"/>
            <a:ext cx="442747" cy="257943"/>
          </a:xfrm>
          <a:prstGeom prst="rect">
            <a:avLst/>
          </a:prstGeom>
        </p:spPr>
        <p:txBody>
          <a:bodyPr anchor="t" rtlCol="false" tIns="0" lIns="0" bIns="0" rIns="0">
            <a:spAutoFit/>
          </a:bodyPr>
          <a:lstStyle/>
          <a:p>
            <a:pPr algn="ctr">
              <a:lnSpc>
                <a:spcPts val="2057"/>
              </a:lnSpc>
              <a:spcBef>
                <a:spcPct val="0"/>
              </a:spcBef>
            </a:pPr>
            <a:r>
              <a:rPr lang="en-US" b="true" sz="1469">
                <a:solidFill>
                  <a:srgbClr val="FFFFFF"/>
                </a:solidFill>
                <a:latin typeface="Poppins Bold"/>
                <a:ea typeface="Poppins Bold"/>
                <a:cs typeface="Poppins Bold"/>
                <a:sym typeface="Poppins Bold"/>
              </a:rPr>
              <a:t>10</a:t>
            </a:r>
          </a:p>
        </p:txBody>
      </p:sp>
      <p:sp>
        <p:nvSpPr>
          <p:cNvPr name="TextBox 12" id="12"/>
          <p:cNvSpPr txBox="true"/>
          <p:nvPr/>
        </p:nvSpPr>
        <p:spPr>
          <a:xfrm rot="0">
            <a:off x="5301559" y="895350"/>
            <a:ext cx="7684881" cy="827130"/>
          </a:xfrm>
          <a:prstGeom prst="rect">
            <a:avLst/>
          </a:prstGeom>
        </p:spPr>
        <p:txBody>
          <a:bodyPr anchor="t" rtlCol="false" tIns="0" lIns="0" bIns="0" rIns="0">
            <a:spAutoFit/>
          </a:bodyPr>
          <a:lstStyle/>
          <a:p>
            <a:pPr algn="l">
              <a:lnSpc>
                <a:spcPts val="6385"/>
              </a:lnSpc>
              <a:spcBef>
                <a:spcPct val="0"/>
              </a:spcBef>
            </a:pPr>
            <a:r>
              <a:rPr lang="en-US" b="true" sz="4560">
                <a:solidFill>
                  <a:srgbClr val="1F2020"/>
                </a:solidFill>
                <a:latin typeface="Poppins Bold"/>
                <a:ea typeface="Poppins Bold"/>
                <a:cs typeface="Poppins Bold"/>
                <a:sym typeface="Poppins Bold"/>
              </a:rPr>
              <a:t>Problem Solving Analysis</a:t>
            </a:r>
          </a:p>
        </p:txBody>
      </p:sp>
      <p:grpSp>
        <p:nvGrpSpPr>
          <p:cNvPr name="Group 13" id="13"/>
          <p:cNvGrpSpPr/>
          <p:nvPr/>
        </p:nvGrpSpPr>
        <p:grpSpPr>
          <a:xfrm rot="0">
            <a:off x="212689" y="314984"/>
            <a:ext cx="2721375" cy="622549"/>
            <a:chOff x="0" y="0"/>
            <a:chExt cx="3628500" cy="830065"/>
          </a:xfrm>
        </p:grpSpPr>
        <p:sp>
          <p:nvSpPr>
            <p:cNvPr name="TextBox 14" id="14"/>
            <p:cNvSpPr txBox="true"/>
            <p:nvPr/>
          </p:nvSpPr>
          <p:spPr>
            <a:xfrm rot="0">
              <a:off x="1065319" y="267078"/>
              <a:ext cx="2563180" cy="267335"/>
            </a:xfrm>
            <a:prstGeom prst="rect">
              <a:avLst/>
            </a:prstGeom>
          </p:spPr>
          <p:txBody>
            <a:bodyPr anchor="t" rtlCol="false" tIns="0" lIns="0" bIns="0" rIns="0">
              <a:spAutoFit/>
            </a:bodyPr>
            <a:lstStyle/>
            <a:p>
              <a:pPr algn="l">
                <a:lnSpc>
                  <a:spcPts val="1680"/>
                </a:lnSpc>
                <a:spcBef>
                  <a:spcPct val="0"/>
                </a:spcBef>
              </a:pPr>
              <a:r>
                <a:rPr lang="en-US" b="true" sz="1200">
                  <a:solidFill>
                    <a:srgbClr val="1F2020"/>
                  </a:solidFill>
                  <a:latin typeface="Poppins Bold"/>
                  <a:ea typeface="Poppins Bold"/>
                  <a:cs typeface="Poppins Bold"/>
                  <a:sym typeface="Poppins Bold"/>
                </a:rPr>
                <a:t>Institut Teknologi Del</a:t>
              </a:r>
            </a:p>
          </p:txBody>
        </p:sp>
        <p:sp>
          <p:nvSpPr>
            <p:cNvPr name="Freeform 15" id="15"/>
            <p:cNvSpPr/>
            <p:nvPr/>
          </p:nvSpPr>
          <p:spPr>
            <a:xfrm flipH="false" flipV="false" rot="0">
              <a:off x="0" y="0"/>
              <a:ext cx="868292" cy="830065"/>
            </a:xfrm>
            <a:custGeom>
              <a:avLst/>
              <a:gdLst/>
              <a:ahLst/>
              <a:cxnLst/>
              <a:rect r="r" b="b" t="t" l="l"/>
              <a:pathLst>
                <a:path h="830065" w="868292">
                  <a:moveTo>
                    <a:pt x="0" y="0"/>
                  </a:moveTo>
                  <a:lnTo>
                    <a:pt x="868292" y="0"/>
                  </a:lnTo>
                  <a:lnTo>
                    <a:pt x="868292" y="830065"/>
                  </a:lnTo>
                  <a:lnTo>
                    <a:pt x="0" y="830065"/>
                  </a:lnTo>
                  <a:lnTo>
                    <a:pt x="0" y="0"/>
                  </a:lnTo>
                  <a:close/>
                </a:path>
              </a:pathLst>
            </a:custGeom>
            <a:blipFill>
              <a:blip r:embed="rId2"/>
              <a:stretch>
                <a:fillRect l="0" t="0" r="0" b="0"/>
              </a:stretch>
            </a:blipFill>
          </p:spPr>
        </p:sp>
      </p:grpSp>
      <p:grpSp>
        <p:nvGrpSpPr>
          <p:cNvPr name="Group 16" id="16"/>
          <p:cNvGrpSpPr/>
          <p:nvPr/>
        </p:nvGrpSpPr>
        <p:grpSpPr>
          <a:xfrm rot="0">
            <a:off x="1028700" y="2074252"/>
            <a:ext cx="7384310" cy="2439327"/>
            <a:chOff x="0" y="0"/>
            <a:chExt cx="1511460" cy="499295"/>
          </a:xfrm>
        </p:grpSpPr>
        <p:sp>
          <p:nvSpPr>
            <p:cNvPr name="Freeform 17" id="17"/>
            <p:cNvSpPr/>
            <p:nvPr/>
          </p:nvSpPr>
          <p:spPr>
            <a:xfrm flipH="false" flipV="false" rot="0">
              <a:off x="0" y="0"/>
              <a:ext cx="1511460" cy="499295"/>
            </a:xfrm>
            <a:custGeom>
              <a:avLst/>
              <a:gdLst/>
              <a:ahLst/>
              <a:cxnLst/>
              <a:rect r="r" b="b" t="t" l="l"/>
              <a:pathLst>
                <a:path h="499295" w="1511460">
                  <a:moveTo>
                    <a:pt x="104843" y="0"/>
                  </a:moveTo>
                  <a:lnTo>
                    <a:pt x="1406618" y="0"/>
                  </a:lnTo>
                  <a:cubicBezTo>
                    <a:pt x="1434424" y="0"/>
                    <a:pt x="1461091" y="11046"/>
                    <a:pt x="1480753" y="30708"/>
                  </a:cubicBezTo>
                  <a:cubicBezTo>
                    <a:pt x="1500415" y="50370"/>
                    <a:pt x="1511460" y="77037"/>
                    <a:pt x="1511460" y="104843"/>
                  </a:cubicBezTo>
                  <a:lnTo>
                    <a:pt x="1511460" y="394452"/>
                  </a:lnTo>
                  <a:cubicBezTo>
                    <a:pt x="1511460" y="452355"/>
                    <a:pt x="1464521" y="499295"/>
                    <a:pt x="1406618" y="499295"/>
                  </a:cubicBezTo>
                  <a:lnTo>
                    <a:pt x="104843" y="499295"/>
                  </a:lnTo>
                  <a:cubicBezTo>
                    <a:pt x="46940" y="499295"/>
                    <a:pt x="0" y="452355"/>
                    <a:pt x="0" y="394452"/>
                  </a:cubicBezTo>
                  <a:lnTo>
                    <a:pt x="0" y="104843"/>
                  </a:lnTo>
                  <a:cubicBezTo>
                    <a:pt x="0" y="46940"/>
                    <a:pt x="46940" y="0"/>
                    <a:pt x="104843" y="0"/>
                  </a:cubicBezTo>
                  <a:close/>
                </a:path>
              </a:pathLst>
            </a:custGeom>
            <a:solidFill>
              <a:srgbClr val="8AB8D3"/>
            </a:solidFill>
          </p:spPr>
        </p:sp>
        <p:sp>
          <p:nvSpPr>
            <p:cNvPr name="TextBox 18" id="18"/>
            <p:cNvSpPr txBox="true"/>
            <p:nvPr/>
          </p:nvSpPr>
          <p:spPr>
            <a:xfrm>
              <a:off x="0" y="-38100"/>
              <a:ext cx="1511460" cy="537395"/>
            </a:xfrm>
            <a:prstGeom prst="rect">
              <a:avLst/>
            </a:prstGeom>
          </p:spPr>
          <p:txBody>
            <a:bodyPr anchor="ctr" rtlCol="false" tIns="47086" lIns="47086" bIns="47086" rIns="47086"/>
            <a:lstStyle/>
            <a:p>
              <a:pPr algn="just">
                <a:lnSpc>
                  <a:spcPts val="2659"/>
                </a:lnSpc>
              </a:pPr>
            </a:p>
          </p:txBody>
        </p:sp>
      </p:grpSp>
      <p:sp>
        <p:nvSpPr>
          <p:cNvPr name="TextBox 19" id="19"/>
          <p:cNvSpPr txBox="true"/>
          <p:nvPr/>
        </p:nvSpPr>
        <p:spPr>
          <a:xfrm rot="0">
            <a:off x="1573376" y="2445495"/>
            <a:ext cx="6604654" cy="1728517"/>
          </a:xfrm>
          <a:prstGeom prst="rect">
            <a:avLst/>
          </a:prstGeom>
        </p:spPr>
        <p:txBody>
          <a:bodyPr anchor="t" rtlCol="false" tIns="0" lIns="0" bIns="0" rIns="0">
            <a:spAutoFit/>
          </a:bodyPr>
          <a:lstStyle/>
          <a:p>
            <a:pPr algn="just">
              <a:lnSpc>
                <a:spcPts val="3427"/>
              </a:lnSpc>
              <a:spcBef>
                <a:spcPct val="0"/>
              </a:spcBef>
            </a:pPr>
            <a:r>
              <a:rPr lang="en-US" b="true" sz="2448">
                <a:solidFill>
                  <a:srgbClr val="3B3B3B"/>
                </a:solidFill>
                <a:latin typeface="Poppins Bold"/>
                <a:ea typeface="Poppins Bold"/>
                <a:cs typeface="Poppins Bold"/>
                <a:sym typeface="Poppins Bold"/>
              </a:rPr>
              <a:t>Independent energy → Solar panel + battery → device can operate sustainably without PLN electricity.</a:t>
            </a:r>
          </a:p>
          <a:p>
            <a:pPr algn="just">
              <a:lnSpc>
                <a:spcPts val="3427"/>
              </a:lnSpc>
              <a:spcBef>
                <a:spcPct val="0"/>
              </a:spcBef>
            </a:pPr>
          </a:p>
        </p:txBody>
      </p:sp>
      <p:grpSp>
        <p:nvGrpSpPr>
          <p:cNvPr name="Group 20" id="20"/>
          <p:cNvGrpSpPr/>
          <p:nvPr/>
        </p:nvGrpSpPr>
        <p:grpSpPr>
          <a:xfrm rot="0">
            <a:off x="1028700" y="4923154"/>
            <a:ext cx="7576891" cy="2477910"/>
            <a:chOff x="0" y="0"/>
            <a:chExt cx="1550879" cy="507192"/>
          </a:xfrm>
        </p:grpSpPr>
        <p:sp>
          <p:nvSpPr>
            <p:cNvPr name="Freeform 21" id="21"/>
            <p:cNvSpPr/>
            <p:nvPr/>
          </p:nvSpPr>
          <p:spPr>
            <a:xfrm flipH="false" flipV="false" rot="0">
              <a:off x="0" y="0"/>
              <a:ext cx="1550879" cy="507192"/>
            </a:xfrm>
            <a:custGeom>
              <a:avLst/>
              <a:gdLst/>
              <a:ahLst/>
              <a:cxnLst/>
              <a:rect r="r" b="b" t="t" l="l"/>
              <a:pathLst>
                <a:path h="507192" w="1550879">
                  <a:moveTo>
                    <a:pt x="102178" y="0"/>
                  </a:moveTo>
                  <a:lnTo>
                    <a:pt x="1448701" y="0"/>
                  </a:lnTo>
                  <a:cubicBezTo>
                    <a:pt x="1475800" y="0"/>
                    <a:pt x="1501790" y="10765"/>
                    <a:pt x="1520952" y="29927"/>
                  </a:cubicBezTo>
                  <a:cubicBezTo>
                    <a:pt x="1540114" y="49089"/>
                    <a:pt x="1550879" y="75079"/>
                    <a:pt x="1550879" y="102178"/>
                  </a:cubicBezTo>
                  <a:lnTo>
                    <a:pt x="1550879" y="405014"/>
                  </a:lnTo>
                  <a:cubicBezTo>
                    <a:pt x="1550879" y="461445"/>
                    <a:pt x="1505132" y="507192"/>
                    <a:pt x="1448701" y="507192"/>
                  </a:cubicBezTo>
                  <a:lnTo>
                    <a:pt x="102178" y="507192"/>
                  </a:lnTo>
                  <a:cubicBezTo>
                    <a:pt x="75079" y="507192"/>
                    <a:pt x="49089" y="496427"/>
                    <a:pt x="29927" y="477265"/>
                  </a:cubicBezTo>
                  <a:cubicBezTo>
                    <a:pt x="10765" y="458103"/>
                    <a:pt x="0" y="432113"/>
                    <a:pt x="0" y="405014"/>
                  </a:cubicBezTo>
                  <a:lnTo>
                    <a:pt x="0" y="102178"/>
                  </a:lnTo>
                  <a:cubicBezTo>
                    <a:pt x="0" y="75079"/>
                    <a:pt x="10765" y="49089"/>
                    <a:pt x="29927" y="29927"/>
                  </a:cubicBezTo>
                  <a:cubicBezTo>
                    <a:pt x="49089" y="10765"/>
                    <a:pt x="75079" y="0"/>
                    <a:pt x="102178" y="0"/>
                  </a:cubicBezTo>
                  <a:close/>
                </a:path>
              </a:pathLst>
            </a:custGeom>
            <a:solidFill>
              <a:srgbClr val="8AB8D3"/>
            </a:solidFill>
          </p:spPr>
        </p:sp>
        <p:sp>
          <p:nvSpPr>
            <p:cNvPr name="TextBox 22" id="22"/>
            <p:cNvSpPr txBox="true"/>
            <p:nvPr/>
          </p:nvSpPr>
          <p:spPr>
            <a:xfrm>
              <a:off x="0" y="-38100"/>
              <a:ext cx="1550879" cy="545292"/>
            </a:xfrm>
            <a:prstGeom prst="rect">
              <a:avLst/>
            </a:prstGeom>
          </p:spPr>
          <p:txBody>
            <a:bodyPr anchor="ctr" rtlCol="false" tIns="47086" lIns="47086" bIns="47086" rIns="47086"/>
            <a:lstStyle/>
            <a:p>
              <a:pPr algn="just">
                <a:lnSpc>
                  <a:spcPts val="2659"/>
                </a:lnSpc>
              </a:pPr>
            </a:p>
          </p:txBody>
        </p:sp>
      </p:grpSp>
      <p:sp>
        <p:nvSpPr>
          <p:cNvPr name="TextBox 23" id="23"/>
          <p:cNvSpPr txBox="true"/>
          <p:nvPr/>
        </p:nvSpPr>
        <p:spPr>
          <a:xfrm rot="0">
            <a:off x="1690253" y="5235472"/>
            <a:ext cx="6253785" cy="2157473"/>
          </a:xfrm>
          <a:prstGeom prst="rect">
            <a:avLst/>
          </a:prstGeom>
        </p:spPr>
        <p:txBody>
          <a:bodyPr anchor="t" rtlCol="false" tIns="0" lIns="0" bIns="0" rIns="0">
            <a:spAutoFit/>
          </a:bodyPr>
          <a:lstStyle/>
          <a:p>
            <a:pPr algn="just">
              <a:lnSpc>
                <a:spcPts val="3409"/>
              </a:lnSpc>
              <a:spcBef>
                <a:spcPct val="0"/>
              </a:spcBef>
            </a:pPr>
            <a:r>
              <a:rPr lang="en-US" b="true" sz="2435">
                <a:solidFill>
                  <a:srgbClr val="3B3B3B"/>
                </a:solidFill>
                <a:latin typeface="Poppins Bold"/>
                <a:ea typeface="Poppins Bold"/>
                <a:cs typeface="Poppins Bold"/>
                <a:sym typeface="Poppins Bold"/>
              </a:rPr>
              <a:t>Energy-efficient communication → LoRa → wide range, low power consumption, suitable for IoT in the field.</a:t>
            </a:r>
          </a:p>
          <a:p>
            <a:pPr algn="just">
              <a:lnSpc>
                <a:spcPts val="3409"/>
              </a:lnSpc>
              <a:spcBef>
                <a:spcPct val="0"/>
              </a:spcBef>
            </a:pPr>
          </a:p>
        </p:txBody>
      </p:sp>
      <p:grpSp>
        <p:nvGrpSpPr>
          <p:cNvPr name="Group 24" id="24"/>
          <p:cNvGrpSpPr/>
          <p:nvPr/>
        </p:nvGrpSpPr>
        <p:grpSpPr>
          <a:xfrm rot="0">
            <a:off x="932409" y="7719304"/>
            <a:ext cx="7576891" cy="2386574"/>
            <a:chOff x="0" y="0"/>
            <a:chExt cx="1550879" cy="488497"/>
          </a:xfrm>
        </p:grpSpPr>
        <p:sp>
          <p:nvSpPr>
            <p:cNvPr name="Freeform 25" id="25"/>
            <p:cNvSpPr/>
            <p:nvPr/>
          </p:nvSpPr>
          <p:spPr>
            <a:xfrm flipH="false" flipV="false" rot="0">
              <a:off x="0" y="0"/>
              <a:ext cx="1550879" cy="488497"/>
            </a:xfrm>
            <a:custGeom>
              <a:avLst/>
              <a:gdLst/>
              <a:ahLst/>
              <a:cxnLst/>
              <a:rect r="r" b="b" t="t" l="l"/>
              <a:pathLst>
                <a:path h="488497" w="1550879">
                  <a:moveTo>
                    <a:pt x="102178" y="0"/>
                  </a:moveTo>
                  <a:lnTo>
                    <a:pt x="1448701" y="0"/>
                  </a:lnTo>
                  <a:cubicBezTo>
                    <a:pt x="1475800" y="0"/>
                    <a:pt x="1501790" y="10765"/>
                    <a:pt x="1520952" y="29927"/>
                  </a:cubicBezTo>
                  <a:cubicBezTo>
                    <a:pt x="1540114" y="49089"/>
                    <a:pt x="1550879" y="75079"/>
                    <a:pt x="1550879" y="102178"/>
                  </a:cubicBezTo>
                  <a:lnTo>
                    <a:pt x="1550879" y="386319"/>
                  </a:lnTo>
                  <a:cubicBezTo>
                    <a:pt x="1550879" y="442750"/>
                    <a:pt x="1505132" y="488497"/>
                    <a:pt x="1448701" y="488497"/>
                  </a:cubicBezTo>
                  <a:lnTo>
                    <a:pt x="102178" y="488497"/>
                  </a:lnTo>
                  <a:cubicBezTo>
                    <a:pt x="75079" y="488497"/>
                    <a:pt x="49089" y="477732"/>
                    <a:pt x="29927" y="458570"/>
                  </a:cubicBezTo>
                  <a:cubicBezTo>
                    <a:pt x="10765" y="439408"/>
                    <a:pt x="0" y="413418"/>
                    <a:pt x="0" y="386319"/>
                  </a:cubicBezTo>
                  <a:lnTo>
                    <a:pt x="0" y="102178"/>
                  </a:lnTo>
                  <a:cubicBezTo>
                    <a:pt x="0" y="75079"/>
                    <a:pt x="10765" y="49089"/>
                    <a:pt x="29927" y="29927"/>
                  </a:cubicBezTo>
                  <a:cubicBezTo>
                    <a:pt x="49089" y="10765"/>
                    <a:pt x="75079" y="0"/>
                    <a:pt x="102178" y="0"/>
                  </a:cubicBezTo>
                  <a:close/>
                </a:path>
              </a:pathLst>
            </a:custGeom>
            <a:solidFill>
              <a:srgbClr val="8AB8D3"/>
            </a:solidFill>
          </p:spPr>
        </p:sp>
        <p:sp>
          <p:nvSpPr>
            <p:cNvPr name="TextBox 26" id="26"/>
            <p:cNvSpPr txBox="true"/>
            <p:nvPr/>
          </p:nvSpPr>
          <p:spPr>
            <a:xfrm>
              <a:off x="0" y="-38100"/>
              <a:ext cx="1550879" cy="526597"/>
            </a:xfrm>
            <a:prstGeom prst="rect">
              <a:avLst/>
            </a:prstGeom>
          </p:spPr>
          <p:txBody>
            <a:bodyPr anchor="ctr" rtlCol="false" tIns="47086" lIns="47086" bIns="47086" rIns="47086"/>
            <a:lstStyle/>
            <a:p>
              <a:pPr algn="just">
                <a:lnSpc>
                  <a:spcPts val="2659"/>
                </a:lnSpc>
              </a:pPr>
            </a:p>
          </p:txBody>
        </p:sp>
      </p:grpSp>
      <p:sp>
        <p:nvSpPr>
          <p:cNvPr name="TextBox 27" id="27"/>
          <p:cNvSpPr txBox="true"/>
          <p:nvPr/>
        </p:nvSpPr>
        <p:spPr>
          <a:xfrm rot="0">
            <a:off x="1573376" y="8115439"/>
            <a:ext cx="6604654" cy="2306403"/>
          </a:xfrm>
          <a:prstGeom prst="rect">
            <a:avLst/>
          </a:prstGeom>
        </p:spPr>
        <p:txBody>
          <a:bodyPr anchor="t" rtlCol="false" tIns="0" lIns="0" bIns="0" rIns="0">
            <a:spAutoFit/>
          </a:bodyPr>
          <a:lstStyle/>
          <a:p>
            <a:pPr algn="just">
              <a:lnSpc>
                <a:spcPts val="3600"/>
              </a:lnSpc>
              <a:spcBef>
                <a:spcPct val="0"/>
              </a:spcBef>
            </a:pPr>
            <a:r>
              <a:rPr lang="en-US" b="true" sz="2571">
                <a:solidFill>
                  <a:srgbClr val="3B3B3B"/>
                </a:solidFill>
                <a:latin typeface="Poppins Bold"/>
                <a:ea typeface="Poppins Bold"/>
                <a:cs typeface="Poppins Bold"/>
                <a:sym typeface="Poppins Bold"/>
              </a:rPr>
              <a:t>Web-based dashboard → Displays real-time and historical data, accessible to the public, researchers, and agencies.</a:t>
            </a:r>
          </a:p>
          <a:p>
            <a:pPr algn="just">
              <a:lnSpc>
                <a:spcPts val="3600"/>
              </a:lnSpc>
              <a:spcBef>
                <a:spcPct val="0"/>
              </a:spcBef>
            </a:pPr>
          </a:p>
        </p:txBody>
      </p:sp>
      <p:grpSp>
        <p:nvGrpSpPr>
          <p:cNvPr name="Group 28" id="28"/>
          <p:cNvGrpSpPr/>
          <p:nvPr/>
        </p:nvGrpSpPr>
        <p:grpSpPr>
          <a:xfrm rot="0">
            <a:off x="9462168" y="3355712"/>
            <a:ext cx="7576891" cy="5140085"/>
            <a:chOff x="0" y="0"/>
            <a:chExt cx="10102522" cy="6853446"/>
          </a:xfrm>
        </p:grpSpPr>
        <p:grpSp>
          <p:nvGrpSpPr>
            <p:cNvPr name="Group 29" id="29"/>
            <p:cNvGrpSpPr/>
            <p:nvPr/>
          </p:nvGrpSpPr>
          <p:grpSpPr>
            <a:xfrm rot="0">
              <a:off x="0" y="0"/>
              <a:ext cx="9845747" cy="3252436"/>
              <a:chOff x="0" y="0"/>
              <a:chExt cx="1511460" cy="499295"/>
            </a:xfrm>
          </p:grpSpPr>
          <p:sp>
            <p:nvSpPr>
              <p:cNvPr name="Freeform 30" id="30"/>
              <p:cNvSpPr/>
              <p:nvPr/>
            </p:nvSpPr>
            <p:spPr>
              <a:xfrm flipH="false" flipV="false" rot="0">
                <a:off x="0" y="0"/>
                <a:ext cx="1511460" cy="499295"/>
              </a:xfrm>
              <a:custGeom>
                <a:avLst/>
                <a:gdLst/>
                <a:ahLst/>
                <a:cxnLst/>
                <a:rect r="r" b="b" t="t" l="l"/>
                <a:pathLst>
                  <a:path h="499295" w="1511460">
                    <a:moveTo>
                      <a:pt x="104843" y="0"/>
                    </a:moveTo>
                    <a:lnTo>
                      <a:pt x="1406618" y="0"/>
                    </a:lnTo>
                    <a:cubicBezTo>
                      <a:pt x="1434424" y="0"/>
                      <a:pt x="1461091" y="11046"/>
                      <a:pt x="1480753" y="30708"/>
                    </a:cubicBezTo>
                    <a:cubicBezTo>
                      <a:pt x="1500415" y="50370"/>
                      <a:pt x="1511460" y="77037"/>
                      <a:pt x="1511460" y="104843"/>
                    </a:cubicBezTo>
                    <a:lnTo>
                      <a:pt x="1511460" y="394452"/>
                    </a:lnTo>
                    <a:cubicBezTo>
                      <a:pt x="1511460" y="452355"/>
                      <a:pt x="1464521" y="499295"/>
                      <a:pt x="1406618" y="499295"/>
                    </a:cubicBezTo>
                    <a:lnTo>
                      <a:pt x="104843" y="499295"/>
                    </a:lnTo>
                    <a:cubicBezTo>
                      <a:pt x="46940" y="499295"/>
                      <a:pt x="0" y="452355"/>
                      <a:pt x="0" y="394452"/>
                    </a:cubicBezTo>
                    <a:lnTo>
                      <a:pt x="0" y="104843"/>
                    </a:lnTo>
                    <a:cubicBezTo>
                      <a:pt x="0" y="46940"/>
                      <a:pt x="46940" y="0"/>
                      <a:pt x="104843" y="0"/>
                    </a:cubicBezTo>
                    <a:close/>
                  </a:path>
                </a:pathLst>
              </a:custGeom>
              <a:solidFill>
                <a:srgbClr val="8AB8D3"/>
              </a:solidFill>
            </p:spPr>
          </p:sp>
          <p:sp>
            <p:nvSpPr>
              <p:cNvPr name="TextBox 31" id="31"/>
              <p:cNvSpPr txBox="true"/>
              <p:nvPr/>
            </p:nvSpPr>
            <p:spPr>
              <a:xfrm>
                <a:off x="0" y="-38100"/>
                <a:ext cx="1511460" cy="537395"/>
              </a:xfrm>
              <a:prstGeom prst="rect">
                <a:avLst/>
              </a:prstGeom>
            </p:spPr>
            <p:txBody>
              <a:bodyPr anchor="ctr" rtlCol="false" tIns="47086" lIns="47086" bIns="47086" rIns="47086"/>
              <a:lstStyle/>
              <a:p>
                <a:pPr algn="ctr">
                  <a:lnSpc>
                    <a:spcPts val="2659"/>
                  </a:lnSpc>
                </a:pPr>
              </a:p>
            </p:txBody>
          </p:sp>
        </p:grpSp>
        <p:grpSp>
          <p:nvGrpSpPr>
            <p:cNvPr name="Group 32" id="32"/>
            <p:cNvGrpSpPr/>
            <p:nvPr/>
          </p:nvGrpSpPr>
          <p:grpSpPr>
            <a:xfrm rot="0">
              <a:off x="0" y="3582636"/>
              <a:ext cx="10102522" cy="3182099"/>
              <a:chOff x="0" y="0"/>
              <a:chExt cx="1550879" cy="488497"/>
            </a:xfrm>
          </p:grpSpPr>
          <p:sp>
            <p:nvSpPr>
              <p:cNvPr name="Freeform 33" id="33"/>
              <p:cNvSpPr/>
              <p:nvPr/>
            </p:nvSpPr>
            <p:spPr>
              <a:xfrm flipH="false" flipV="false" rot="0">
                <a:off x="0" y="0"/>
                <a:ext cx="1550879" cy="488497"/>
              </a:xfrm>
              <a:custGeom>
                <a:avLst/>
                <a:gdLst/>
                <a:ahLst/>
                <a:cxnLst/>
                <a:rect r="r" b="b" t="t" l="l"/>
                <a:pathLst>
                  <a:path h="488497" w="1550879">
                    <a:moveTo>
                      <a:pt x="102178" y="0"/>
                    </a:moveTo>
                    <a:lnTo>
                      <a:pt x="1448701" y="0"/>
                    </a:lnTo>
                    <a:cubicBezTo>
                      <a:pt x="1475800" y="0"/>
                      <a:pt x="1501790" y="10765"/>
                      <a:pt x="1520952" y="29927"/>
                    </a:cubicBezTo>
                    <a:cubicBezTo>
                      <a:pt x="1540114" y="49089"/>
                      <a:pt x="1550879" y="75079"/>
                      <a:pt x="1550879" y="102178"/>
                    </a:cubicBezTo>
                    <a:lnTo>
                      <a:pt x="1550879" y="386319"/>
                    </a:lnTo>
                    <a:cubicBezTo>
                      <a:pt x="1550879" y="442750"/>
                      <a:pt x="1505132" y="488497"/>
                      <a:pt x="1448701" y="488497"/>
                    </a:cubicBezTo>
                    <a:lnTo>
                      <a:pt x="102178" y="488497"/>
                    </a:lnTo>
                    <a:cubicBezTo>
                      <a:pt x="75079" y="488497"/>
                      <a:pt x="49089" y="477732"/>
                      <a:pt x="29927" y="458570"/>
                    </a:cubicBezTo>
                    <a:cubicBezTo>
                      <a:pt x="10765" y="439408"/>
                      <a:pt x="0" y="413418"/>
                      <a:pt x="0" y="386319"/>
                    </a:cubicBezTo>
                    <a:lnTo>
                      <a:pt x="0" y="102178"/>
                    </a:lnTo>
                    <a:cubicBezTo>
                      <a:pt x="0" y="75079"/>
                      <a:pt x="10765" y="49089"/>
                      <a:pt x="29927" y="29927"/>
                    </a:cubicBezTo>
                    <a:cubicBezTo>
                      <a:pt x="49089" y="10765"/>
                      <a:pt x="75079" y="0"/>
                      <a:pt x="102178" y="0"/>
                    </a:cubicBezTo>
                    <a:close/>
                  </a:path>
                </a:pathLst>
              </a:custGeom>
              <a:solidFill>
                <a:srgbClr val="8AB8D3"/>
              </a:solidFill>
            </p:spPr>
          </p:sp>
          <p:sp>
            <p:nvSpPr>
              <p:cNvPr name="TextBox 34" id="34"/>
              <p:cNvSpPr txBox="true"/>
              <p:nvPr/>
            </p:nvSpPr>
            <p:spPr>
              <a:xfrm>
                <a:off x="0" y="-38100"/>
                <a:ext cx="1550879" cy="526597"/>
              </a:xfrm>
              <a:prstGeom prst="rect">
                <a:avLst/>
              </a:prstGeom>
            </p:spPr>
            <p:txBody>
              <a:bodyPr anchor="ctr" rtlCol="false" tIns="47086" lIns="47086" bIns="47086" rIns="47086"/>
              <a:lstStyle/>
              <a:p>
                <a:pPr algn="ctr">
                  <a:lnSpc>
                    <a:spcPts val="2659"/>
                  </a:lnSpc>
                </a:pPr>
              </a:p>
            </p:txBody>
          </p:sp>
        </p:grpSp>
        <p:sp>
          <p:nvSpPr>
            <p:cNvPr name="TextBox 35" id="35"/>
            <p:cNvSpPr txBox="true"/>
            <p:nvPr/>
          </p:nvSpPr>
          <p:spPr>
            <a:xfrm rot="0">
              <a:off x="726235" y="520391"/>
              <a:ext cx="8806206" cy="2300245"/>
            </a:xfrm>
            <a:prstGeom prst="rect">
              <a:avLst/>
            </a:prstGeom>
          </p:spPr>
          <p:txBody>
            <a:bodyPr anchor="t" rtlCol="false" tIns="0" lIns="0" bIns="0" rIns="0">
              <a:spAutoFit/>
            </a:bodyPr>
            <a:lstStyle/>
            <a:p>
              <a:pPr algn="l">
                <a:lnSpc>
                  <a:spcPts val="3427"/>
                </a:lnSpc>
                <a:spcBef>
                  <a:spcPct val="0"/>
                </a:spcBef>
              </a:pPr>
              <a:r>
                <a:rPr lang="en-US" b="true" sz="2448">
                  <a:solidFill>
                    <a:srgbClr val="3B3B3B"/>
                  </a:solidFill>
                  <a:latin typeface="Poppins Bold"/>
                  <a:ea typeface="Poppins Bold"/>
                  <a:cs typeface="Poppins Bold"/>
                  <a:sym typeface="Poppins Bold"/>
                </a:rPr>
                <a:t>Complete integration → Sensor → LoRa → server → dashboard → more structured and user-friendly data.</a:t>
              </a:r>
            </a:p>
            <a:p>
              <a:pPr algn="l">
                <a:lnSpc>
                  <a:spcPts val="3427"/>
                </a:lnSpc>
                <a:spcBef>
                  <a:spcPct val="0"/>
                </a:spcBef>
              </a:pPr>
            </a:p>
          </p:txBody>
        </p:sp>
        <p:sp>
          <p:nvSpPr>
            <p:cNvPr name="TextBox 36" id="36"/>
            <p:cNvSpPr txBox="true"/>
            <p:nvPr/>
          </p:nvSpPr>
          <p:spPr>
            <a:xfrm rot="0">
              <a:off x="753683" y="3991390"/>
              <a:ext cx="8338380" cy="2862056"/>
            </a:xfrm>
            <a:prstGeom prst="rect">
              <a:avLst/>
            </a:prstGeom>
          </p:spPr>
          <p:txBody>
            <a:bodyPr anchor="t" rtlCol="false" tIns="0" lIns="0" bIns="0" rIns="0">
              <a:spAutoFit/>
            </a:bodyPr>
            <a:lstStyle/>
            <a:p>
              <a:pPr algn="l">
                <a:lnSpc>
                  <a:spcPts val="3409"/>
                </a:lnSpc>
                <a:spcBef>
                  <a:spcPct val="0"/>
                </a:spcBef>
              </a:pPr>
              <a:r>
                <a:rPr lang="en-US" b="true" sz="2435">
                  <a:solidFill>
                    <a:srgbClr val="3B3B3B"/>
                  </a:solidFill>
                  <a:latin typeface="Poppins Bold"/>
                  <a:ea typeface="Poppins Bold"/>
                  <a:cs typeface="Poppins Bold"/>
                  <a:sym typeface="Poppins Bold"/>
                </a:rPr>
                <a:t>Device location → Coordinates entered manually (smartphone/external GPS) → still displayed on the dashboard without additional modules.</a:t>
              </a:r>
            </a:p>
            <a:p>
              <a:pPr algn="l">
                <a:lnSpc>
                  <a:spcPts val="3409"/>
                </a:lnSpc>
                <a:spcBef>
                  <a:spcPct val="0"/>
                </a:spcBef>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491799" y="9487118"/>
            <a:ext cx="951769" cy="799882"/>
            <a:chOff x="0" y="0"/>
            <a:chExt cx="967140" cy="812800"/>
          </a:xfrm>
        </p:grpSpPr>
        <p:sp>
          <p:nvSpPr>
            <p:cNvPr name="Freeform 9" id="9"/>
            <p:cNvSpPr/>
            <p:nvPr/>
          </p:nvSpPr>
          <p:spPr>
            <a:xfrm flipH="false" flipV="false" rot="0">
              <a:off x="0" y="0"/>
              <a:ext cx="967140" cy="812800"/>
            </a:xfrm>
            <a:custGeom>
              <a:avLst/>
              <a:gdLst/>
              <a:ahLst/>
              <a:cxnLst/>
              <a:rect r="r" b="b" t="t" l="l"/>
              <a:pathLst>
                <a:path h="812800" w="96714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name="TextBox 10" id="10"/>
            <p:cNvSpPr txBox="true"/>
            <p:nvPr/>
          </p:nvSpPr>
          <p:spPr>
            <a:xfrm>
              <a:off x="0" y="-38100"/>
              <a:ext cx="967140" cy="8509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212689" y="314984"/>
            <a:ext cx="2721375" cy="622549"/>
            <a:chOff x="0" y="0"/>
            <a:chExt cx="3628500" cy="830065"/>
          </a:xfrm>
        </p:grpSpPr>
        <p:sp>
          <p:nvSpPr>
            <p:cNvPr name="TextBox 12" id="12"/>
            <p:cNvSpPr txBox="true"/>
            <p:nvPr/>
          </p:nvSpPr>
          <p:spPr>
            <a:xfrm rot="0">
              <a:off x="1065319" y="267078"/>
              <a:ext cx="2563180" cy="267335"/>
            </a:xfrm>
            <a:prstGeom prst="rect">
              <a:avLst/>
            </a:prstGeom>
          </p:spPr>
          <p:txBody>
            <a:bodyPr anchor="t" rtlCol="false" tIns="0" lIns="0" bIns="0" rIns="0">
              <a:spAutoFit/>
            </a:bodyPr>
            <a:lstStyle/>
            <a:p>
              <a:pPr algn="l">
                <a:lnSpc>
                  <a:spcPts val="1680"/>
                </a:lnSpc>
                <a:spcBef>
                  <a:spcPct val="0"/>
                </a:spcBef>
              </a:pPr>
              <a:r>
                <a:rPr lang="en-US" b="true" sz="1200">
                  <a:solidFill>
                    <a:srgbClr val="1F2020"/>
                  </a:solidFill>
                  <a:latin typeface="Poppins Bold"/>
                  <a:ea typeface="Poppins Bold"/>
                  <a:cs typeface="Poppins Bold"/>
                  <a:sym typeface="Poppins Bold"/>
                </a:rPr>
                <a:t>Institut Teknologi Del</a:t>
              </a:r>
            </a:p>
          </p:txBody>
        </p:sp>
        <p:sp>
          <p:nvSpPr>
            <p:cNvPr name="Freeform 13" id="13"/>
            <p:cNvSpPr/>
            <p:nvPr/>
          </p:nvSpPr>
          <p:spPr>
            <a:xfrm flipH="false" flipV="false" rot="0">
              <a:off x="0" y="0"/>
              <a:ext cx="868292" cy="830065"/>
            </a:xfrm>
            <a:custGeom>
              <a:avLst/>
              <a:gdLst/>
              <a:ahLst/>
              <a:cxnLst/>
              <a:rect r="r" b="b" t="t" l="l"/>
              <a:pathLst>
                <a:path h="830065" w="868292">
                  <a:moveTo>
                    <a:pt x="0" y="0"/>
                  </a:moveTo>
                  <a:lnTo>
                    <a:pt x="868292" y="0"/>
                  </a:lnTo>
                  <a:lnTo>
                    <a:pt x="868292" y="830065"/>
                  </a:lnTo>
                  <a:lnTo>
                    <a:pt x="0" y="830065"/>
                  </a:lnTo>
                  <a:lnTo>
                    <a:pt x="0" y="0"/>
                  </a:lnTo>
                  <a:close/>
                </a:path>
              </a:pathLst>
            </a:custGeom>
            <a:blipFill>
              <a:blip r:embed="rId2"/>
              <a:stretch>
                <a:fillRect l="0" t="0" r="0" b="0"/>
              </a:stretch>
            </a:blipFill>
          </p:spPr>
        </p:sp>
      </p:grpSp>
      <p:sp>
        <p:nvSpPr>
          <p:cNvPr name="Freeform 14" id="14"/>
          <p:cNvSpPr/>
          <p:nvPr/>
        </p:nvSpPr>
        <p:spPr>
          <a:xfrm flipH="false" flipV="false" rot="0">
            <a:off x="1478940" y="1392804"/>
            <a:ext cx="15330119" cy="8623192"/>
          </a:xfrm>
          <a:custGeom>
            <a:avLst/>
            <a:gdLst/>
            <a:ahLst/>
            <a:cxnLst/>
            <a:rect r="r" b="b" t="t" l="l"/>
            <a:pathLst>
              <a:path h="8623192" w="15330119">
                <a:moveTo>
                  <a:pt x="0" y="0"/>
                </a:moveTo>
                <a:lnTo>
                  <a:pt x="15330120" y="0"/>
                </a:lnTo>
                <a:lnTo>
                  <a:pt x="15330120" y="8623193"/>
                </a:lnTo>
                <a:lnTo>
                  <a:pt x="0" y="8623193"/>
                </a:lnTo>
                <a:lnTo>
                  <a:pt x="0" y="0"/>
                </a:lnTo>
                <a:close/>
              </a:path>
            </a:pathLst>
          </a:custGeom>
          <a:blipFill>
            <a:blip r:embed="rId3"/>
            <a:stretch>
              <a:fillRect l="0" t="0" r="0" b="0"/>
            </a:stretch>
          </a:blipFill>
        </p:spPr>
      </p:sp>
      <p:sp>
        <p:nvSpPr>
          <p:cNvPr name="TextBox 15" id="15"/>
          <p:cNvSpPr txBox="true"/>
          <p:nvPr/>
        </p:nvSpPr>
        <p:spPr>
          <a:xfrm rot="0">
            <a:off x="17674380" y="9739388"/>
            <a:ext cx="442747" cy="515118"/>
          </a:xfrm>
          <a:prstGeom prst="rect">
            <a:avLst/>
          </a:prstGeom>
        </p:spPr>
        <p:txBody>
          <a:bodyPr anchor="t" rtlCol="false" tIns="0" lIns="0" bIns="0" rIns="0">
            <a:spAutoFit/>
          </a:bodyPr>
          <a:lstStyle/>
          <a:p>
            <a:pPr algn="ctr">
              <a:lnSpc>
                <a:spcPts val="2057"/>
              </a:lnSpc>
            </a:pPr>
            <a:r>
              <a:rPr lang="en-US" sz="1469" b="true">
                <a:solidFill>
                  <a:srgbClr val="FFFFFF"/>
                </a:solidFill>
                <a:latin typeface="Poppins Bold"/>
                <a:ea typeface="Poppins Bold"/>
                <a:cs typeface="Poppins Bold"/>
                <a:sym typeface="Poppins Bold"/>
              </a:rPr>
              <a:t>11</a:t>
            </a:r>
          </a:p>
          <a:p>
            <a:pPr algn="ctr">
              <a:lnSpc>
                <a:spcPts val="2057"/>
              </a:lnSpc>
              <a:spcBef>
                <a:spcPct val="0"/>
              </a:spcBef>
            </a:pPr>
          </a:p>
        </p:txBody>
      </p:sp>
      <p:sp>
        <p:nvSpPr>
          <p:cNvPr name="TextBox 16" id="16"/>
          <p:cNvSpPr txBox="true"/>
          <p:nvPr/>
        </p:nvSpPr>
        <p:spPr>
          <a:xfrm rot="0">
            <a:off x="5336521" y="553384"/>
            <a:ext cx="7614957" cy="827130"/>
          </a:xfrm>
          <a:prstGeom prst="rect">
            <a:avLst/>
          </a:prstGeom>
        </p:spPr>
        <p:txBody>
          <a:bodyPr anchor="t" rtlCol="false" tIns="0" lIns="0" bIns="0" rIns="0">
            <a:spAutoFit/>
          </a:bodyPr>
          <a:lstStyle/>
          <a:p>
            <a:pPr algn="l">
              <a:lnSpc>
                <a:spcPts val="6385"/>
              </a:lnSpc>
              <a:spcBef>
                <a:spcPct val="0"/>
              </a:spcBef>
            </a:pPr>
            <a:r>
              <a:rPr lang="en-US" b="true" sz="4560">
                <a:solidFill>
                  <a:srgbClr val="1F2020"/>
                </a:solidFill>
                <a:latin typeface="Poppins Bold"/>
                <a:ea typeface="Poppins Bold"/>
                <a:cs typeface="Poppins Bold"/>
                <a:sym typeface="Poppins Bold"/>
              </a:rPr>
              <a:t>Desain Arsitektur Sistem</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491799" y="9487118"/>
            <a:ext cx="951769" cy="799882"/>
            <a:chOff x="0" y="0"/>
            <a:chExt cx="967140" cy="812800"/>
          </a:xfrm>
        </p:grpSpPr>
        <p:sp>
          <p:nvSpPr>
            <p:cNvPr name="Freeform 9" id="9"/>
            <p:cNvSpPr/>
            <p:nvPr/>
          </p:nvSpPr>
          <p:spPr>
            <a:xfrm flipH="false" flipV="false" rot="0">
              <a:off x="0" y="0"/>
              <a:ext cx="967140" cy="812800"/>
            </a:xfrm>
            <a:custGeom>
              <a:avLst/>
              <a:gdLst/>
              <a:ahLst/>
              <a:cxnLst/>
              <a:rect r="r" b="b" t="t" l="l"/>
              <a:pathLst>
                <a:path h="812800" w="96714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name="TextBox 10" id="10"/>
            <p:cNvSpPr txBox="true"/>
            <p:nvPr/>
          </p:nvSpPr>
          <p:spPr>
            <a:xfrm>
              <a:off x="0" y="-38100"/>
              <a:ext cx="967140" cy="8509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212689" y="314984"/>
            <a:ext cx="2721375" cy="622549"/>
            <a:chOff x="0" y="0"/>
            <a:chExt cx="3628500" cy="830065"/>
          </a:xfrm>
        </p:grpSpPr>
        <p:sp>
          <p:nvSpPr>
            <p:cNvPr name="TextBox 12" id="12"/>
            <p:cNvSpPr txBox="true"/>
            <p:nvPr/>
          </p:nvSpPr>
          <p:spPr>
            <a:xfrm rot="0">
              <a:off x="1065319" y="267078"/>
              <a:ext cx="2563180" cy="267335"/>
            </a:xfrm>
            <a:prstGeom prst="rect">
              <a:avLst/>
            </a:prstGeom>
          </p:spPr>
          <p:txBody>
            <a:bodyPr anchor="t" rtlCol="false" tIns="0" lIns="0" bIns="0" rIns="0">
              <a:spAutoFit/>
            </a:bodyPr>
            <a:lstStyle/>
            <a:p>
              <a:pPr algn="l">
                <a:lnSpc>
                  <a:spcPts val="1680"/>
                </a:lnSpc>
                <a:spcBef>
                  <a:spcPct val="0"/>
                </a:spcBef>
              </a:pPr>
              <a:r>
                <a:rPr lang="en-US" b="true" sz="1200">
                  <a:solidFill>
                    <a:srgbClr val="1F2020"/>
                  </a:solidFill>
                  <a:latin typeface="Poppins Bold"/>
                  <a:ea typeface="Poppins Bold"/>
                  <a:cs typeface="Poppins Bold"/>
                  <a:sym typeface="Poppins Bold"/>
                </a:rPr>
                <a:t>Institut Teknologi Del</a:t>
              </a:r>
            </a:p>
          </p:txBody>
        </p:sp>
        <p:sp>
          <p:nvSpPr>
            <p:cNvPr name="Freeform 13" id="13"/>
            <p:cNvSpPr/>
            <p:nvPr/>
          </p:nvSpPr>
          <p:spPr>
            <a:xfrm flipH="false" flipV="false" rot="0">
              <a:off x="0" y="0"/>
              <a:ext cx="868292" cy="830065"/>
            </a:xfrm>
            <a:custGeom>
              <a:avLst/>
              <a:gdLst/>
              <a:ahLst/>
              <a:cxnLst/>
              <a:rect r="r" b="b" t="t" l="l"/>
              <a:pathLst>
                <a:path h="830065" w="868292">
                  <a:moveTo>
                    <a:pt x="0" y="0"/>
                  </a:moveTo>
                  <a:lnTo>
                    <a:pt x="868292" y="0"/>
                  </a:lnTo>
                  <a:lnTo>
                    <a:pt x="868292" y="830065"/>
                  </a:lnTo>
                  <a:lnTo>
                    <a:pt x="0" y="830065"/>
                  </a:lnTo>
                  <a:lnTo>
                    <a:pt x="0" y="0"/>
                  </a:lnTo>
                  <a:close/>
                </a:path>
              </a:pathLst>
            </a:custGeom>
            <a:blipFill>
              <a:blip r:embed="rId2"/>
              <a:stretch>
                <a:fillRect l="0" t="0" r="0" b="0"/>
              </a:stretch>
            </a:blipFill>
          </p:spPr>
        </p:sp>
      </p:grpSp>
      <p:sp>
        <p:nvSpPr>
          <p:cNvPr name="Freeform 14" id="14"/>
          <p:cNvSpPr/>
          <p:nvPr/>
        </p:nvSpPr>
        <p:spPr>
          <a:xfrm flipH="false" flipV="false" rot="0">
            <a:off x="2048278" y="1624049"/>
            <a:ext cx="14527285" cy="8153439"/>
          </a:xfrm>
          <a:custGeom>
            <a:avLst/>
            <a:gdLst/>
            <a:ahLst/>
            <a:cxnLst/>
            <a:rect r="r" b="b" t="t" l="l"/>
            <a:pathLst>
              <a:path h="8153439" w="14527285">
                <a:moveTo>
                  <a:pt x="0" y="0"/>
                </a:moveTo>
                <a:lnTo>
                  <a:pt x="14527285" y="0"/>
                </a:lnTo>
                <a:lnTo>
                  <a:pt x="14527285" y="8153439"/>
                </a:lnTo>
                <a:lnTo>
                  <a:pt x="0" y="8153439"/>
                </a:lnTo>
                <a:lnTo>
                  <a:pt x="0" y="0"/>
                </a:lnTo>
                <a:close/>
              </a:path>
            </a:pathLst>
          </a:custGeom>
          <a:blipFill>
            <a:blip r:embed="rId3"/>
            <a:stretch>
              <a:fillRect l="0" t="0" r="0" b="0"/>
            </a:stretch>
          </a:blipFill>
        </p:spPr>
      </p:sp>
      <p:sp>
        <p:nvSpPr>
          <p:cNvPr name="TextBox 15" id="15"/>
          <p:cNvSpPr txBox="true"/>
          <p:nvPr/>
        </p:nvSpPr>
        <p:spPr>
          <a:xfrm rot="0">
            <a:off x="17674380" y="9739388"/>
            <a:ext cx="442747" cy="257943"/>
          </a:xfrm>
          <a:prstGeom prst="rect">
            <a:avLst/>
          </a:prstGeom>
        </p:spPr>
        <p:txBody>
          <a:bodyPr anchor="t" rtlCol="false" tIns="0" lIns="0" bIns="0" rIns="0">
            <a:spAutoFit/>
          </a:bodyPr>
          <a:lstStyle/>
          <a:p>
            <a:pPr algn="ctr">
              <a:lnSpc>
                <a:spcPts val="2057"/>
              </a:lnSpc>
              <a:spcBef>
                <a:spcPct val="0"/>
              </a:spcBef>
            </a:pPr>
            <a:r>
              <a:rPr lang="en-US" b="true" sz="1469">
                <a:solidFill>
                  <a:srgbClr val="FFFFFF"/>
                </a:solidFill>
                <a:latin typeface="Poppins Bold"/>
                <a:ea typeface="Poppins Bold"/>
                <a:cs typeface="Poppins Bold"/>
                <a:sym typeface="Poppins Bold"/>
              </a:rPr>
              <a:t>12</a:t>
            </a:r>
          </a:p>
        </p:txBody>
      </p:sp>
      <p:sp>
        <p:nvSpPr>
          <p:cNvPr name="TextBox 16" id="16"/>
          <p:cNvSpPr txBox="true"/>
          <p:nvPr/>
        </p:nvSpPr>
        <p:spPr>
          <a:xfrm rot="0">
            <a:off x="4369241" y="553384"/>
            <a:ext cx="9549517" cy="827130"/>
          </a:xfrm>
          <a:prstGeom prst="rect">
            <a:avLst/>
          </a:prstGeom>
        </p:spPr>
        <p:txBody>
          <a:bodyPr anchor="t" rtlCol="false" tIns="0" lIns="0" bIns="0" rIns="0">
            <a:spAutoFit/>
          </a:bodyPr>
          <a:lstStyle/>
          <a:p>
            <a:pPr algn="l">
              <a:lnSpc>
                <a:spcPts val="6385"/>
              </a:lnSpc>
              <a:spcBef>
                <a:spcPct val="0"/>
              </a:spcBef>
            </a:pPr>
            <a:r>
              <a:rPr lang="en-US" b="true" sz="4560">
                <a:solidFill>
                  <a:srgbClr val="1F2020"/>
                </a:solidFill>
                <a:latin typeface="Poppins Bold"/>
                <a:ea typeface="Poppins Bold"/>
                <a:cs typeface="Poppins Bold"/>
                <a:sym typeface="Poppins Bold"/>
              </a:rPr>
              <a:t>Communication System Design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491799" y="9487118"/>
            <a:ext cx="951769" cy="799882"/>
            <a:chOff x="0" y="0"/>
            <a:chExt cx="967140" cy="812800"/>
          </a:xfrm>
        </p:grpSpPr>
        <p:sp>
          <p:nvSpPr>
            <p:cNvPr name="Freeform 9" id="9"/>
            <p:cNvSpPr/>
            <p:nvPr/>
          </p:nvSpPr>
          <p:spPr>
            <a:xfrm flipH="false" flipV="false" rot="0">
              <a:off x="0" y="0"/>
              <a:ext cx="967140" cy="812800"/>
            </a:xfrm>
            <a:custGeom>
              <a:avLst/>
              <a:gdLst/>
              <a:ahLst/>
              <a:cxnLst/>
              <a:rect r="r" b="b" t="t" l="l"/>
              <a:pathLst>
                <a:path h="812800" w="96714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name="TextBox 10" id="10"/>
            <p:cNvSpPr txBox="true"/>
            <p:nvPr/>
          </p:nvSpPr>
          <p:spPr>
            <a:xfrm>
              <a:off x="0" y="-38100"/>
              <a:ext cx="967140" cy="8509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212689" y="314984"/>
            <a:ext cx="2721375" cy="622549"/>
            <a:chOff x="0" y="0"/>
            <a:chExt cx="3628500" cy="830065"/>
          </a:xfrm>
        </p:grpSpPr>
        <p:sp>
          <p:nvSpPr>
            <p:cNvPr name="TextBox 12" id="12"/>
            <p:cNvSpPr txBox="true"/>
            <p:nvPr/>
          </p:nvSpPr>
          <p:spPr>
            <a:xfrm rot="0">
              <a:off x="1065319" y="267078"/>
              <a:ext cx="2563180" cy="267335"/>
            </a:xfrm>
            <a:prstGeom prst="rect">
              <a:avLst/>
            </a:prstGeom>
          </p:spPr>
          <p:txBody>
            <a:bodyPr anchor="t" rtlCol="false" tIns="0" lIns="0" bIns="0" rIns="0">
              <a:spAutoFit/>
            </a:bodyPr>
            <a:lstStyle/>
            <a:p>
              <a:pPr algn="l">
                <a:lnSpc>
                  <a:spcPts val="1680"/>
                </a:lnSpc>
                <a:spcBef>
                  <a:spcPct val="0"/>
                </a:spcBef>
              </a:pPr>
              <a:r>
                <a:rPr lang="en-US" b="true" sz="1200">
                  <a:solidFill>
                    <a:srgbClr val="1F2020"/>
                  </a:solidFill>
                  <a:latin typeface="Poppins Bold"/>
                  <a:ea typeface="Poppins Bold"/>
                  <a:cs typeface="Poppins Bold"/>
                  <a:sym typeface="Poppins Bold"/>
                </a:rPr>
                <a:t>Institut Teknologi Del</a:t>
              </a:r>
            </a:p>
          </p:txBody>
        </p:sp>
        <p:sp>
          <p:nvSpPr>
            <p:cNvPr name="Freeform 13" id="13"/>
            <p:cNvSpPr/>
            <p:nvPr/>
          </p:nvSpPr>
          <p:spPr>
            <a:xfrm flipH="false" flipV="false" rot="0">
              <a:off x="0" y="0"/>
              <a:ext cx="868292" cy="830065"/>
            </a:xfrm>
            <a:custGeom>
              <a:avLst/>
              <a:gdLst/>
              <a:ahLst/>
              <a:cxnLst/>
              <a:rect r="r" b="b" t="t" l="l"/>
              <a:pathLst>
                <a:path h="830065" w="868292">
                  <a:moveTo>
                    <a:pt x="0" y="0"/>
                  </a:moveTo>
                  <a:lnTo>
                    <a:pt x="868292" y="0"/>
                  </a:lnTo>
                  <a:lnTo>
                    <a:pt x="868292" y="830065"/>
                  </a:lnTo>
                  <a:lnTo>
                    <a:pt x="0" y="830065"/>
                  </a:lnTo>
                  <a:lnTo>
                    <a:pt x="0" y="0"/>
                  </a:lnTo>
                  <a:close/>
                </a:path>
              </a:pathLst>
            </a:custGeom>
            <a:blipFill>
              <a:blip r:embed="rId2"/>
              <a:stretch>
                <a:fillRect l="0" t="0" r="0" b="0"/>
              </a:stretch>
            </a:blipFill>
          </p:spPr>
        </p:sp>
      </p:grpSp>
      <p:sp>
        <p:nvSpPr>
          <p:cNvPr name="Freeform 14" id="14"/>
          <p:cNvSpPr/>
          <p:nvPr/>
        </p:nvSpPr>
        <p:spPr>
          <a:xfrm flipH="false" flipV="false" rot="0">
            <a:off x="865544" y="1640403"/>
            <a:ext cx="7315202" cy="8137085"/>
          </a:xfrm>
          <a:custGeom>
            <a:avLst/>
            <a:gdLst/>
            <a:ahLst/>
            <a:cxnLst/>
            <a:rect r="r" b="b" t="t" l="l"/>
            <a:pathLst>
              <a:path h="8137085" w="7315202">
                <a:moveTo>
                  <a:pt x="0" y="0"/>
                </a:moveTo>
                <a:lnTo>
                  <a:pt x="7315203" y="0"/>
                </a:lnTo>
                <a:lnTo>
                  <a:pt x="7315203" y="8137085"/>
                </a:lnTo>
                <a:lnTo>
                  <a:pt x="0" y="8137085"/>
                </a:lnTo>
                <a:lnTo>
                  <a:pt x="0" y="0"/>
                </a:lnTo>
                <a:close/>
              </a:path>
            </a:pathLst>
          </a:custGeom>
          <a:blipFill>
            <a:blip r:embed="rId3"/>
            <a:stretch>
              <a:fillRect l="0" t="0" r="0" b="-90768"/>
            </a:stretch>
          </a:blipFill>
        </p:spPr>
      </p:sp>
      <p:sp>
        <p:nvSpPr>
          <p:cNvPr name="TextBox 15" id="15"/>
          <p:cNvSpPr txBox="true"/>
          <p:nvPr/>
        </p:nvSpPr>
        <p:spPr>
          <a:xfrm rot="0">
            <a:off x="17674380" y="9739388"/>
            <a:ext cx="442747" cy="257943"/>
          </a:xfrm>
          <a:prstGeom prst="rect">
            <a:avLst/>
          </a:prstGeom>
        </p:spPr>
        <p:txBody>
          <a:bodyPr anchor="t" rtlCol="false" tIns="0" lIns="0" bIns="0" rIns="0">
            <a:spAutoFit/>
          </a:bodyPr>
          <a:lstStyle/>
          <a:p>
            <a:pPr algn="ctr">
              <a:lnSpc>
                <a:spcPts val="2057"/>
              </a:lnSpc>
              <a:spcBef>
                <a:spcPct val="0"/>
              </a:spcBef>
            </a:pPr>
            <a:r>
              <a:rPr lang="en-US" b="true" sz="1469">
                <a:solidFill>
                  <a:srgbClr val="FFFFFF"/>
                </a:solidFill>
                <a:latin typeface="Poppins Bold"/>
                <a:ea typeface="Poppins Bold"/>
                <a:cs typeface="Poppins Bold"/>
                <a:sym typeface="Poppins Bold"/>
              </a:rPr>
              <a:t>13</a:t>
            </a:r>
          </a:p>
        </p:txBody>
      </p:sp>
      <p:sp>
        <p:nvSpPr>
          <p:cNvPr name="TextBox 16" id="16"/>
          <p:cNvSpPr txBox="true"/>
          <p:nvPr/>
        </p:nvSpPr>
        <p:spPr>
          <a:xfrm rot="0">
            <a:off x="6385379" y="565674"/>
            <a:ext cx="5517242" cy="827130"/>
          </a:xfrm>
          <a:prstGeom prst="rect">
            <a:avLst/>
          </a:prstGeom>
        </p:spPr>
        <p:txBody>
          <a:bodyPr anchor="t" rtlCol="false" tIns="0" lIns="0" bIns="0" rIns="0">
            <a:spAutoFit/>
          </a:bodyPr>
          <a:lstStyle/>
          <a:p>
            <a:pPr algn="l">
              <a:lnSpc>
                <a:spcPts val="6385"/>
              </a:lnSpc>
              <a:spcBef>
                <a:spcPct val="0"/>
              </a:spcBef>
            </a:pPr>
            <a:r>
              <a:rPr lang="en-US" b="true" sz="4560">
                <a:solidFill>
                  <a:srgbClr val="1F2020"/>
                </a:solidFill>
                <a:latin typeface="Poppins Bold"/>
                <a:ea typeface="Poppins Bold"/>
                <a:cs typeface="Poppins Bold"/>
                <a:sym typeface="Poppins Bold"/>
              </a:rPr>
              <a:t>System Flowchart</a:t>
            </a:r>
          </a:p>
        </p:txBody>
      </p:sp>
      <p:sp>
        <p:nvSpPr>
          <p:cNvPr name="Freeform 17" id="17"/>
          <p:cNvSpPr/>
          <p:nvPr/>
        </p:nvSpPr>
        <p:spPr>
          <a:xfrm flipH="false" flipV="false" rot="0">
            <a:off x="9988211" y="1640403"/>
            <a:ext cx="7304905" cy="7803949"/>
          </a:xfrm>
          <a:custGeom>
            <a:avLst/>
            <a:gdLst/>
            <a:ahLst/>
            <a:cxnLst/>
            <a:rect r="r" b="b" t="t" l="l"/>
            <a:pathLst>
              <a:path h="7803949" w="7304905">
                <a:moveTo>
                  <a:pt x="0" y="0"/>
                </a:moveTo>
                <a:lnTo>
                  <a:pt x="7304905" y="0"/>
                </a:lnTo>
                <a:lnTo>
                  <a:pt x="7304905" y="7803949"/>
                </a:lnTo>
                <a:lnTo>
                  <a:pt x="0" y="7803949"/>
                </a:lnTo>
                <a:lnTo>
                  <a:pt x="0" y="0"/>
                </a:lnTo>
                <a:close/>
              </a:path>
            </a:pathLst>
          </a:custGeom>
          <a:blipFill>
            <a:blip r:embed="rId3"/>
            <a:stretch>
              <a:fillRect l="0" t="-98631"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491799" y="9487118"/>
            <a:ext cx="951769" cy="799882"/>
            <a:chOff x="0" y="0"/>
            <a:chExt cx="967140" cy="812800"/>
          </a:xfrm>
        </p:grpSpPr>
        <p:sp>
          <p:nvSpPr>
            <p:cNvPr name="Freeform 9" id="9"/>
            <p:cNvSpPr/>
            <p:nvPr/>
          </p:nvSpPr>
          <p:spPr>
            <a:xfrm flipH="false" flipV="false" rot="0">
              <a:off x="0" y="0"/>
              <a:ext cx="967140" cy="812800"/>
            </a:xfrm>
            <a:custGeom>
              <a:avLst/>
              <a:gdLst/>
              <a:ahLst/>
              <a:cxnLst/>
              <a:rect r="r" b="b" t="t" l="l"/>
              <a:pathLst>
                <a:path h="812800" w="96714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name="TextBox 10" id="10"/>
            <p:cNvSpPr txBox="true"/>
            <p:nvPr/>
          </p:nvSpPr>
          <p:spPr>
            <a:xfrm>
              <a:off x="0" y="-38100"/>
              <a:ext cx="967140" cy="850900"/>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7674380" y="9739388"/>
            <a:ext cx="442747" cy="515118"/>
          </a:xfrm>
          <a:prstGeom prst="rect">
            <a:avLst/>
          </a:prstGeom>
        </p:spPr>
        <p:txBody>
          <a:bodyPr anchor="t" rtlCol="false" tIns="0" lIns="0" bIns="0" rIns="0">
            <a:spAutoFit/>
          </a:bodyPr>
          <a:lstStyle/>
          <a:p>
            <a:pPr algn="ctr">
              <a:lnSpc>
                <a:spcPts val="2057"/>
              </a:lnSpc>
            </a:pPr>
            <a:r>
              <a:rPr lang="en-US" sz="1469" b="true">
                <a:solidFill>
                  <a:srgbClr val="FFFFFF"/>
                </a:solidFill>
                <a:latin typeface="Poppins Bold"/>
                <a:ea typeface="Poppins Bold"/>
                <a:cs typeface="Poppins Bold"/>
                <a:sym typeface="Poppins Bold"/>
              </a:rPr>
              <a:t>14</a:t>
            </a:r>
          </a:p>
          <a:p>
            <a:pPr algn="ctr">
              <a:lnSpc>
                <a:spcPts val="2057"/>
              </a:lnSpc>
              <a:spcBef>
                <a:spcPct val="0"/>
              </a:spcBef>
            </a:pPr>
          </a:p>
        </p:txBody>
      </p:sp>
      <p:grpSp>
        <p:nvGrpSpPr>
          <p:cNvPr name="Group 12" id="12"/>
          <p:cNvGrpSpPr/>
          <p:nvPr/>
        </p:nvGrpSpPr>
        <p:grpSpPr>
          <a:xfrm rot="0">
            <a:off x="3590366" y="0"/>
            <a:ext cx="11107268" cy="1110726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4665263" y="1233820"/>
            <a:ext cx="9543002" cy="9531073"/>
          </a:xfrm>
          <a:custGeom>
            <a:avLst/>
            <a:gdLst/>
            <a:ahLst/>
            <a:cxnLst/>
            <a:rect r="r" b="b" t="t" l="l"/>
            <a:pathLst>
              <a:path h="9531073" w="9543002">
                <a:moveTo>
                  <a:pt x="0" y="0"/>
                </a:moveTo>
                <a:lnTo>
                  <a:pt x="9543002" y="0"/>
                </a:lnTo>
                <a:lnTo>
                  <a:pt x="9543002" y="9531073"/>
                </a:lnTo>
                <a:lnTo>
                  <a:pt x="0" y="9531073"/>
                </a:lnTo>
                <a:lnTo>
                  <a:pt x="0" y="0"/>
                </a:lnTo>
                <a:close/>
              </a:path>
            </a:pathLst>
          </a:custGeom>
          <a:blipFill>
            <a:blip r:embed="rId2"/>
            <a:stretch>
              <a:fillRect l="0" t="0" r="0" b="0"/>
            </a:stretch>
          </a:blipFill>
        </p:spPr>
      </p:sp>
      <p:grpSp>
        <p:nvGrpSpPr>
          <p:cNvPr name="Group 16" id="16"/>
          <p:cNvGrpSpPr/>
          <p:nvPr/>
        </p:nvGrpSpPr>
        <p:grpSpPr>
          <a:xfrm rot="0">
            <a:off x="4442771" y="852405"/>
            <a:ext cx="9402459" cy="9402459"/>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9" id="19"/>
          <p:cNvSpPr/>
          <p:nvPr/>
        </p:nvSpPr>
        <p:spPr>
          <a:xfrm flipH="false" flipV="false" rot="0">
            <a:off x="2903721" y="4399937"/>
            <a:ext cx="1349722" cy="1348035"/>
          </a:xfrm>
          <a:custGeom>
            <a:avLst/>
            <a:gdLst/>
            <a:ahLst/>
            <a:cxnLst/>
            <a:rect r="r" b="b" t="t" l="l"/>
            <a:pathLst>
              <a:path h="1348035" w="1349722">
                <a:moveTo>
                  <a:pt x="0" y="0"/>
                </a:moveTo>
                <a:lnTo>
                  <a:pt x="1349722" y="0"/>
                </a:lnTo>
                <a:lnTo>
                  <a:pt x="1349722" y="1348034"/>
                </a:lnTo>
                <a:lnTo>
                  <a:pt x="0" y="1348034"/>
                </a:lnTo>
                <a:lnTo>
                  <a:pt x="0" y="0"/>
                </a:lnTo>
                <a:close/>
              </a:path>
            </a:pathLst>
          </a:custGeom>
          <a:blipFill>
            <a:blip r:embed="rId2"/>
            <a:stretch>
              <a:fillRect l="0" t="0" r="0" b="0"/>
            </a:stretch>
          </a:blipFill>
        </p:spPr>
      </p:sp>
      <p:grpSp>
        <p:nvGrpSpPr>
          <p:cNvPr name="Group 20" id="20"/>
          <p:cNvGrpSpPr/>
          <p:nvPr/>
        </p:nvGrpSpPr>
        <p:grpSpPr>
          <a:xfrm rot="0">
            <a:off x="2872253" y="4345991"/>
            <a:ext cx="1329844" cy="1329844"/>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3" id="23"/>
          <p:cNvSpPr/>
          <p:nvPr/>
        </p:nvSpPr>
        <p:spPr>
          <a:xfrm flipH="true" flipV="false" rot="0">
            <a:off x="3400136" y="4806036"/>
            <a:ext cx="274077" cy="409753"/>
          </a:xfrm>
          <a:custGeom>
            <a:avLst/>
            <a:gdLst/>
            <a:ahLst/>
            <a:cxnLst/>
            <a:rect r="r" b="b" t="t" l="l"/>
            <a:pathLst>
              <a:path h="409753" w="274077">
                <a:moveTo>
                  <a:pt x="274077" y="0"/>
                </a:moveTo>
                <a:lnTo>
                  <a:pt x="0" y="0"/>
                </a:lnTo>
                <a:lnTo>
                  <a:pt x="0" y="409753"/>
                </a:lnTo>
                <a:lnTo>
                  <a:pt x="274077" y="409753"/>
                </a:lnTo>
                <a:lnTo>
                  <a:pt x="27407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4" id="24"/>
          <p:cNvSpPr/>
          <p:nvPr/>
        </p:nvSpPr>
        <p:spPr>
          <a:xfrm flipH="false" flipV="false" rot="0">
            <a:off x="14066025" y="4399937"/>
            <a:ext cx="1349722" cy="1348035"/>
          </a:xfrm>
          <a:custGeom>
            <a:avLst/>
            <a:gdLst/>
            <a:ahLst/>
            <a:cxnLst/>
            <a:rect r="r" b="b" t="t" l="l"/>
            <a:pathLst>
              <a:path h="1348035" w="1349722">
                <a:moveTo>
                  <a:pt x="0" y="0"/>
                </a:moveTo>
                <a:lnTo>
                  <a:pt x="1349722" y="0"/>
                </a:lnTo>
                <a:lnTo>
                  <a:pt x="1349722" y="1348034"/>
                </a:lnTo>
                <a:lnTo>
                  <a:pt x="0" y="1348034"/>
                </a:lnTo>
                <a:lnTo>
                  <a:pt x="0" y="0"/>
                </a:lnTo>
                <a:close/>
              </a:path>
            </a:pathLst>
          </a:custGeom>
          <a:blipFill>
            <a:blip r:embed="rId2"/>
            <a:stretch>
              <a:fillRect l="0" t="0" r="0" b="0"/>
            </a:stretch>
          </a:blipFill>
        </p:spPr>
      </p:sp>
      <p:grpSp>
        <p:nvGrpSpPr>
          <p:cNvPr name="Group 25" id="25"/>
          <p:cNvGrpSpPr/>
          <p:nvPr/>
        </p:nvGrpSpPr>
        <p:grpSpPr>
          <a:xfrm rot="0">
            <a:off x="14034557" y="4345991"/>
            <a:ext cx="1329844" cy="1329844"/>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8" id="28"/>
          <p:cNvSpPr/>
          <p:nvPr/>
        </p:nvSpPr>
        <p:spPr>
          <a:xfrm flipH="false" flipV="false" rot="0">
            <a:off x="14562441" y="4733747"/>
            <a:ext cx="274077" cy="409753"/>
          </a:xfrm>
          <a:custGeom>
            <a:avLst/>
            <a:gdLst/>
            <a:ahLst/>
            <a:cxnLst/>
            <a:rect r="r" b="b" t="t" l="l"/>
            <a:pathLst>
              <a:path h="409753" w="274077">
                <a:moveTo>
                  <a:pt x="0" y="0"/>
                </a:moveTo>
                <a:lnTo>
                  <a:pt x="274076" y="0"/>
                </a:lnTo>
                <a:lnTo>
                  <a:pt x="274076" y="409753"/>
                </a:lnTo>
                <a:lnTo>
                  <a:pt x="0" y="4097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9" id="29"/>
          <p:cNvSpPr txBox="true"/>
          <p:nvPr/>
        </p:nvSpPr>
        <p:spPr>
          <a:xfrm rot="0">
            <a:off x="6571171" y="4563847"/>
            <a:ext cx="5145658" cy="1370560"/>
          </a:xfrm>
          <a:prstGeom prst="rect">
            <a:avLst/>
          </a:prstGeom>
        </p:spPr>
        <p:txBody>
          <a:bodyPr anchor="t" rtlCol="false" tIns="0" lIns="0" bIns="0" rIns="0">
            <a:spAutoFit/>
          </a:bodyPr>
          <a:lstStyle/>
          <a:p>
            <a:pPr algn="ctr">
              <a:lnSpc>
                <a:spcPts val="9725"/>
              </a:lnSpc>
            </a:pPr>
            <a:r>
              <a:rPr lang="en-US" b="true" sz="9442">
                <a:solidFill>
                  <a:srgbClr val="3A6AD6"/>
                </a:solidFill>
                <a:latin typeface="Poppins Bold"/>
                <a:ea typeface="Poppins Bold"/>
                <a:cs typeface="Poppins Bold"/>
                <a:sym typeface="Poppins Bold"/>
              </a:rPr>
              <a:t>Q &amp; A</a:t>
            </a:r>
          </a:p>
        </p:txBody>
      </p:sp>
      <p:grpSp>
        <p:nvGrpSpPr>
          <p:cNvPr name="Group 30" id="30"/>
          <p:cNvGrpSpPr/>
          <p:nvPr/>
        </p:nvGrpSpPr>
        <p:grpSpPr>
          <a:xfrm rot="0">
            <a:off x="212689" y="314984"/>
            <a:ext cx="2721375" cy="622549"/>
            <a:chOff x="0" y="0"/>
            <a:chExt cx="3628500" cy="830065"/>
          </a:xfrm>
        </p:grpSpPr>
        <p:sp>
          <p:nvSpPr>
            <p:cNvPr name="TextBox 31" id="31"/>
            <p:cNvSpPr txBox="true"/>
            <p:nvPr/>
          </p:nvSpPr>
          <p:spPr>
            <a:xfrm rot="0">
              <a:off x="1065319" y="267078"/>
              <a:ext cx="2563180" cy="267335"/>
            </a:xfrm>
            <a:prstGeom prst="rect">
              <a:avLst/>
            </a:prstGeom>
          </p:spPr>
          <p:txBody>
            <a:bodyPr anchor="t" rtlCol="false" tIns="0" lIns="0" bIns="0" rIns="0">
              <a:spAutoFit/>
            </a:bodyPr>
            <a:lstStyle/>
            <a:p>
              <a:pPr algn="l">
                <a:lnSpc>
                  <a:spcPts val="1680"/>
                </a:lnSpc>
                <a:spcBef>
                  <a:spcPct val="0"/>
                </a:spcBef>
              </a:pPr>
              <a:r>
                <a:rPr lang="en-US" b="true" sz="1200">
                  <a:solidFill>
                    <a:srgbClr val="1F2020"/>
                  </a:solidFill>
                  <a:latin typeface="Poppins Bold"/>
                  <a:ea typeface="Poppins Bold"/>
                  <a:cs typeface="Poppins Bold"/>
                  <a:sym typeface="Poppins Bold"/>
                </a:rPr>
                <a:t>Institut Teknologi Del</a:t>
              </a:r>
            </a:p>
          </p:txBody>
        </p:sp>
        <p:sp>
          <p:nvSpPr>
            <p:cNvPr name="Freeform 32" id="32"/>
            <p:cNvSpPr/>
            <p:nvPr/>
          </p:nvSpPr>
          <p:spPr>
            <a:xfrm flipH="false" flipV="false" rot="0">
              <a:off x="0" y="0"/>
              <a:ext cx="868292" cy="830065"/>
            </a:xfrm>
            <a:custGeom>
              <a:avLst/>
              <a:gdLst/>
              <a:ahLst/>
              <a:cxnLst/>
              <a:rect r="r" b="b" t="t" l="l"/>
              <a:pathLst>
                <a:path h="830065" w="868292">
                  <a:moveTo>
                    <a:pt x="0" y="0"/>
                  </a:moveTo>
                  <a:lnTo>
                    <a:pt x="868292" y="0"/>
                  </a:lnTo>
                  <a:lnTo>
                    <a:pt x="868292" y="830065"/>
                  </a:lnTo>
                  <a:lnTo>
                    <a:pt x="0" y="830065"/>
                  </a:lnTo>
                  <a:lnTo>
                    <a:pt x="0" y="0"/>
                  </a:lnTo>
                  <a:close/>
                </a:path>
              </a:pathLst>
            </a:custGeom>
            <a:blipFill>
              <a:blip r:embed="rId5"/>
              <a:stretch>
                <a:fillRect l="0" t="0" r="0" b="0"/>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93116" y="565634"/>
            <a:ext cx="397367" cy="28996"/>
            <a:chOff x="0" y="0"/>
            <a:chExt cx="128243" cy="9358"/>
          </a:xfrm>
        </p:grpSpPr>
        <p:sp>
          <p:nvSpPr>
            <p:cNvPr name="Freeform 3" id="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4" id="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93116" y="657737"/>
            <a:ext cx="397367" cy="28996"/>
            <a:chOff x="0" y="0"/>
            <a:chExt cx="128243" cy="9358"/>
          </a:xfrm>
        </p:grpSpPr>
        <p:sp>
          <p:nvSpPr>
            <p:cNvPr name="Freeform 6" id="6"/>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3A6AD6"/>
            </a:solidFill>
          </p:spPr>
        </p:sp>
        <p:sp>
          <p:nvSpPr>
            <p:cNvPr name="TextBox 7" id="7"/>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491799" y="9454981"/>
            <a:ext cx="951769" cy="799882"/>
            <a:chOff x="0" y="0"/>
            <a:chExt cx="1269026" cy="1066510"/>
          </a:xfrm>
        </p:grpSpPr>
        <p:grpSp>
          <p:nvGrpSpPr>
            <p:cNvPr name="Group 9" id="9"/>
            <p:cNvGrpSpPr/>
            <p:nvPr/>
          </p:nvGrpSpPr>
          <p:grpSpPr>
            <a:xfrm rot="0">
              <a:off x="0" y="0"/>
              <a:ext cx="1269026" cy="1066510"/>
              <a:chOff x="0" y="0"/>
              <a:chExt cx="967140" cy="812800"/>
            </a:xfrm>
          </p:grpSpPr>
          <p:sp>
            <p:nvSpPr>
              <p:cNvPr name="Freeform 10" id="10"/>
              <p:cNvSpPr/>
              <p:nvPr/>
            </p:nvSpPr>
            <p:spPr>
              <a:xfrm flipH="false" flipV="false" rot="0">
                <a:off x="0" y="0"/>
                <a:ext cx="967140" cy="812800"/>
              </a:xfrm>
              <a:custGeom>
                <a:avLst/>
                <a:gdLst/>
                <a:ahLst/>
                <a:cxnLst/>
                <a:rect r="r" b="b" t="t" l="l"/>
                <a:pathLst>
                  <a:path h="812800" w="96714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name="TextBox 11" id="11"/>
              <p:cNvSpPr txBox="true"/>
              <p:nvPr/>
            </p:nvSpPr>
            <p:spPr>
              <a:xfrm>
                <a:off x="0" y="-38100"/>
                <a:ext cx="967140" cy="850900"/>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43441" y="349060"/>
              <a:ext cx="590330" cy="674124"/>
            </a:xfrm>
            <a:prstGeom prst="rect">
              <a:avLst/>
            </a:prstGeom>
          </p:spPr>
          <p:txBody>
            <a:bodyPr anchor="t" rtlCol="false" tIns="0" lIns="0" bIns="0" rIns="0">
              <a:spAutoFit/>
            </a:bodyPr>
            <a:lstStyle/>
            <a:p>
              <a:pPr algn="ctr">
                <a:lnSpc>
                  <a:spcPts val="2057"/>
                </a:lnSpc>
              </a:pPr>
              <a:r>
                <a:rPr lang="en-US" sz="1469" b="true">
                  <a:solidFill>
                    <a:srgbClr val="FFFFFF"/>
                  </a:solidFill>
                  <a:latin typeface="Poppins Bold"/>
                  <a:ea typeface="Poppins Bold"/>
                  <a:cs typeface="Poppins Bold"/>
                  <a:sym typeface="Poppins Bold"/>
                </a:rPr>
                <a:t>15</a:t>
              </a:r>
            </a:p>
            <a:p>
              <a:pPr algn="ctr">
                <a:lnSpc>
                  <a:spcPts val="2057"/>
                </a:lnSpc>
                <a:spcBef>
                  <a:spcPct val="0"/>
                </a:spcBef>
              </a:pPr>
            </a:p>
          </p:txBody>
        </p:sp>
      </p:grpSp>
      <p:grpSp>
        <p:nvGrpSpPr>
          <p:cNvPr name="Group 13" id="13"/>
          <p:cNvGrpSpPr/>
          <p:nvPr/>
        </p:nvGrpSpPr>
        <p:grpSpPr>
          <a:xfrm rot="0">
            <a:off x="3590366" y="0"/>
            <a:ext cx="11107268" cy="11107268"/>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4665263" y="1233820"/>
            <a:ext cx="9543002" cy="9531073"/>
          </a:xfrm>
          <a:custGeom>
            <a:avLst/>
            <a:gdLst/>
            <a:ahLst/>
            <a:cxnLst/>
            <a:rect r="r" b="b" t="t" l="l"/>
            <a:pathLst>
              <a:path h="9531073" w="9543002">
                <a:moveTo>
                  <a:pt x="0" y="0"/>
                </a:moveTo>
                <a:lnTo>
                  <a:pt x="9543002" y="0"/>
                </a:lnTo>
                <a:lnTo>
                  <a:pt x="9543002" y="9531073"/>
                </a:lnTo>
                <a:lnTo>
                  <a:pt x="0" y="9531073"/>
                </a:lnTo>
                <a:lnTo>
                  <a:pt x="0" y="0"/>
                </a:lnTo>
                <a:close/>
              </a:path>
            </a:pathLst>
          </a:custGeom>
          <a:blipFill>
            <a:blip r:embed="rId2"/>
            <a:stretch>
              <a:fillRect l="0" t="0" r="0" b="0"/>
            </a:stretch>
          </a:blipFill>
        </p:spPr>
      </p:sp>
      <p:grpSp>
        <p:nvGrpSpPr>
          <p:cNvPr name="Group 17" id="17"/>
          <p:cNvGrpSpPr/>
          <p:nvPr/>
        </p:nvGrpSpPr>
        <p:grpSpPr>
          <a:xfrm rot="0">
            <a:off x="4442771" y="852405"/>
            <a:ext cx="9402459" cy="9402459"/>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2903721" y="4399937"/>
            <a:ext cx="1349722" cy="1348035"/>
          </a:xfrm>
          <a:custGeom>
            <a:avLst/>
            <a:gdLst/>
            <a:ahLst/>
            <a:cxnLst/>
            <a:rect r="r" b="b" t="t" l="l"/>
            <a:pathLst>
              <a:path h="1348035" w="1349722">
                <a:moveTo>
                  <a:pt x="0" y="0"/>
                </a:moveTo>
                <a:lnTo>
                  <a:pt x="1349722" y="0"/>
                </a:lnTo>
                <a:lnTo>
                  <a:pt x="1349722" y="1348034"/>
                </a:lnTo>
                <a:lnTo>
                  <a:pt x="0" y="1348034"/>
                </a:lnTo>
                <a:lnTo>
                  <a:pt x="0" y="0"/>
                </a:lnTo>
                <a:close/>
              </a:path>
            </a:pathLst>
          </a:custGeom>
          <a:blipFill>
            <a:blip r:embed="rId2"/>
            <a:stretch>
              <a:fillRect l="0" t="0" r="0" b="0"/>
            </a:stretch>
          </a:blipFill>
        </p:spPr>
      </p:sp>
      <p:grpSp>
        <p:nvGrpSpPr>
          <p:cNvPr name="Group 21" id="21"/>
          <p:cNvGrpSpPr/>
          <p:nvPr/>
        </p:nvGrpSpPr>
        <p:grpSpPr>
          <a:xfrm rot="0">
            <a:off x="2872253" y="4345991"/>
            <a:ext cx="1329844" cy="1329844"/>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4" id="24"/>
          <p:cNvSpPr/>
          <p:nvPr/>
        </p:nvSpPr>
        <p:spPr>
          <a:xfrm flipH="true" flipV="false" rot="0">
            <a:off x="3400136" y="4806036"/>
            <a:ext cx="274077" cy="409753"/>
          </a:xfrm>
          <a:custGeom>
            <a:avLst/>
            <a:gdLst/>
            <a:ahLst/>
            <a:cxnLst/>
            <a:rect r="r" b="b" t="t" l="l"/>
            <a:pathLst>
              <a:path h="409753" w="274077">
                <a:moveTo>
                  <a:pt x="274077" y="0"/>
                </a:moveTo>
                <a:lnTo>
                  <a:pt x="0" y="0"/>
                </a:lnTo>
                <a:lnTo>
                  <a:pt x="0" y="409753"/>
                </a:lnTo>
                <a:lnTo>
                  <a:pt x="274077" y="409753"/>
                </a:lnTo>
                <a:lnTo>
                  <a:pt x="27407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false" flipV="false" rot="0">
            <a:off x="14066025" y="4399937"/>
            <a:ext cx="1349722" cy="1348035"/>
          </a:xfrm>
          <a:custGeom>
            <a:avLst/>
            <a:gdLst/>
            <a:ahLst/>
            <a:cxnLst/>
            <a:rect r="r" b="b" t="t" l="l"/>
            <a:pathLst>
              <a:path h="1348035" w="1349722">
                <a:moveTo>
                  <a:pt x="0" y="0"/>
                </a:moveTo>
                <a:lnTo>
                  <a:pt x="1349722" y="0"/>
                </a:lnTo>
                <a:lnTo>
                  <a:pt x="1349722" y="1348034"/>
                </a:lnTo>
                <a:lnTo>
                  <a:pt x="0" y="1348034"/>
                </a:lnTo>
                <a:lnTo>
                  <a:pt x="0" y="0"/>
                </a:lnTo>
                <a:close/>
              </a:path>
            </a:pathLst>
          </a:custGeom>
          <a:blipFill>
            <a:blip r:embed="rId2"/>
            <a:stretch>
              <a:fillRect l="0" t="0" r="0" b="0"/>
            </a:stretch>
          </a:blipFill>
        </p:spPr>
      </p:sp>
      <p:grpSp>
        <p:nvGrpSpPr>
          <p:cNvPr name="Group 26" id="26"/>
          <p:cNvGrpSpPr/>
          <p:nvPr/>
        </p:nvGrpSpPr>
        <p:grpSpPr>
          <a:xfrm rot="0">
            <a:off x="14034557" y="4345991"/>
            <a:ext cx="1329844" cy="1329844"/>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8" id="2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9" id="29"/>
          <p:cNvSpPr/>
          <p:nvPr/>
        </p:nvSpPr>
        <p:spPr>
          <a:xfrm flipH="false" flipV="false" rot="0">
            <a:off x="14562441" y="4733747"/>
            <a:ext cx="274077" cy="409753"/>
          </a:xfrm>
          <a:custGeom>
            <a:avLst/>
            <a:gdLst/>
            <a:ahLst/>
            <a:cxnLst/>
            <a:rect r="r" b="b" t="t" l="l"/>
            <a:pathLst>
              <a:path h="409753" w="274077">
                <a:moveTo>
                  <a:pt x="0" y="0"/>
                </a:moveTo>
                <a:lnTo>
                  <a:pt x="274076" y="0"/>
                </a:lnTo>
                <a:lnTo>
                  <a:pt x="274076" y="409753"/>
                </a:lnTo>
                <a:lnTo>
                  <a:pt x="0" y="4097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0" id="30"/>
          <p:cNvSpPr txBox="true"/>
          <p:nvPr/>
        </p:nvSpPr>
        <p:spPr>
          <a:xfrm rot="0">
            <a:off x="6571171" y="4563847"/>
            <a:ext cx="5145658" cy="2603933"/>
          </a:xfrm>
          <a:prstGeom prst="rect">
            <a:avLst/>
          </a:prstGeom>
        </p:spPr>
        <p:txBody>
          <a:bodyPr anchor="t" rtlCol="false" tIns="0" lIns="0" bIns="0" rIns="0">
            <a:spAutoFit/>
          </a:bodyPr>
          <a:lstStyle/>
          <a:p>
            <a:pPr algn="ctr">
              <a:lnSpc>
                <a:spcPts val="9725"/>
              </a:lnSpc>
            </a:pPr>
            <a:r>
              <a:rPr lang="en-US" b="true" sz="9442">
                <a:solidFill>
                  <a:srgbClr val="3A6AD6"/>
                </a:solidFill>
                <a:latin typeface="Poppins Bold"/>
                <a:ea typeface="Poppins Bold"/>
                <a:cs typeface="Poppins Bold"/>
                <a:sym typeface="Poppins Bold"/>
              </a:rPr>
              <a:t>THANK YOU</a:t>
            </a:r>
          </a:p>
        </p:txBody>
      </p:sp>
      <p:grpSp>
        <p:nvGrpSpPr>
          <p:cNvPr name="Group 31" id="31"/>
          <p:cNvGrpSpPr/>
          <p:nvPr/>
        </p:nvGrpSpPr>
        <p:grpSpPr>
          <a:xfrm rot="0">
            <a:off x="212689" y="314984"/>
            <a:ext cx="2721375" cy="622549"/>
            <a:chOff x="0" y="0"/>
            <a:chExt cx="3628500" cy="830065"/>
          </a:xfrm>
        </p:grpSpPr>
        <p:sp>
          <p:nvSpPr>
            <p:cNvPr name="TextBox 32" id="32"/>
            <p:cNvSpPr txBox="true"/>
            <p:nvPr/>
          </p:nvSpPr>
          <p:spPr>
            <a:xfrm rot="0">
              <a:off x="1065319" y="267078"/>
              <a:ext cx="2563180" cy="267335"/>
            </a:xfrm>
            <a:prstGeom prst="rect">
              <a:avLst/>
            </a:prstGeom>
          </p:spPr>
          <p:txBody>
            <a:bodyPr anchor="t" rtlCol="false" tIns="0" lIns="0" bIns="0" rIns="0">
              <a:spAutoFit/>
            </a:bodyPr>
            <a:lstStyle/>
            <a:p>
              <a:pPr algn="l">
                <a:lnSpc>
                  <a:spcPts val="1680"/>
                </a:lnSpc>
                <a:spcBef>
                  <a:spcPct val="0"/>
                </a:spcBef>
              </a:pPr>
              <a:r>
                <a:rPr lang="en-US" b="true" sz="1200">
                  <a:solidFill>
                    <a:srgbClr val="1F2020"/>
                  </a:solidFill>
                  <a:latin typeface="Poppins Bold"/>
                  <a:ea typeface="Poppins Bold"/>
                  <a:cs typeface="Poppins Bold"/>
                  <a:sym typeface="Poppins Bold"/>
                </a:rPr>
                <a:t>Institut Teknologi Del</a:t>
              </a:r>
            </a:p>
          </p:txBody>
        </p:sp>
        <p:sp>
          <p:nvSpPr>
            <p:cNvPr name="Freeform 33" id="33"/>
            <p:cNvSpPr/>
            <p:nvPr/>
          </p:nvSpPr>
          <p:spPr>
            <a:xfrm flipH="false" flipV="false" rot="0">
              <a:off x="0" y="0"/>
              <a:ext cx="868292" cy="830065"/>
            </a:xfrm>
            <a:custGeom>
              <a:avLst/>
              <a:gdLst/>
              <a:ahLst/>
              <a:cxnLst/>
              <a:rect r="r" b="b" t="t" l="l"/>
              <a:pathLst>
                <a:path h="830065" w="868292">
                  <a:moveTo>
                    <a:pt x="0" y="0"/>
                  </a:moveTo>
                  <a:lnTo>
                    <a:pt x="868292" y="0"/>
                  </a:lnTo>
                  <a:lnTo>
                    <a:pt x="868292" y="830065"/>
                  </a:lnTo>
                  <a:lnTo>
                    <a:pt x="0" y="830065"/>
                  </a:lnTo>
                  <a:lnTo>
                    <a:pt x="0" y="0"/>
                  </a:lnTo>
                  <a:close/>
                </a:path>
              </a:pathLst>
            </a:custGeom>
            <a:blipFill>
              <a:blip r:embed="rId5"/>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DAGzUHv_QEk</dc:identifier>
  <dcterms:modified xsi:type="dcterms:W3CDTF">2011-08-01T06:04:30Z</dcterms:modified>
  <cp:revision>1</cp:revision>
  <dc:title>Blue White Modern Pitch Deck Presentation</dc:title>
</cp:coreProperties>
</file>