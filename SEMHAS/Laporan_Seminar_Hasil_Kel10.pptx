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ooper Hewitt Italics" charset="1" panose="00000000000000000000"/>
      <p:regular r:id="rId24"/>
    </p:embeddedFont>
    <p:embeddedFont>
      <p:font typeface="Cooper Hewitt Bold Italics" charset="1" panose="00000000000000000000"/>
      <p:regular r:id="rId25"/>
    </p:embeddedFont>
    <p:embeddedFont>
      <p:font typeface="Source Sans Pro" charset="1" panose="020B0503030403020204"/>
      <p:regular r:id="rId26"/>
    </p:embeddedFont>
    <p:embeddedFont>
      <p:font typeface="Cooper Hewitt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is.del.ac.id/hrdx/dosen/view?q=9J4gRsyuUtRnXranPKTBc6EhrFIQtKdJZ7Twa_cZ0RY" TargetMode="External" Type="http://schemas.openxmlformats.org/officeDocument/2006/relationships/hyperlink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734" y="622303"/>
            <a:ext cx="16886532" cy="9042393"/>
            <a:chOff x="0" y="0"/>
            <a:chExt cx="4447482" cy="2381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7482" cy="2381536"/>
            </a:xfrm>
            <a:custGeom>
              <a:avLst/>
              <a:gdLst/>
              <a:ahLst/>
              <a:cxnLst/>
              <a:rect r="r" b="b" t="t" l="l"/>
              <a:pathLst>
                <a:path h="2381536" w="4447482">
                  <a:moveTo>
                    <a:pt x="23382" y="0"/>
                  </a:moveTo>
                  <a:lnTo>
                    <a:pt x="4424100" y="0"/>
                  </a:lnTo>
                  <a:cubicBezTo>
                    <a:pt x="4437013" y="0"/>
                    <a:pt x="4447482" y="10468"/>
                    <a:pt x="4447482" y="23382"/>
                  </a:cubicBezTo>
                  <a:lnTo>
                    <a:pt x="4447482" y="2358154"/>
                  </a:lnTo>
                  <a:cubicBezTo>
                    <a:pt x="4447482" y="2371067"/>
                    <a:pt x="4437013" y="2381536"/>
                    <a:pt x="4424100" y="2381536"/>
                  </a:cubicBezTo>
                  <a:lnTo>
                    <a:pt x="23382" y="2381536"/>
                  </a:lnTo>
                  <a:cubicBezTo>
                    <a:pt x="10468" y="2381536"/>
                    <a:pt x="0" y="2371067"/>
                    <a:pt x="0" y="2358154"/>
                  </a:cubicBezTo>
                  <a:lnTo>
                    <a:pt x="0" y="23382"/>
                  </a:lnTo>
                  <a:cubicBezTo>
                    <a:pt x="0" y="10468"/>
                    <a:pt x="10468" y="0"/>
                    <a:pt x="233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47482" cy="2467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98878" y="1412812"/>
            <a:ext cx="2285424" cy="7461376"/>
            <a:chOff x="0" y="0"/>
            <a:chExt cx="601922" cy="19651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1922" cy="1965136"/>
            </a:xfrm>
            <a:custGeom>
              <a:avLst/>
              <a:gdLst/>
              <a:ahLst/>
              <a:cxnLst/>
              <a:rect r="r" b="b" t="t" l="l"/>
              <a:pathLst>
                <a:path h="1965136" w="601922">
                  <a:moveTo>
                    <a:pt x="172763" y="0"/>
                  </a:moveTo>
                  <a:lnTo>
                    <a:pt x="429159" y="0"/>
                  </a:lnTo>
                  <a:cubicBezTo>
                    <a:pt x="474979" y="0"/>
                    <a:pt x="518922" y="18202"/>
                    <a:pt x="551321" y="50601"/>
                  </a:cubicBezTo>
                  <a:cubicBezTo>
                    <a:pt x="583721" y="83001"/>
                    <a:pt x="601922" y="126944"/>
                    <a:pt x="601922" y="172763"/>
                  </a:cubicBezTo>
                  <a:lnTo>
                    <a:pt x="601922" y="1792373"/>
                  </a:lnTo>
                  <a:cubicBezTo>
                    <a:pt x="601922" y="1838192"/>
                    <a:pt x="583721" y="1882135"/>
                    <a:pt x="551321" y="1914535"/>
                  </a:cubicBezTo>
                  <a:cubicBezTo>
                    <a:pt x="518922" y="1946934"/>
                    <a:pt x="474979" y="1965136"/>
                    <a:pt x="429159" y="1965136"/>
                  </a:cubicBezTo>
                  <a:lnTo>
                    <a:pt x="172763" y="1965136"/>
                  </a:lnTo>
                  <a:cubicBezTo>
                    <a:pt x="126944" y="1965136"/>
                    <a:pt x="83001" y="1946934"/>
                    <a:pt x="50601" y="1914535"/>
                  </a:cubicBezTo>
                  <a:cubicBezTo>
                    <a:pt x="18202" y="1882135"/>
                    <a:pt x="0" y="1838192"/>
                    <a:pt x="0" y="1792373"/>
                  </a:cubicBezTo>
                  <a:lnTo>
                    <a:pt x="0" y="172763"/>
                  </a:lnTo>
                  <a:cubicBezTo>
                    <a:pt x="0" y="126944"/>
                    <a:pt x="18202" y="83001"/>
                    <a:pt x="50601" y="50601"/>
                  </a:cubicBezTo>
                  <a:cubicBezTo>
                    <a:pt x="83001" y="18202"/>
                    <a:pt x="126944" y="0"/>
                    <a:pt x="1727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01922" cy="2050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01454" y="1412812"/>
            <a:ext cx="2285424" cy="7461376"/>
            <a:chOff x="0" y="0"/>
            <a:chExt cx="601922" cy="1965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1922" cy="1965136"/>
            </a:xfrm>
            <a:custGeom>
              <a:avLst/>
              <a:gdLst/>
              <a:ahLst/>
              <a:cxnLst/>
              <a:rect r="r" b="b" t="t" l="l"/>
              <a:pathLst>
                <a:path h="1965136" w="601922">
                  <a:moveTo>
                    <a:pt x="172763" y="0"/>
                  </a:moveTo>
                  <a:lnTo>
                    <a:pt x="429159" y="0"/>
                  </a:lnTo>
                  <a:cubicBezTo>
                    <a:pt x="474979" y="0"/>
                    <a:pt x="518922" y="18202"/>
                    <a:pt x="551321" y="50601"/>
                  </a:cubicBezTo>
                  <a:cubicBezTo>
                    <a:pt x="583721" y="83001"/>
                    <a:pt x="601922" y="126944"/>
                    <a:pt x="601922" y="172763"/>
                  </a:cubicBezTo>
                  <a:lnTo>
                    <a:pt x="601922" y="1792373"/>
                  </a:lnTo>
                  <a:cubicBezTo>
                    <a:pt x="601922" y="1838192"/>
                    <a:pt x="583721" y="1882135"/>
                    <a:pt x="551321" y="1914535"/>
                  </a:cubicBezTo>
                  <a:cubicBezTo>
                    <a:pt x="518922" y="1946934"/>
                    <a:pt x="474979" y="1965136"/>
                    <a:pt x="429159" y="1965136"/>
                  </a:cubicBezTo>
                  <a:lnTo>
                    <a:pt x="172763" y="1965136"/>
                  </a:lnTo>
                  <a:cubicBezTo>
                    <a:pt x="126944" y="1965136"/>
                    <a:pt x="83001" y="1946934"/>
                    <a:pt x="50601" y="1914535"/>
                  </a:cubicBezTo>
                  <a:cubicBezTo>
                    <a:pt x="18202" y="1882135"/>
                    <a:pt x="0" y="1838192"/>
                    <a:pt x="0" y="1792373"/>
                  </a:cubicBezTo>
                  <a:lnTo>
                    <a:pt x="0" y="172763"/>
                  </a:lnTo>
                  <a:cubicBezTo>
                    <a:pt x="0" y="126944"/>
                    <a:pt x="18202" y="83001"/>
                    <a:pt x="50601" y="50601"/>
                  </a:cubicBezTo>
                  <a:cubicBezTo>
                    <a:pt x="83001" y="18202"/>
                    <a:pt x="126944" y="0"/>
                    <a:pt x="1727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01922" cy="2050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60177" y="-537219"/>
            <a:ext cx="6967645" cy="2228649"/>
            <a:chOff x="0" y="0"/>
            <a:chExt cx="1835100" cy="5869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5100" cy="586969"/>
            </a:xfrm>
            <a:custGeom>
              <a:avLst/>
              <a:gdLst/>
              <a:ahLst/>
              <a:cxnLst/>
              <a:rect r="r" b="b" t="t" l="l"/>
              <a:pathLst>
                <a:path h="586969" w="1835100">
                  <a:moveTo>
                    <a:pt x="56667" y="0"/>
                  </a:moveTo>
                  <a:lnTo>
                    <a:pt x="1778433" y="0"/>
                  </a:lnTo>
                  <a:cubicBezTo>
                    <a:pt x="1809729" y="0"/>
                    <a:pt x="1835100" y="25371"/>
                    <a:pt x="1835100" y="56667"/>
                  </a:cubicBezTo>
                  <a:lnTo>
                    <a:pt x="1835100" y="530302"/>
                  </a:lnTo>
                  <a:cubicBezTo>
                    <a:pt x="1835100" y="545331"/>
                    <a:pt x="1829130" y="559745"/>
                    <a:pt x="1818503" y="570372"/>
                  </a:cubicBezTo>
                  <a:cubicBezTo>
                    <a:pt x="1807875" y="580999"/>
                    <a:pt x="1793462" y="586969"/>
                    <a:pt x="1778433" y="586969"/>
                  </a:cubicBezTo>
                  <a:lnTo>
                    <a:pt x="56667" y="586969"/>
                  </a:lnTo>
                  <a:cubicBezTo>
                    <a:pt x="25371" y="586969"/>
                    <a:pt x="0" y="561598"/>
                    <a:pt x="0" y="530302"/>
                  </a:cubicBezTo>
                  <a:lnTo>
                    <a:pt x="0" y="56667"/>
                  </a:lnTo>
                  <a:cubicBezTo>
                    <a:pt x="0" y="25371"/>
                    <a:pt x="25371" y="0"/>
                    <a:pt x="56667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835100" cy="672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847211" y="423089"/>
            <a:ext cx="6593579" cy="8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i="true" spc="337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1480" y="3226117"/>
            <a:ext cx="14025040" cy="352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04"/>
              </a:lnSpc>
            </a:pPr>
            <a:r>
              <a:rPr lang="en-US" b="true" sz="10499" i="true" spc="209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IOT WEATHER MONITORING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47211" y="8384858"/>
            <a:ext cx="6593579" cy="8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i="true" spc="337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KELOMPOK 10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6486" y="247398"/>
            <a:ext cx="5379032" cy="659416"/>
            <a:chOff x="0" y="0"/>
            <a:chExt cx="3315112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6486" y="172204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9"/>
                </a:lnTo>
                <a:lnTo>
                  <a:pt x="0" y="90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08208" y="372632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86444" y="1428496"/>
            <a:ext cx="10515112" cy="17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Supe</a:t>
            </a: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rvisor :</a:t>
            </a:r>
          </a:p>
          <a:p>
            <a:pPr algn="ctr">
              <a:lnSpc>
                <a:spcPts val="5600"/>
              </a:lnSpc>
            </a:pPr>
            <a:r>
              <a:rPr lang="en-US" sz="4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  <a:hlinkClick r:id="rId2" tooltip="https://cis.del.ac.id/hrdx/dosen/view?q=9J4gRsyuUtRnXranPKTBc6EhrFIQtKdJZ7Twa_cZ0RY"/>
              </a:rPr>
              <a:t>Gerry Italiano Wowiling, S.Tr.Kom., M.T.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02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86444" y="3209596"/>
            <a:ext cx="10515112" cy="24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Examiners</a:t>
            </a: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 :</a:t>
            </a:r>
          </a:p>
          <a:p>
            <a:pPr algn="ctr" marL="863608" indent="-431804" lvl="1">
              <a:lnSpc>
                <a:spcPts val="5600"/>
              </a:lnSpc>
              <a:buAutoNum type="arabicPeriod" startAt="1"/>
            </a:pPr>
            <a:r>
              <a:rPr lang="en-US" sz="4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Istas Manalu, S.Si., M.Sc</a:t>
            </a:r>
          </a:p>
          <a:p>
            <a:pPr algn="ctr" marL="863608" indent="-431804" lvl="1">
              <a:lnSpc>
                <a:spcPts val="5600"/>
              </a:lnSpc>
              <a:buAutoNum type="arabicPeriod" startAt="1"/>
            </a:pPr>
            <a:r>
              <a:rPr lang="en-US" sz="4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Pandapotan Siagian, ST,M.Eng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34788" y="6381218"/>
            <a:ext cx="9218423" cy="312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Team:</a:t>
            </a:r>
          </a:p>
          <a:p>
            <a:pPr algn="ctr">
              <a:lnSpc>
                <a:spcPts val="5599"/>
              </a:lnSpc>
            </a:pPr>
            <a:r>
              <a:rPr lang="en-US" sz="39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13323012          Jeyshen Siallagan</a:t>
            </a:r>
          </a:p>
          <a:p>
            <a:pPr algn="ctr">
              <a:lnSpc>
                <a:spcPts val="5599"/>
              </a:lnSpc>
            </a:pPr>
            <a:r>
              <a:rPr lang="en-US" sz="39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   13323018          Bastian Sitanggang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  13323050          Lely N.F. Butarbutar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03837" y="2425738"/>
            <a:ext cx="16696279" cy="713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Climate chang</a:t>
            </a:r>
            <a:r>
              <a:rPr lang="en-US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 increases the frequency </a:t>
            </a: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of extreme weather, which affects agriculture, transportation, and the local economy.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Weather data access in rural areas, such as Toba Regency, is still limited, resulting in decision-making that relies heavily on experience rather than data.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IoT with multi-parameter sensors (DHT22, BH1750, rain gauge, anemometer) enables real-time weather monitoring with high accuracy.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LoRa supports long-range communication with low power consumption, making it suitable for remote areas.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Self-sustained power using solar panels and batteries allows the system to operate without the national electricity grid.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Data is stored in MySQL and displayed on a web-based dashboard, supporting the concept of Weather Data as a Service (WDaaS), where real-time and historical data can be publicly accessed.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86316" y="1368786"/>
            <a:ext cx="7515367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Background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74767" y="2302238"/>
            <a:ext cx="1146632" cy="114663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2222" y="4696644"/>
            <a:ext cx="1146632" cy="11466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2222" y="7252976"/>
            <a:ext cx="1146632" cy="114663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23826" y="3855269"/>
            <a:ext cx="4555419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i="true" b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RESEARCH QUESTION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66333" y="1616259"/>
            <a:ext cx="10521667" cy="247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How to design and build an IoT-based weather data monitoring system capable of reading and transmitting real-time data on temperature, humidity, light intensity, rainfall, and wind speed?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66333" y="7249369"/>
            <a:ext cx="9492967" cy="247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How to develop a web-based dashboard capable of displaying real-time weather data while providing access to historical data in the form of easy-to-understand visualizations and reports?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92184" y="2443029"/>
            <a:ext cx="1111797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01.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9639" y="4836344"/>
            <a:ext cx="1111797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02.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19639" y="7393767"/>
            <a:ext cx="1111797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03.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66333" y="4487253"/>
            <a:ext cx="10521667" cy="247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How to implement a weather data storage and management system so that historical data can be stored securely and accessed and downloaded as needed by users?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43435" y="3519323"/>
            <a:ext cx="4801131" cy="5092074"/>
            <a:chOff x="0" y="0"/>
            <a:chExt cx="1264495" cy="13411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4495" cy="1341122"/>
            </a:xfrm>
            <a:custGeom>
              <a:avLst/>
              <a:gdLst/>
              <a:ahLst/>
              <a:cxnLst/>
              <a:rect r="r" b="b" t="t" l="l"/>
              <a:pathLst>
                <a:path h="1341122" w="1264495">
                  <a:moveTo>
                    <a:pt x="82239" y="0"/>
                  </a:moveTo>
                  <a:lnTo>
                    <a:pt x="1182257" y="0"/>
                  </a:lnTo>
                  <a:cubicBezTo>
                    <a:pt x="1204068" y="0"/>
                    <a:pt x="1224986" y="8664"/>
                    <a:pt x="1240408" y="24087"/>
                  </a:cubicBezTo>
                  <a:cubicBezTo>
                    <a:pt x="1255831" y="39510"/>
                    <a:pt x="1264495" y="60428"/>
                    <a:pt x="1264495" y="82239"/>
                  </a:cubicBezTo>
                  <a:lnTo>
                    <a:pt x="1264495" y="1258884"/>
                  </a:lnTo>
                  <a:cubicBezTo>
                    <a:pt x="1264495" y="1304303"/>
                    <a:pt x="1227676" y="1341122"/>
                    <a:pt x="1182257" y="1341122"/>
                  </a:cubicBezTo>
                  <a:lnTo>
                    <a:pt x="82239" y="1341122"/>
                  </a:lnTo>
                  <a:cubicBezTo>
                    <a:pt x="60428" y="1341122"/>
                    <a:pt x="39510" y="1332458"/>
                    <a:pt x="24087" y="1317035"/>
                  </a:cubicBezTo>
                  <a:cubicBezTo>
                    <a:pt x="8664" y="1301613"/>
                    <a:pt x="0" y="1280695"/>
                    <a:pt x="0" y="1258884"/>
                  </a:cubicBezTo>
                  <a:lnTo>
                    <a:pt x="0" y="82239"/>
                  </a:lnTo>
                  <a:cubicBezTo>
                    <a:pt x="0" y="60428"/>
                    <a:pt x="8664" y="39510"/>
                    <a:pt x="24087" y="24087"/>
                  </a:cubicBezTo>
                  <a:cubicBezTo>
                    <a:pt x="39510" y="8664"/>
                    <a:pt x="60428" y="0"/>
                    <a:pt x="82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264495" cy="1426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1997" y="3519323"/>
            <a:ext cx="4801131" cy="5092074"/>
            <a:chOff x="0" y="0"/>
            <a:chExt cx="1264495" cy="13411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4495" cy="1341122"/>
            </a:xfrm>
            <a:custGeom>
              <a:avLst/>
              <a:gdLst/>
              <a:ahLst/>
              <a:cxnLst/>
              <a:rect r="r" b="b" t="t" l="l"/>
              <a:pathLst>
                <a:path h="1341122" w="1264495">
                  <a:moveTo>
                    <a:pt x="82239" y="0"/>
                  </a:moveTo>
                  <a:lnTo>
                    <a:pt x="1182257" y="0"/>
                  </a:lnTo>
                  <a:cubicBezTo>
                    <a:pt x="1204068" y="0"/>
                    <a:pt x="1224986" y="8664"/>
                    <a:pt x="1240408" y="24087"/>
                  </a:cubicBezTo>
                  <a:cubicBezTo>
                    <a:pt x="1255831" y="39510"/>
                    <a:pt x="1264495" y="60428"/>
                    <a:pt x="1264495" y="82239"/>
                  </a:cubicBezTo>
                  <a:lnTo>
                    <a:pt x="1264495" y="1258884"/>
                  </a:lnTo>
                  <a:cubicBezTo>
                    <a:pt x="1264495" y="1304303"/>
                    <a:pt x="1227676" y="1341122"/>
                    <a:pt x="1182257" y="1341122"/>
                  </a:cubicBezTo>
                  <a:lnTo>
                    <a:pt x="82239" y="1341122"/>
                  </a:lnTo>
                  <a:cubicBezTo>
                    <a:pt x="60428" y="1341122"/>
                    <a:pt x="39510" y="1332458"/>
                    <a:pt x="24087" y="1317035"/>
                  </a:cubicBezTo>
                  <a:cubicBezTo>
                    <a:pt x="8664" y="1301613"/>
                    <a:pt x="0" y="1280695"/>
                    <a:pt x="0" y="1258884"/>
                  </a:cubicBezTo>
                  <a:lnTo>
                    <a:pt x="0" y="82239"/>
                  </a:lnTo>
                  <a:cubicBezTo>
                    <a:pt x="0" y="60428"/>
                    <a:pt x="8664" y="39510"/>
                    <a:pt x="24087" y="24087"/>
                  </a:cubicBezTo>
                  <a:cubicBezTo>
                    <a:pt x="39510" y="8664"/>
                    <a:pt x="60428" y="0"/>
                    <a:pt x="82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264495" cy="1426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14872" y="3519323"/>
            <a:ext cx="4801131" cy="5092074"/>
            <a:chOff x="0" y="0"/>
            <a:chExt cx="1264495" cy="13411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4495" cy="1341122"/>
            </a:xfrm>
            <a:custGeom>
              <a:avLst/>
              <a:gdLst/>
              <a:ahLst/>
              <a:cxnLst/>
              <a:rect r="r" b="b" t="t" l="l"/>
              <a:pathLst>
                <a:path h="1341122" w="1264495">
                  <a:moveTo>
                    <a:pt x="82239" y="0"/>
                  </a:moveTo>
                  <a:lnTo>
                    <a:pt x="1182257" y="0"/>
                  </a:lnTo>
                  <a:cubicBezTo>
                    <a:pt x="1204068" y="0"/>
                    <a:pt x="1224986" y="8664"/>
                    <a:pt x="1240408" y="24087"/>
                  </a:cubicBezTo>
                  <a:cubicBezTo>
                    <a:pt x="1255831" y="39510"/>
                    <a:pt x="1264495" y="60428"/>
                    <a:pt x="1264495" y="82239"/>
                  </a:cubicBezTo>
                  <a:lnTo>
                    <a:pt x="1264495" y="1258884"/>
                  </a:lnTo>
                  <a:cubicBezTo>
                    <a:pt x="1264495" y="1304303"/>
                    <a:pt x="1227676" y="1341122"/>
                    <a:pt x="1182257" y="1341122"/>
                  </a:cubicBezTo>
                  <a:lnTo>
                    <a:pt x="82239" y="1341122"/>
                  </a:lnTo>
                  <a:cubicBezTo>
                    <a:pt x="60428" y="1341122"/>
                    <a:pt x="39510" y="1332458"/>
                    <a:pt x="24087" y="1317035"/>
                  </a:cubicBezTo>
                  <a:cubicBezTo>
                    <a:pt x="8664" y="1301613"/>
                    <a:pt x="0" y="1280695"/>
                    <a:pt x="0" y="1258884"/>
                  </a:cubicBezTo>
                  <a:lnTo>
                    <a:pt x="0" y="82239"/>
                  </a:lnTo>
                  <a:cubicBezTo>
                    <a:pt x="0" y="60428"/>
                    <a:pt x="8664" y="39510"/>
                    <a:pt x="24087" y="24087"/>
                  </a:cubicBezTo>
                  <a:cubicBezTo>
                    <a:pt x="39510" y="8664"/>
                    <a:pt x="60428" y="0"/>
                    <a:pt x="82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264495" cy="1426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33455" y="3204737"/>
            <a:ext cx="1278217" cy="1224710"/>
            <a:chOff x="0" y="0"/>
            <a:chExt cx="336650" cy="3225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6650" cy="322557"/>
            </a:xfrm>
            <a:custGeom>
              <a:avLst/>
              <a:gdLst/>
              <a:ahLst/>
              <a:cxnLst/>
              <a:rect r="r" b="b" t="t" l="l"/>
              <a:pathLst>
                <a:path h="322557" w="336650">
                  <a:moveTo>
                    <a:pt x="139307" y="0"/>
                  </a:moveTo>
                  <a:lnTo>
                    <a:pt x="197343" y="0"/>
                  </a:lnTo>
                  <a:cubicBezTo>
                    <a:pt x="274280" y="0"/>
                    <a:pt x="336650" y="62370"/>
                    <a:pt x="336650" y="139307"/>
                  </a:cubicBezTo>
                  <a:lnTo>
                    <a:pt x="336650" y="183251"/>
                  </a:lnTo>
                  <a:cubicBezTo>
                    <a:pt x="336650" y="260188"/>
                    <a:pt x="274280" y="322557"/>
                    <a:pt x="197343" y="322557"/>
                  </a:cubicBezTo>
                  <a:lnTo>
                    <a:pt x="139307" y="322557"/>
                  </a:lnTo>
                  <a:cubicBezTo>
                    <a:pt x="62370" y="322557"/>
                    <a:pt x="0" y="260188"/>
                    <a:pt x="0" y="183251"/>
                  </a:cubicBezTo>
                  <a:lnTo>
                    <a:pt x="0" y="139307"/>
                  </a:lnTo>
                  <a:cubicBezTo>
                    <a:pt x="0" y="62370"/>
                    <a:pt x="62370" y="0"/>
                    <a:pt x="139307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336650" cy="40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895458" y="1770014"/>
            <a:ext cx="8497085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OBJECTIVES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1997" y="4582948"/>
            <a:ext cx="4846084" cy="35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Building an IoT-based weather monitoring system capable of collecting real-time data on temperature, humidity, light intensity, rainfall, and wind speed, as well as mapping location points.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90915" y="3606293"/>
            <a:ext cx="1163296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i="true">
                <a:solidFill>
                  <a:srgbClr val="649659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01.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504892" y="3204737"/>
            <a:ext cx="1278217" cy="1224710"/>
            <a:chOff x="0" y="0"/>
            <a:chExt cx="336650" cy="3225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6650" cy="322557"/>
            </a:xfrm>
            <a:custGeom>
              <a:avLst/>
              <a:gdLst/>
              <a:ahLst/>
              <a:cxnLst/>
              <a:rect r="r" b="b" t="t" l="l"/>
              <a:pathLst>
                <a:path h="322557" w="336650">
                  <a:moveTo>
                    <a:pt x="139307" y="0"/>
                  </a:moveTo>
                  <a:lnTo>
                    <a:pt x="197343" y="0"/>
                  </a:lnTo>
                  <a:cubicBezTo>
                    <a:pt x="274280" y="0"/>
                    <a:pt x="336650" y="62370"/>
                    <a:pt x="336650" y="139307"/>
                  </a:cubicBezTo>
                  <a:lnTo>
                    <a:pt x="336650" y="183251"/>
                  </a:lnTo>
                  <a:cubicBezTo>
                    <a:pt x="336650" y="260188"/>
                    <a:pt x="274280" y="322557"/>
                    <a:pt x="197343" y="322557"/>
                  </a:cubicBezTo>
                  <a:lnTo>
                    <a:pt x="139307" y="322557"/>
                  </a:lnTo>
                  <a:cubicBezTo>
                    <a:pt x="62370" y="322557"/>
                    <a:pt x="0" y="260188"/>
                    <a:pt x="0" y="183251"/>
                  </a:cubicBezTo>
                  <a:lnTo>
                    <a:pt x="0" y="139307"/>
                  </a:lnTo>
                  <a:cubicBezTo>
                    <a:pt x="0" y="62370"/>
                    <a:pt x="62370" y="0"/>
                    <a:pt x="139307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336650" cy="40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562352" y="3606293"/>
            <a:ext cx="1163296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i="true">
                <a:solidFill>
                  <a:srgbClr val="649659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02.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77140" y="4582948"/>
            <a:ext cx="4846084" cy="302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Developing a web-based dashboard that stores, displays, and provides access to both real-time and historical weather data for use by the public and relevant agencies.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674826" y="3204737"/>
            <a:ext cx="1278217" cy="1224710"/>
            <a:chOff x="0" y="0"/>
            <a:chExt cx="336650" cy="32255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6650" cy="322557"/>
            </a:xfrm>
            <a:custGeom>
              <a:avLst/>
              <a:gdLst/>
              <a:ahLst/>
              <a:cxnLst/>
              <a:rect r="r" b="b" t="t" l="l"/>
              <a:pathLst>
                <a:path h="322557" w="336650">
                  <a:moveTo>
                    <a:pt x="139307" y="0"/>
                  </a:moveTo>
                  <a:lnTo>
                    <a:pt x="197343" y="0"/>
                  </a:lnTo>
                  <a:cubicBezTo>
                    <a:pt x="274280" y="0"/>
                    <a:pt x="336650" y="62370"/>
                    <a:pt x="336650" y="139307"/>
                  </a:cubicBezTo>
                  <a:lnTo>
                    <a:pt x="336650" y="183251"/>
                  </a:lnTo>
                  <a:cubicBezTo>
                    <a:pt x="336650" y="260188"/>
                    <a:pt x="274280" y="322557"/>
                    <a:pt x="197343" y="322557"/>
                  </a:cubicBezTo>
                  <a:lnTo>
                    <a:pt x="139307" y="322557"/>
                  </a:lnTo>
                  <a:cubicBezTo>
                    <a:pt x="62370" y="322557"/>
                    <a:pt x="0" y="260188"/>
                    <a:pt x="0" y="183251"/>
                  </a:cubicBezTo>
                  <a:lnTo>
                    <a:pt x="0" y="139307"/>
                  </a:lnTo>
                  <a:cubicBezTo>
                    <a:pt x="0" y="62370"/>
                    <a:pt x="62370" y="0"/>
                    <a:pt x="139307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336650" cy="40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732287" y="3606293"/>
            <a:ext cx="1163296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i="true">
                <a:solidFill>
                  <a:srgbClr val="649659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03.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90892" y="4582948"/>
            <a:ext cx="4846084" cy="35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Implementing a renewable energy system using solar panels and batteries to enable devices to operate independently in remote areas without relying on the conventional electricity grid.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20106" y="1455416"/>
            <a:ext cx="8322003" cy="8438026"/>
          </a:xfrm>
          <a:custGeom>
            <a:avLst/>
            <a:gdLst/>
            <a:ahLst/>
            <a:cxnLst/>
            <a:rect r="r" b="b" t="t" l="l"/>
            <a:pathLst>
              <a:path h="8438026" w="8322003">
                <a:moveTo>
                  <a:pt x="0" y="0"/>
                </a:moveTo>
                <a:lnTo>
                  <a:pt x="8322003" y="0"/>
                </a:lnTo>
                <a:lnTo>
                  <a:pt x="8322003" y="8438026"/>
                </a:lnTo>
                <a:lnTo>
                  <a:pt x="0" y="8438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6788" y="4338992"/>
            <a:ext cx="4236350" cy="142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6"/>
              </a:lnSpc>
            </a:pPr>
            <a:r>
              <a:rPr lang="en-US" b="true" sz="3797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Architectural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86244" y="3022575"/>
            <a:ext cx="9715512" cy="376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Testing Scenarios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80466" y="2023799"/>
            <a:ext cx="14619485" cy="688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Sensor Testing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DHT22 (temperature &amp; humidity), BH1750 (light intensity), anemometer (wind speed), rain gauge (rainfall).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Data Transmission Testing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LoRa communication from node to gateway, then distribution via MQTT to the server.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Dashboard Testing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Real-time monitoring, historical data, device management (CRUD &amp; sensor control).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37068" y="3388093"/>
            <a:ext cx="12613864" cy="31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Sensor &amp; Transmission Test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02725" y="3372559"/>
            <a:ext cx="14619485" cy="440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Sensor readings: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 temperature, humidity, light, rainfall, wind speed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nsor devi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ation within tolerance limits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Data sent via LoRa → MQTT → MySQL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Data packets stable, no loss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44003" y="4118188"/>
            <a:ext cx="12613864" cy="165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Dashboard Test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4258" y="2642924"/>
            <a:ext cx="14619485" cy="564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Da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shboard Test Results</a:t>
            </a:r>
          </a:p>
          <a:p>
            <a:pPr algn="just">
              <a:lnSpc>
                <a:spcPts val="4899"/>
              </a:lnSpc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The dashboard displays real-time data with automatic updates.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Historical data can be filtered by device and date.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Devi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ce management features work well: add, edit, and delete.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The d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ashboard supports graph visu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alization and location maps.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37068" y="3388093"/>
            <a:ext cx="12613864" cy="31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Energy System Test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504" y="1692636"/>
            <a:ext cx="17072611" cy="8094032"/>
            <a:chOff x="0" y="0"/>
            <a:chExt cx="4496490" cy="2131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90" cy="2131762"/>
            </a:xfrm>
            <a:custGeom>
              <a:avLst/>
              <a:gdLst/>
              <a:ahLst/>
              <a:cxnLst/>
              <a:rect r="r" b="b" t="t" l="l"/>
              <a:pathLst>
                <a:path h="2131762" w="4496490">
                  <a:moveTo>
                    <a:pt x="15871" y="0"/>
                  </a:moveTo>
                  <a:lnTo>
                    <a:pt x="4480619" y="0"/>
                  </a:lnTo>
                  <a:cubicBezTo>
                    <a:pt x="4484828" y="0"/>
                    <a:pt x="4488865" y="1672"/>
                    <a:pt x="4491842" y="4649"/>
                  </a:cubicBezTo>
                  <a:cubicBezTo>
                    <a:pt x="4494818" y="7625"/>
                    <a:pt x="4496490" y="11662"/>
                    <a:pt x="4496490" y="15871"/>
                  </a:cubicBezTo>
                  <a:lnTo>
                    <a:pt x="4496490" y="2115890"/>
                  </a:lnTo>
                  <a:cubicBezTo>
                    <a:pt x="4496490" y="2120099"/>
                    <a:pt x="4494818" y="2124136"/>
                    <a:pt x="4491842" y="2127113"/>
                  </a:cubicBezTo>
                  <a:cubicBezTo>
                    <a:pt x="4488865" y="2130089"/>
                    <a:pt x="4484828" y="2131762"/>
                    <a:pt x="4480619" y="2131762"/>
                  </a:cubicBezTo>
                  <a:lnTo>
                    <a:pt x="15871" y="2131762"/>
                  </a:lnTo>
                  <a:cubicBezTo>
                    <a:pt x="7106" y="2131762"/>
                    <a:pt x="0" y="2124656"/>
                    <a:pt x="0" y="2115890"/>
                  </a:cubicBezTo>
                  <a:lnTo>
                    <a:pt x="0" y="15871"/>
                  </a:lnTo>
                  <a:cubicBezTo>
                    <a:pt x="0" y="11662"/>
                    <a:pt x="1672" y="7625"/>
                    <a:pt x="4649" y="4649"/>
                  </a:cubicBezTo>
                  <a:cubicBezTo>
                    <a:pt x="7625" y="1672"/>
                    <a:pt x="11662" y="0"/>
                    <a:pt x="15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490" cy="221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9205" y="1534856"/>
            <a:ext cx="17062007" cy="8023212"/>
            <a:chOff x="0" y="0"/>
            <a:chExt cx="4493697" cy="21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3697" cy="2113109"/>
            </a:xfrm>
            <a:custGeom>
              <a:avLst/>
              <a:gdLst/>
              <a:ahLst/>
              <a:cxnLst/>
              <a:rect r="r" b="b" t="t" l="l"/>
              <a:pathLst>
                <a:path h="2113109" w="4493697">
                  <a:moveTo>
                    <a:pt x="15881" y="0"/>
                  </a:moveTo>
                  <a:lnTo>
                    <a:pt x="4477816" y="0"/>
                  </a:lnTo>
                  <a:cubicBezTo>
                    <a:pt x="4486587" y="0"/>
                    <a:pt x="4493697" y="7110"/>
                    <a:pt x="4493697" y="15881"/>
                  </a:cubicBezTo>
                  <a:lnTo>
                    <a:pt x="4493697" y="2097228"/>
                  </a:lnTo>
                  <a:cubicBezTo>
                    <a:pt x="4493697" y="2105999"/>
                    <a:pt x="4486587" y="2113109"/>
                    <a:pt x="4477816" y="2113109"/>
                  </a:cubicBezTo>
                  <a:lnTo>
                    <a:pt x="15881" y="2113109"/>
                  </a:lnTo>
                  <a:cubicBezTo>
                    <a:pt x="7110" y="2113109"/>
                    <a:pt x="0" y="2105999"/>
                    <a:pt x="0" y="2097228"/>
                  </a:cubicBezTo>
                  <a:lnTo>
                    <a:pt x="0" y="15881"/>
                  </a:lnTo>
                  <a:cubicBezTo>
                    <a:pt x="0" y="7110"/>
                    <a:pt x="7110" y="0"/>
                    <a:pt x="15881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493697" cy="21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69110" y="559540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4258" y="3764801"/>
            <a:ext cx="14619485" cy="378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he s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ensor node is powered by a battery and solar panels.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The system is designed to be self-sufficient without PLN electricity.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Batt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ery lif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e testing is an estimate/theoretical and h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as not been tes</a:t>
            </a:r>
            <a:r>
              <a:rPr lang="en-US" sz="3499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ted in real life.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34910" y="2429587"/>
            <a:ext cx="12191073" cy="6737910"/>
            <a:chOff x="0" y="0"/>
            <a:chExt cx="3210817" cy="17745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0818" cy="1774594"/>
            </a:xfrm>
            <a:custGeom>
              <a:avLst/>
              <a:gdLst/>
              <a:ahLst/>
              <a:cxnLst/>
              <a:rect r="r" b="b" t="t" l="l"/>
              <a:pathLst>
                <a:path h="1774594" w="3210818">
                  <a:moveTo>
                    <a:pt x="32387" y="0"/>
                  </a:moveTo>
                  <a:lnTo>
                    <a:pt x="3178430" y="0"/>
                  </a:lnTo>
                  <a:cubicBezTo>
                    <a:pt x="3196317" y="0"/>
                    <a:pt x="3210818" y="14500"/>
                    <a:pt x="3210818" y="32387"/>
                  </a:cubicBezTo>
                  <a:lnTo>
                    <a:pt x="3210818" y="1742206"/>
                  </a:lnTo>
                  <a:cubicBezTo>
                    <a:pt x="3210818" y="1750796"/>
                    <a:pt x="3207405" y="1759034"/>
                    <a:pt x="3201332" y="1765108"/>
                  </a:cubicBezTo>
                  <a:cubicBezTo>
                    <a:pt x="3195258" y="1771181"/>
                    <a:pt x="3187020" y="1774594"/>
                    <a:pt x="3178430" y="1774594"/>
                  </a:cubicBezTo>
                  <a:lnTo>
                    <a:pt x="32387" y="1774594"/>
                  </a:lnTo>
                  <a:cubicBezTo>
                    <a:pt x="23798" y="1774594"/>
                    <a:pt x="15560" y="1771181"/>
                    <a:pt x="9486" y="1765108"/>
                  </a:cubicBezTo>
                  <a:cubicBezTo>
                    <a:pt x="3412" y="1759034"/>
                    <a:pt x="0" y="1750796"/>
                    <a:pt x="0" y="1742206"/>
                  </a:cubicBezTo>
                  <a:lnTo>
                    <a:pt x="0" y="32387"/>
                  </a:lnTo>
                  <a:cubicBezTo>
                    <a:pt x="0" y="23798"/>
                    <a:pt x="3412" y="15560"/>
                    <a:pt x="9486" y="9486"/>
                  </a:cubicBezTo>
                  <a:cubicBezTo>
                    <a:pt x="15560" y="3412"/>
                    <a:pt x="23798" y="0"/>
                    <a:pt x="323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6426">
                    <a:alpha val="100000"/>
                  </a:srgbClr>
                </a:gs>
                <a:gs pos="100000">
                  <a:srgbClr val="56B6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210817" cy="1860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96927" y="2152466"/>
            <a:ext cx="12191073" cy="7015031"/>
            <a:chOff x="0" y="0"/>
            <a:chExt cx="3210817" cy="18475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10818" cy="1847580"/>
            </a:xfrm>
            <a:custGeom>
              <a:avLst/>
              <a:gdLst/>
              <a:ahLst/>
              <a:cxnLst/>
              <a:rect r="r" b="b" t="t" l="l"/>
              <a:pathLst>
                <a:path h="1847580" w="3210818">
                  <a:moveTo>
                    <a:pt x="32387" y="0"/>
                  </a:moveTo>
                  <a:lnTo>
                    <a:pt x="3178430" y="0"/>
                  </a:lnTo>
                  <a:cubicBezTo>
                    <a:pt x="3196317" y="0"/>
                    <a:pt x="3210818" y="14500"/>
                    <a:pt x="3210818" y="32387"/>
                  </a:cubicBezTo>
                  <a:lnTo>
                    <a:pt x="3210818" y="1815193"/>
                  </a:lnTo>
                  <a:cubicBezTo>
                    <a:pt x="3210818" y="1823782"/>
                    <a:pt x="3207405" y="1832020"/>
                    <a:pt x="3201332" y="1838094"/>
                  </a:cubicBezTo>
                  <a:cubicBezTo>
                    <a:pt x="3195258" y="1844168"/>
                    <a:pt x="3187020" y="1847580"/>
                    <a:pt x="3178430" y="1847580"/>
                  </a:cubicBezTo>
                  <a:lnTo>
                    <a:pt x="32387" y="1847580"/>
                  </a:lnTo>
                  <a:cubicBezTo>
                    <a:pt x="23798" y="1847580"/>
                    <a:pt x="15560" y="1844168"/>
                    <a:pt x="9486" y="1838094"/>
                  </a:cubicBezTo>
                  <a:cubicBezTo>
                    <a:pt x="3412" y="1832020"/>
                    <a:pt x="0" y="1823782"/>
                    <a:pt x="0" y="1815193"/>
                  </a:cubicBezTo>
                  <a:lnTo>
                    <a:pt x="0" y="32387"/>
                  </a:lnTo>
                  <a:cubicBezTo>
                    <a:pt x="0" y="23798"/>
                    <a:pt x="3412" y="15560"/>
                    <a:pt x="9486" y="9486"/>
                  </a:cubicBezTo>
                  <a:cubicBezTo>
                    <a:pt x="15560" y="3412"/>
                    <a:pt x="23798" y="0"/>
                    <a:pt x="32387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3210817" cy="193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66788" y="4106336"/>
            <a:ext cx="475567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i="true" b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9110" y="559540"/>
            <a:ext cx="454580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47524" y="2296237"/>
            <a:ext cx="10867390" cy="625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785" indent="-293892" lvl="1">
              <a:lnSpc>
                <a:spcPts val="3811"/>
              </a:lnSpc>
              <a:buFont typeface="Arial"/>
              <a:buChar char="•"/>
            </a:pPr>
            <a:r>
              <a:rPr lang="en-US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1. The syst</a:t>
            </a:r>
            <a:r>
              <a:rPr lang="en-US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em is capab</a:t>
            </a:r>
            <a:r>
              <a:rPr lang="en-US" b="true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le of reading real-time weather data from the DHT22 (temperature &amp; humidity), BH1750 (light intensity), anemometer (wind speed), and rain gauge (rainfall) sensors, then displays the data on a web dashboard.</a:t>
            </a:r>
          </a:p>
          <a:p>
            <a:pPr algn="l" marL="587785" indent="-293892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Data from the sensor nodes is successfully sent via LoRa and forwarded by the gateway to the MQTT broker, where it is effectively stored in a MySQL database.</a:t>
            </a:r>
          </a:p>
          <a:p>
            <a:pPr algn="l" marL="587785" indent="-293892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A battery-based power supply system supported by solar panels is designed to support autonomous node operation, although actual battery life testing has not yet been conducted.</a:t>
            </a:r>
          </a:p>
          <a:p>
            <a:pPr algn="l" marL="587785" indent="-293892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The web dashboard allows for visualization of historical data, real-time monitoring, and device management with add, edit, and delete functions.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E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37068" y="4118188"/>
            <a:ext cx="12613864" cy="165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DEMO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88457" y="9106063"/>
            <a:ext cx="1420098" cy="1637784"/>
            <a:chOff x="0" y="0"/>
            <a:chExt cx="374018" cy="431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788" y="449552"/>
            <a:ext cx="12620704" cy="912917"/>
            <a:chOff x="0" y="0"/>
            <a:chExt cx="561831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2179" y="576302"/>
            <a:ext cx="5379032" cy="659416"/>
            <a:chOff x="0" y="0"/>
            <a:chExt cx="3315112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D35">
                    <a:alpha val="100000"/>
                  </a:srgbClr>
                </a:gs>
                <a:gs pos="100000">
                  <a:srgbClr val="79C47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37068" y="4118188"/>
            <a:ext cx="12613864" cy="165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6"/>
              </a:lnSpc>
            </a:pPr>
            <a:r>
              <a:rPr lang="en-US" b="true" sz="8254" i="true">
                <a:solidFill>
                  <a:srgbClr val="0000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Q &amp; 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9553" y="9353760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9110" y="594454"/>
            <a:ext cx="4545804" cy="6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6179" y="449552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7901" y="649980"/>
            <a:ext cx="3952205" cy="4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INSTITUT TEKNOLOGI DEL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D35">
                <a:alpha val="100000"/>
              </a:srgbClr>
            </a:gs>
            <a:gs pos="100000">
              <a:srgbClr val="79C47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9406" y="3592513"/>
            <a:ext cx="12809188" cy="250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b="true" sz="12500" i="true">
                <a:solidFill>
                  <a:srgbClr val="FFFBEE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6788" y="414639"/>
            <a:ext cx="12620704" cy="912917"/>
            <a:chOff x="0" y="0"/>
            <a:chExt cx="5618317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8317" cy="406400"/>
            </a:xfrm>
            <a:custGeom>
              <a:avLst/>
              <a:gdLst/>
              <a:ahLst/>
              <a:cxnLst/>
              <a:rect r="r" b="b" t="t" l="l"/>
              <a:pathLst>
                <a:path h="406400" w="5618317">
                  <a:moveTo>
                    <a:pt x="5415117" y="0"/>
                  </a:moveTo>
                  <a:cubicBezTo>
                    <a:pt x="5527341" y="0"/>
                    <a:pt x="5618317" y="90976"/>
                    <a:pt x="5618317" y="203200"/>
                  </a:cubicBezTo>
                  <a:cubicBezTo>
                    <a:pt x="5618317" y="315424"/>
                    <a:pt x="5527341" y="406400"/>
                    <a:pt x="54151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BE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561831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42179" y="541389"/>
            <a:ext cx="5379032" cy="659416"/>
            <a:chOff x="0" y="0"/>
            <a:chExt cx="331511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15112" cy="406400"/>
            </a:xfrm>
            <a:custGeom>
              <a:avLst/>
              <a:gdLst/>
              <a:ahLst/>
              <a:cxnLst/>
              <a:rect r="r" b="b" t="t" l="l"/>
              <a:pathLst>
                <a:path h="406400" w="3315112">
                  <a:moveTo>
                    <a:pt x="3111912" y="0"/>
                  </a:moveTo>
                  <a:cubicBezTo>
                    <a:pt x="3224136" y="0"/>
                    <a:pt x="3315112" y="90976"/>
                    <a:pt x="3315112" y="203200"/>
                  </a:cubicBezTo>
                  <a:cubicBezTo>
                    <a:pt x="3315112" y="315424"/>
                    <a:pt x="3224136" y="406400"/>
                    <a:pt x="3111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331511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84894" y="559540"/>
            <a:ext cx="53604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spc="120">
                <a:solidFill>
                  <a:srgbClr val="FFFFFF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INSTITUT TEKNOLOGI 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9110" y="559540"/>
            <a:ext cx="454580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 spc="300">
                <a:solidFill>
                  <a:srgbClr val="737373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SEMINAR HASIL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597735" y="9986389"/>
            <a:ext cx="19483470" cy="601223"/>
            <a:chOff x="0" y="0"/>
            <a:chExt cx="5131449" cy="158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1449" cy="158347"/>
            </a:xfrm>
            <a:custGeom>
              <a:avLst/>
              <a:gdLst/>
              <a:ahLst/>
              <a:cxnLst/>
              <a:rect r="r" b="b" t="t" l="l"/>
              <a:pathLst>
                <a:path h="158347" w="5131449">
                  <a:moveTo>
                    <a:pt x="0" y="0"/>
                  </a:moveTo>
                  <a:lnTo>
                    <a:pt x="5131449" y="0"/>
                  </a:lnTo>
                  <a:lnTo>
                    <a:pt x="5131449" y="158347"/>
                  </a:lnTo>
                  <a:lnTo>
                    <a:pt x="0" y="158347"/>
                  </a:lnTo>
                  <a:close/>
                </a:path>
              </a:pathLst>
            </a:custGeom>
            <a:solidFill>
              <a:srgbClr val="FFFB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5131449" cy="244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01114" y="9167497"/>
            <a:ext cx="1420098" cy="1637784"/>
            <a:chOff x="0" y="0"/>
            <a:chExt cx="374018" cy="431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4018" cy="431351"/>
            </a:xfrm>
            <a:custGeom>
              <a:avLst/>
              <a:gdLst/>
              <a:ahLst/>
              <a:cxnLst/>
              <a:rect r="r" b="b" t="t" l="l"/>
              <a:pathLst>
                <a:path h="431351" w="374018">
                  <a:moveTo>
                    <a:pt x="187009" y="0"/>
                  </a:moveTo>
                  <a:lnTo>
                    <a:pt x="187009" y="0"/>
                  </a:lnTo>
                  <a:cubicBezTo>
                    <a:pt x="236607" y="0"/>
                    <a:pt x="284173" y="19703"/>
                    <a:pt x="319244" y="54774"/>
                  </a:cubicBezTo>
                  <a:cubicBezTo>
                    <a:pt x="354315" y="89845"/>
                    <a:pt x="374018" y="137411"/>
                    <a:pt x="374018" y="187009"/>
                  </a:cubicBezTo>
                  <a:lnTo>
                    <a:pt x="374018" y="244342"/>
                  </a:lnTo>
                  <a:cubicBezTo>
                    <a:pt x="374018" y="293940"/>
                    <a:pt x="354315" y="341506"/>
                    <a:pt x="319244" y="376577"/>
                  </a:cubicBezTo>
                  <a:cubicBezTo>
                    <a:pt x="284173" y="411648"/>
                    <a:pt x="236607" y="431351"/>
                    <a:pt x="187009" y="431351"/>
                  </a:cubicBezTo>
                  <a:lnTo>
                    <a:pt x="187009" y="431351"/>
                  </a:lnTo>
                  <a:cubicBezTo>
                    <a:pt x="137411" y="431351"/>
                    <a:pt x="89845" y="411648"/>
                    <a:pt x="54774" y="376577"/>
                  </a:cubicBezTo>
                  <a:cubicBezTo>
                    <a:pt x="19703" y="341506"/>
                    <a:pt x="0" y="293940"/>
                    <a:pt x="0" y="244342"/>
                  </a:cubicBezTo>
                  <a:lnTo>
                    <a:pt x="0" y="187009"/>
                  </a:lnTo>
                  <a:cubicBezTo>
                    <a:pt x="0" y="137411"/>
                    <a:pt x="19703" y="89845"/>
                    <a:pt x="54774" y="54774"/>
                  </a:cubicBezTo>
                  <a:cubicBezTo>
                    <a:pt x="89845" y="19703"/>
                    <a:pt x="137411" y="0"/>
                    <a:pt x="187009" y="0"/>
                  </a:cubicBezTo>
                  <a:close/>
                </a:path>
              </a:pathLst>
            </a:custGeom>
            <a:solidFill>
              <a:srgbClr val="FFFBEE"/>
            </a:solidFill>
            <a:ln w="38100" cap="rnd">
              <a:solidFill>
                <a:srgbClr val="76B868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74018" cy="517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522210" y="9415193"/>
            <a:ext cx="977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Cooper Hewitt Italics"/>
                <a:ea typeface="Cooper Hewitt Italics"/>
                <a:cs typeface="Cooper Hewitt Italics"/>
                <a:sym typeface="Cooper Hewitt Italics"/>
              </a:rPr>
              <a:t>18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66788" y="414639"/>
            <a:ext cx="846051" cy="900198"/>
          </a:xfrm>
          <a:custGeom>
            <a:avLst/>
            <a:gdLst/>
            <a:ahLst/>
            <a:cxnLst/>
            <a:rect r="r" b="b" t="t" l="l"/>
            <a:pathLst>
              <a:path h="900198" w="846051">
                <a:moveTo>
                  <a:pt x="0" y="0"/>
                </a:moveTo>
                <a:lnTo>
                  <a:pt x="846051" y="0"/>
                </a:lnTo>
                <a:lnTo>
                  <a:pt x="846051" y="900198"/>
                </a:lnTo>
                <a:lnTo>
                  <a:pt x="0" y="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DAG54lvJraY</dc:identifier>
  <dcterms:modified xsi:type="dcterms:W3CDTF">2011-08-01T06:04:30Z</dcterms:modified>
  <cp:revision>1</cp:revision>
  <dc:title>Hijau krem formal simpel seminar proposal skripsi presentasi</dc:title>
</cp:coreProperties>
</file>